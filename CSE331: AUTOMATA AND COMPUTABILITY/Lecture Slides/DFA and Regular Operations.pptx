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embeddedFontLst>
    <p:embeddedFont>
      <p:font typeface="Playfair Display"/>
      <p:regular r:id="rId64"/>
      <p:bold r:id="rId65"/>
      <p:italic r:id="rId66"/>
      <p:boldItalic r:id="rId67"/>
    </p:embeddedFont>
    <p:embeddedFont>
      <p:font typeface="Montserrat"/>
      <p:regular r:id="rId68"/>
      <p:bold r:id="rId69"/>
      <p:italic r:id="rId70"/>
      <p:boldItalic r:id="rId71"/>
    </p:embeddedFont>
    <p:embeddedFont>
      <p:font typeface="Oswald"/>
      <p:regular r:id="rId72"/>
      <p:bold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Oswald-bold.fntdata"/><Relationship Id="rId72" Type="http://schemas.openxmlformats.org/officeDocument/2006/relationships/font" Target="fonts/Oswald-regular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Montserrat-boldItalic.fntdata"/><Relationship Id="rId70" Type="http://schemas.openxmlformats.org/officeDocument/2006/relationships/font" Target="fonts/Montserrat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PlayfairDisplay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PlayfairDisplay-italic.fntdata"/><Relationship Id="rId21" Type="http://schemas.openxmlformats.org/officeDocument/2006/relationships/slide" Target="slides/slide16.xml"/><Relationship Id="rId65" Type="http://schemas.openxmlformats.org/officeDocument/2006/relationships/font" Target="fonts/PlayfairDisplay-bold.fntdata"/><Relationship Id="rId24" Type="http://schemas.openxmlformats.org/officeDocument/2006/relationships/slide" Target="slides/slide19.xml"/><Relationship Id="rId68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67" Type="http://schemas.openxmlformats.org/officeDocument/2006/relationships/font" Target="fonts/PlayfairDisplay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Montserra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1b23795f2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1b23795f2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1b23795f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e1b23795f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1b23795f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1b23795f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1b23795f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e1b23795f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1b23795f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1b23795f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1b23795f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1b23795f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b23795f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b23795f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1b23795f2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e1b23795f2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1b23795f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1b23795f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1b23795f2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e1b23795f2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1b23795f2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1b23795f2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1b23795f2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1b23795f2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1b23795f2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1b23795f2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b23795f2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b23795f2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1b23795f2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1b23795f2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1b23795f2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e1b23795f2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1b23795f2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e1b23795f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1b23795f2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1b23795f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1b23795f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1b23795f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4385ff7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4385ff7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4385ff79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4385ff79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4385ff795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e4385ff795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4385ff795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e4385ff795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4385ff795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4385ff79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4385ff795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e4385ff795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4385ff795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e4385ff795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4385ff795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4385ff79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4385ff795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e4385ff795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e4385ff795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e4385ff795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4385ff795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e4385ff795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55acc37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e55acc37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55acc377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55acc377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55acc377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e55acc37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55acc377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55acc377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e55acc377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e55acc377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e55acc377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e55acc377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e55acc377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e55acc377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55acc377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e55acc377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55acc377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e55acc377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e55acc377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e55acc377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7383c4834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7383c4834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7383c4834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7383c4834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7383c483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7383c483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7383c4834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7383c4834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7383c4834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7383c4834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7383c4834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7383c4834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7383c4834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7383c4834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7383c4834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7383c4834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7383c4834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7383c4834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7383c4834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7383c4834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7383c4834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7383c4834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7383c4834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7383c4834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7383c4834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7383c4834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7383c4834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7383c4834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7383c4834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7383c4834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7383c4834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7383c4834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7383c48348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7383c4834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DFA and Regular Operations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CSE331 - Automate and Computability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a DFA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Languages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Language:</a:t>
            </a:r>
            <a:r>
              <a:rPr lang="en"/>
              <a:t> A set of strings all of which are chosen from somc Σ*, where Σ is a particular alphabet, is called a Language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Regular </a:t>
            </a:r>
            <a:r>
              <a:rPr b="1" lang="en">
                <a:solidFill>
                  <a:srgbClr val="FF0000"/>
                </a:solidFill>
              </a:rPr>
              <a:t>Language:</a:t>
            </a:r>
            <a:r>
              <a:rPr lang="en"/>
              <a:t> These languages are exactly the ones that can be </a:t>
            </a:r>
            <a:r>
              <a:rPr i="1" lang="en"/>
              <a:t>described/recognised</a:t>
            </a:r>
            <a:r>
              <a:rPr lang="en"/>
              <a:t> </a:t>
            </a:r>
            <a:r>
              <a:rPr i="1" lang="en"/>
              <a:t>by Finite State Automata (FSA). </a:t>
            </a:r>
            <a:r>
              <a:rPr lang="en"/>
              <a:t>This language can be processed by computers having a very small amount of memory.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0000"/>
                </a:solidFill>
              </a:rPr>
              <a:t>Here,</a:t>
            </a:r>
            <a:endParaRPr i="1">
              <a:solidFill>
                <a:srgbClr val="FF0000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Computer is meant by a computational model that varies depending on the features we want to focus on.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Finite Automata (FSA) are good models of computers with an extremely limited amount of memory.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(DETERMINISTIC)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Finite State Automata</a:t>
            </a:r>
            <a:r>
              <a:rPr b="1" lang="en">
                <a:solidFill>
                  <a:srgbClr val="FF0000"/>
                </a:solidFill>
              </a:rPr>
              <a:t>:</a:t>
            </a:r>
            <a:r>
              <a:rPr lang="en"/>
              <a:t> A </a:t>
            </a:r>
            <a:r>
              <a:rPr b="1" lang="en"/>
              <a:t>finite state automaton</a:t>
            </a:r>
            <a:r>
              <a:rPr lang="en"/>
              <a:t> (FSA) (</a:t>
            </a:r>
            <a:r>
              <a:rPr i="1" lang="en"/>
              <a:t>plural automata</a:t>
            </a:r>
            <a:r>
              <a:rPr lang="en"/>
              <a:t>) is a simple idealized machine used to recognize </a:t>
            </a:r>
            <a:r>
              <a:rPr i="1" lang="en"/>
              <a:t>patterns</a:t>
            </a:r>
            <a:r>
              <a:rPr lang="en"/>
              <a:t> within input taken from </a:t>
            </a:r>
            <a:r>
              <a:rPr lang="en"/>
              <a:t>since</a:t>
            </a:r>
            <a:r>
              <a:rPr lang="en"/>
              <a:t> character set (or </a:t>
            </a:r>
            <a:r>
              <a:rPr b="1" lang="en"/>
              <a:t>alphabet</a:t>
            </a:r>
            <a:r>
              <a:rPr lang="en"/>
              <a:t>) </a:t>
            </a:r>
            <a:r>
              <a:rPr b="1" lang="en"/>
              <a:t>Σ.</a:t>
            </a:r>
            <a:r>
              <a:rPr lang="en"/>
              <a:t> The job of an FSA (for this course) is to </a:t>
            </a:r>
            <a:r>
              <a:rPr b="1" lang="en"/>
              <a:t>accept</a:t>
            </a:r>
            <a:r>
              <a:rPr lang="en"/>
              <a:t> or </a:t>
            </a:r>
            <a:r>
              <a:rPr b="1" lang="en"/>
              <a:t>reject</a:t>
            </a:r>
            <a:r>
              <a:rPr lang="en"/>
              <a:t> an input depending on whether the pattern defined by the FSA occurs in the input.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Graphical Representation:</a:t>
            </a:r>
            <a:r>
              <a:rPr lang="en"/>
              <a:t> 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Nodes</a:t>
            </a:r>
            <a:r>
              <a:rPr lang="en"/>
              <a:t> (for States)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Edges</a:t>
            </a:r>
            <a:r>
              <a:rPr lang="en"/>
              <a:t> (for transitions)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Steps of Sequence:</a:t>
            </a:r>
            <a:endParaRPr i="1">
              <a:solidFill>
                <a:srgbClr val="FF0000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Begin in the </a:t>
            </a:r>
            <a:r>
              <a:rPr b="1" lang="en"/>
              <a:t>start state</a:t>
            </a:r>
            <a:r>
              <a:rPr lang="en"/>
              <a:t>;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If the </a:t>
            </a:r>
            <a:r>
              <a:rPr b="1" lang="en"/>
              <a:t>next input char</a:t>
            </a:r>
            <a:r>
              <a:rPr lang="en"/>
              <a:t> matches the label on a transition from the current state to a new state, go to that new state;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Continue making transitions on each input character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arenR"/>
            </a:pPr>
            <a:r>
              <a:rPr lang="en"/>
              <a:t>If no move is possible, then </a:t>
            </a:r>
            <a:r>
              <a:rPr b="1" lang="en"/>
              <a:t>stop</a:t>
            </a:r>
            <a:r>
              <a:rPr lang="en"/>
              <a:t>;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arenR"/>
            </a:pPr>
            <a:r>
              <a:rPr lang="en"/>
              <a:t>If in </a:t>
            </a:r>
            <a:r>
              <a:rPr lang="en"/>
              <a:t>accepting</a:t>
            </a:r>
            <a:r>
              <a:rPr lang="en"/>
              <a:t> state, then </a:t>
            </a:r>
            <a:r>
              <a:rPr b="1" lang="en"/>
              <a:t>accept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(real life example) - Automatic Door Controller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controller for an automatic door</a:t>
            </a:r>
            <a:r>
              <a:rPr lang="en"/>
              <a:t> is one example of an FSA.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found at supermarket entrances and exits, automatic doors swing open when the controller senses that a person is approaching.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automatic door has a </a:t>
            </a:r>
            <a:r>
              <a:rPr b="1" lang="en"/>
              <a:t>pad in front</a:t>
            </a:r>
            <a:r>
              <a:rPr lang="en"/>
              <a:t> to detect the presence of a person about to walk through the doorway.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pad is located to the </a:t>
            </a:r>
            <a:r>
              <a:rPr b="1" lang="en"/>
              <a:t>rear</a:t>
            </a:r>
            <a:r>
              <a:rPr lang="en"/>
              <a:t> of the doorway so that the controller can hold </a:t>
            </a:r>
            <a:r>
              <a:rPr lang="en"/>
              <a:t>t</a:t>
            </a:r>
            <a:r>
              <a:rPr lang="en"/>
              <a:t>he door open long enough for the person to pass all the way through and also so that the door does not strike someone standing behind it as it opens.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FSA (real life example) - Automatic Door Controller Top View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63" y="928688"/>
            <a:ext cx="837247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(real life example) - Automatic Door Controller State Diagram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1170725"/>
            <a:ext cx="832485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(real life example) - State Diagram Description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controller is in either of two states: “</a:t>
            </a:r>
            <a:r>
              <a:rPr b="1" lang="en"/>
              <a:t>OPEN</a:t>
            </a:r>
            <a:r>
              <a:rPr lang="en"/>
              <a:t>” or “</a:t>
            </a:r>
            <a:r>
              <a:rPr b="1" lang="en"/>
              <a:t>CLOSED</a:t>
            </a:r>
            <a:r>
              <a:rPr lang="en"/>
              <a:t>,” representing the corresponding condition of the door.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here are </a:t>
            </a:r>
            <a:r>
              <a:rPr b="1" lang="en"/>
              <a:t>four possible input</a:t>
            </a:r>
            <a:r>
              <a:rPr lang="en"/>
              <a:t> conditions: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“FRONT”</a:t>
            </a:r>
            <a:r>
              <a:rPr lang="en"/>
              <a:t> - a person is standing on the pad in front of the doorway,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</a:t>
            </a:r>
            <a:r>
              <a:rPr b="1" lang="en"/>
              <a:t>“REAR”</a:t>
            </a:r>
            <a:r>
              <a:rPr lang="en"/>
              <a:t> - a person is standing on the pad to the rear of the doorway,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“BOTH”</a:t>
            </a:r>
            <a:r>
              <a:rPr lang="en"/>
              <a:t> - people are standing on both pads,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“NEITHER”</a:t>
            </a:r>
            <a:r>
              <a:rPr lang="en"/>
              <a:t> - no one is standing on either pad.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(real life example) - Automatic Door Controller State Diagram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25" y="1481138"/>
            <a:ext cx="8315325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(state diagram) - Machine M1 with three states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75" y="1138238"/>
            <a:ext cx="835342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(machine M1) - State Diagram Terminologies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Figure 1.4 is called the </a:t>
            </a:r>
            <a:r>
              <a:rPr b="1" lang="en" sz="2000"/>
              <a:t>state diagram</a:t>
            </a:r>
            <a:r>
              <a:rPr lang="en" sz="2000"/>
              <a:t> of M1.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has three </a:t>
            </a:r>
            <a:r>
              <a:rPr b="1" lang="en" sz="2000"/>
              <a:t>states</a:t>
            </a:r>
            <a:r>
              <a:rPr lang="en" sz="2000"/>
              <a:t>, labeled </a:t>
            </a:r>
            <a:r>
              <a:rPr b="1" lang="en" sz="2000"/>
              <a:t>q1, q2, and q3</a:t>
            </a:r>
            <a:r>
              <a:rPr lang="en" sz="2000"/>
              <a:t>.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</a:t>
            </a:r>
            <a:r>
              <a:rPr b="1" lang="en" sz="2000"/>
              <a:t>start state, q1</a:t>
            </a:r>
            <a:r>
              <a:rPr lang="en" sz="2000"/>
              <a:t>, is indicated by the </a:t>
            </a:r>
            <a:r>
              <a:rPr b="1" lang="en" sz="2000"/>
              <a:t>arrow</a:t>
            </a:r>
            <a:r>
              <a:rPr lang="en" sz="2000"/>
              <a:t> pointing at it from nowhere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a</a:t>
            </a:r>
            <a:r>
              <a:rPr b="1" lang="en" sz="2000"/>
              <a:t>ccept state, q2</a:t>
            </a:r>
            <a:r>
              <a:rPr lang="en" sz="2000"/>
              <a:t>, is the one with a </a:t>
            </a:r>
            <a:r>
              <a:rPr b="1" lang="en" sz="2000"/>
              <a:t>double circle</a:t>
            </a:r>
            <a:r>
              <a:rPr lang="en" sz="2000"/>
              <a:t>.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arrows going from one state to another are called </a:t>
            </a:r>
            <a:r>
              <a:rPr b="1" lang="en" sz="2000"/>
              <a:t>transitions</a:t>
            </a:r>
            <a:r>
              <a:rPr lang="en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(Formal Definition) - 5-Tuple</a:t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313" y="1481138"/>
            <a:ext cx="5667375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(Formal Definition) - Machine M1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017725"/>
            <a:ext cx="731520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(language of </a:t>
            </a:r>
            <a:r>
              <a:rPr lang="en"/>
              <a:t>a </a:t>
            </a:r>
            <a:r>
              <a:rPr lang="en"/>
              <a:t>machine) - Language of Machine M1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our example, let</a:t>
            </a:r>
            <a:endParaRPr sz="200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A = </a:t>
            </a:r>
            <a:r>
              <a:rPr b="1" lang="en" sz="2000"/>
              <a:t>{w| w contains at least one 1 and an even number of 0’s follow the last 1}.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Then </a:t>
            </a:r>
            <a:r>
              <a:rPr b="1" lang="en" sz="2000"/>
              <a:t>L(M1) = A</a:t>
            </a:r>
            <a:r>
              <a:rPr lang="en" sz="2000"/>
              <a:t>, or equivalently, </a:t>
            </a:r>
            <a:r>
              <a:rPr b="1" lang="en" sz="2000"/>
              <a:t>M1 recognizes A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can also write, </a:t>
            </a:r>
            <a:endParaRPr sz="2000"/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L(M1) = {w| w contains at least one 1 and an even number of 0’s follow the last 1}.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(language of a machine) - Language Definition and Terms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If A is the set of all strings that machine M accepts, we say that A is the language of machine M and write </a:t>
            </a:r>
            <a:r>
              <a:rPr b="1" lang="en" sz="2000"/>
              <a:t>L(M) = A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say that </a:t>
            </a:r>
            <a:r>
              <a:rPr b="1" lang="en" sz="2000"/>
              <a:t>M recognizes A</a:t>
            </a:r>
            <a:r>
              <a:rPr lang="en" sz="2000"/>
              <a:t> or that </a:t>
            </a:r>
            <a:r>
              <a:rPr b="1" lang="en" sz="2000"/>
              <a:t>M accepts A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Because the term accept h</a:t>
            </a:r>
            <a:r>
              <a:rPr lang="en" sz="2000"/>
              <a:t>a</a:t>
            </a:r>
            <a:r>
              <a:rPr lang="en" sz="2000"/>
              <a:t>s different meanings when we refer to machines accepting strings and machines accepting languages, we prefer the term recognize for languages in order to avoid confusion.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machine may accept several strings, but it always </a:t>
            </a:r>
            <a:r>
              <a:rPr b="1" lang="en" sz="2000"/>
              <a:t>recognizes only one language</a:t>
            </a:r>
            <a:r>
              <a:rPr lang="en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Problems on DFAs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(example 1) - Machine M2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234075"/>
            <a:ext cx="85206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Define M2 using the 5-tuple and also state the language of M2.</a:t>
            </a:r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25" y="1759675"/>
            <a:ext cx="7911326" cy="2914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(example 2) - Machine M3 Try Yourself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234075"/>
            <a:ext cx="85206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Define M3 using the 5-tuple and also state the language of M3.</a:t>
            </a:r>
            <a:endParaRPr/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1759675"/>
            <a:ext cx="83248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(example 3) - Machine M4 Try Yourself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234075"/>
            <a:ext cx="85206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Define M4 using the 5-tuple and also state the language of M4.</a:t>
            </a:r>
            <a:endParaRPr/>
          </a:p>
        </p:txBody>
      </p:sp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275" y="1759675"/>
            <a:ext cx="5865443" cy="30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(example 4) - Machine M5 Try Yourself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311700" y="1234075"/>
            <a:ext cx="85206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Define M5 using the 5-tuple and also state the language of M5. To be continued…</a:t>
            </a:r>
            <a:endParaRPr/>
          </a:p>
        </p:txBody>
      </p:sp>
      <p:pic>
        <p:nvPicPr>
          <p:cNvPr id="175" name="Google Shape;1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525" y="1759675"/>
            <a:ext cx="6214938" cy="30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FSA (example 4) - Machine M5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11700" y="1234075"/>
            <a:ext cx="8520600" cy="24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Machine M5 keeps a running count of the sum of the numerical input symbols it reads, modulo 3.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Every time it receives the hRESETi symbol, it resets the count to 0.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accepts if the sum is 0 modulo 3, or in other words, if the sum is a multiple of 3.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Definition of Computation</a:t>
            </a:r>
            <a:endParaRPr/>
          </a:p>
        </p:txBody>
      </p:sp>
      <p:sp>
        <p:nvSpPr>
          <p:cNvPr id="187" name="Google Shape;187;p34"/>
          <p:cNvSpPr txBox="1"/>
          <p:nvPr>
            <p:ph idx="1" type="body"/>
          </p:nvPr>
        </p:nvSpPr>
        <p:spPr>
          <a:xfrm>
            <a:off x="311700" y="1234075"/>
            <a:ext cx="8520600" cy="3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 M = (Q, Σ, δ, q0, F) be a finite automaton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 w = w1w2 · · · wn be a string where each wi is a member of the alphabet Σ.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i="1" lang="en" sz="2000"/>
              <a:t>M accepts w</a:t>
            </a:r>
            <a:r>
              <a:rPr lang="en" sz="2000"/>
              <a:t> if a sequence of states </a:t>
            </a:r>
            <a:r>
              <a:rPr b="1" lang="en" sz="2000"/>
              <a:t>r0, r1, . . . , rn in Q</a:t>
            </a:r>
            <a:r>
              <a:rPr lang="en" sz="2000"/>
              <a:t> exists with three conditions: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r0 = q0,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δ(ri, wi+1) = ri+1, for i = 0, . . . , n − 1, and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rn ∈ F.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Definition of Computation contd…</a:t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234075"/>
            <a:ext cx="8520600" cy="3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Condition 1 says that the machine starts in the start state.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Condition 2 says that the machine goes from state to state according to the transition function.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Condition 3 says that the machine accepts its input if it ends up in an accept state.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say that </a:t>
            </a:r>
            <a:r>
              <a:rPr b="1" lang="en" sz="2000"/>
              <a:t>M recognizes language A</a:t>
            </a:r>
            <a:r>
              <a:rPr lang="en" sz="2000"/>
              <a:t> if A = {w| M accepts w}.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Definition of Computation (Example Machine M5)</a:t>
            </a:r>
            <a:endParaRPr/>
          </a:p>
        </p:txBody>
      </p:sp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311700" y="1234075"/>
            <a:ext cx="8520600" cy="3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 w be the string: 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“</a:t>
            </a:r>
            <a:r>
              <a:rPr b="1" lang="en" sz="2000"/>
              <a:t>10&lt;RESET&gt;22&lt;RESET&gt;012”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Sequence of states it enters when computing on w is: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q0, q1, q1, q0, q2, q1, q0, q0, q1, q0.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satisfies</a:t>
            </a:r>
            <a:r>
              <a:rPr lang="en" sz="2000"/>
              <a:t> the three conditions.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language of M5 is: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L(M5)</a:t>
            </a:r>
            <a:r>
              <a:rPr lang="en" sz="2000"/>
              <a:t> = {w| the sum of the symbols in w is 0 modulo 3, except that &lt;RESET&gt; resets the count to 0}.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Principle (“Reader as Automaton” Theory)</a:t>
            </a:r>
            <a:endParaRPr/>
          </a:p>
        </p:txBody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311700" y="1234075"/>
            <a:ext cx="8520600" cy="24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Put yourself in the place of the machine you are trying to design,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</a:t>
            </a:r>
            <a:r>
              <a:rPr lang="en" sz="2000"/>
              <a:t>ee how you would go about performing the machine’s task.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Let’s try out this principle to two such machines.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Steps for Designing any DFA</a:t>
            </a:r>
            <a:endParaRPr/>
          </a:p>
        </p:txBody>
      </p:sp>
      <p:sp>
        <p:nvSpPr>
          <p:cNvPr id="216" name="Google Shape;216;p39"/>
          <p:cNvSpPr txBox="1"/>
          <p:nvPr>
            <p:ph idx="1" type="body"/>
          </p:nvPr>
        </p:nvSpPr>
        <p:spPr>
          <a:xfrm>
            <a:off x="311700" y="1234075"/>
            <a:ext cx="8520600" cy="24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Think of a string which gets accepted by the language given.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Determine the different states needed to accept the string.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State rest of the transitions.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Mark the start state and accept state.</a:t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</a:t>
            </a:r>
            <a:r>
              <a:rPr lang="en"/>
              <a:t> (example 1) - Machine recognizing odd number of 1s</a:t>
            </a:r>
            <a:endParaRPr/>
          </a:p>
        </p:txBody>
      </p:sp>
      <p:sp>
        <p:nvSpPr>
          <p:cNvPr id="222" name="Google Shape;222;p40"/>
          <p:cNvSpPr txBox="1"/>
          <p:nvPr>
            <p:ph idx="1" type="body"/>
          </p:nvPr>
        </p:nvSpPr>
        <p:spPr>
          <a:xfrm>
            <a:off x="311700" y="2571750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Given </a:t>
            </a:r>
            <a:r>
              <a:rPr lang="en" sz="2000"/>
              <a:t>Σ = {0, 1} and the language consists of all strings with an odd number of 1s. Draw a DFA that recognizes this language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1) - Solution</a:t>
            </a:r>
            <a:endParaRPr/>
          </a:p>
        </p:txBody>
      </p:sp>
      <p:pic>
        <p:nvPicPr>
          <p:cNvPr id="228" name="Google Shape;2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550" y="1196225"/>
            <a:ext cx="6054900" cy="275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263" y="1704975"/>
            <a:ext cx="448627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2) - Accepting strings that contain 001</a:t>
            </a:r>
            <a:endParaRPr/>
          </a:p>
        </p:txBody>
      </p:sp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11700" y="2571750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Given </a:t>
            </a:r>
            <a:r>
              <a:rPr lang="en" sz="2000"/>
              <a:t>Σ = {0, 1} and the language consists </a:t>
            </a:r>
            <a:r>
              <a:rPr lang="en" sz="2000"/>
              <a:t>of all strings that contain the string 001 as a substring</a:t>
            </a:r>
            <a:r>
              <a:rPr lang="en" sz="2000"/>
              <a:t>. Draw a DFA that recognizes this language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2) - Solution</a:t>
            </a:r>
            <a:endParaRPr/>
          </a:p>
        </p:txBody>
      </p:sp>
      <p:pic>
        <p:nvPicPr>
          <p:cNvPr id="241" name="Google Shape;2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75" y="1171575"/>
            <a:ext cx="835342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3) - Accepting strings that starts with 11</a:t>
            </a:r>
            <a:endParaRPr/>
          </a:p>
        </p:txBody>
      </p:sp>
      <p:sp>
        <p:nvSpPr>
          <p:cNvPr id="247" name="Google Shape;247;p44"/>
          <p:cNvSpPr txBox="1"/>
          <p:nvPr>
            <p:ph idx="1" type="body"/>
          </p:nvPr>
        </p:nvSpPr>
        <p:spPr>
          <a:xfrm>
            <a:off x="311700" y="2571750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L(A) = {w | w ∈ (0,1)* and w starts with 11} i.e {11, 110, 111, 1100, 1101.............}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3) - Solution</a:t>
            </a:r>
            <a:endParaRPr/>
          </a:p>
        </p:txBody>
      </p:sp>
      <p:pic>
        <p:nvPicPr>
          <p:cNvPr id="253" name="Google Shape;25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625" y="1486525"/>
            <a:ext cx="523875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5"/>
          <p:cNvSpPr txBox="1"/>
          <p:nvPr>
            <p:ph idx="1" type="body"/>
          </p:nvPr>
        </p:nvSpPr>
        <p:spPr>
          <a:xfrm>
            <a:off x="411125" y="1017725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L(A) = {w | w ∈ (0,1)* and w starts with 11} i.e {11, 110, 111, 1100, 1101.............}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4) - Accepting strings that ends with 11</a:t>
            </a:r>
            <a:endParaRPr/>
          </a:p>
        </p:txBody>
      </p:sp>
      <p:sp>
        <p:nvSpPr>
          <p:cNvPr id="260" name="Google Shape;260;p46"/>
          <p:cNvSpPr txBox="1"/>
          <p:nvPr>
            <p:ph idx="1" type="body"/>
          </p:nvPr>
        </p:nvSpPr>
        <p:spPr>
          <a:xfrm>
            <a:off x="311700" y="2571750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L(A) = {w | w ∈ (0,1)* and w ends with 11} i.e. {11, 011, 111.............}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4) - Solution</a:t>
            </a:r>
            <a:endParaRPr/>
          </a:p>
        </p:txBody>
      </p:sp>
      <p:pic>
        <p:nvPicPr>
          <p:cNvPr id="266" name="Google Shape;2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225" y="1669950"/>
            <a:ext cx="6513550" cy="22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7"/>
          <p:cNvSpPr txBox="1"/>
          <p:nvPr>
            <p:ph idx="1" type="body"/>
          </p:nvPr>
        </p:nvSpPr>
        <p:spPr>
          <a:xfrm>
            <a:off x="311700" y="1017725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L(A) = {w | w ∈ (0,1)* and w ends with 11} i.e. {11, 011, 111.............}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5) - length of the string at least 2</a:t>
            </a:r>
            <a:endParaRPr/>
          </a:p>
        </p:txBody>
      </p:sp>
      <p:sp>
        <p:nvSpPr>
          <p:cNvPr id="273" name="Google Shape;273;p48"/>
          <p:cNvSpPr txBox="1"/>
          <p:nvPr>
            <p:ph idx="1" type="body"/>
          </p:nvPr>
        </p:nvSpPr>
        <p:spPr>
          <a:xfrm>
            <a:off x="311700" y="2571750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L(A) = {w | w ∈ (0,1)* and |w| ≥ 2} i.e. length of the string is at least 2</a:t>
            </a:r>
            <a:endParaRPr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5) - Solution</a:t>
            </a:r>
            <a:endParaRPr/>
          </a:p>
        </p:txBody>
      </p:sp>
      <p:pic>
        <p:nvPicPr>
          <p:cNvPr id="279" name="Google Shape;27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63" y="1673888"/>
            <a:ext cx="677227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9"/>
          <p:cNvSpPr txBox="1"/>
          <p:nvPr>
            <p:ph idx="1" type="body"/>
          </p:nvPr>
        </p:nvSpPr>
        <p:spPr>
          <a:xfrm>
            <a:off x="311700" y="1017725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L(A) = {w | w ∈ (0,1)* and |w| ≥ 2} i.e. length of the string is at least 2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Designing DFA (example 6) - length of the string at = 2 or at most 2</a:t>
            </a:r>
            <a:endParaRPr sz="2600"/>
          </a:p>
        </p:txBody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311700" y="1834200"/>
            <a:ext cx="85206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L(A) = {w | w ∈ (0,1)* and |w| = 2} i.e. length of the string is 2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L(A) = {w | w ∈ (0,1)* and |w| &lt; 2} i.e. length of the string is at most 2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Try Yourself</a:t>
            </a: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7) - binary integer divisible by 5</a:t>
            </a:r>
            <a:endParaRPr/>
          </a:p>
        </p:txBody>
      </p:sp>
      <p:sp>
        <p:nvSpPr>
          <p:cNvPr id="292" name="Google Shape;292;p51"/>
          <p:cNvSpPr txBox="1"/>
          <p:nvPr>
            <p:ph idx="1" type="body"/>
          </p:nvPr>
        </p:nvSpPr>
        <p:spPr>
          <a:xfrm>
            <a:off x="311700" y="2571750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L(A) = {w | w ∈ (0,1)* and w as a binary integer is divisible by 5}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DFA (example 7) - Solution</a:t>
            </a:r>
            <a:endParaRPr/>
          </a:p>
        </p:txBody>
      </p:sp>
      <p:sp>
        <p:nvSpPr>
          <p:cNvPr id="298" name="Google Shape;298;p52"/>
          <p:cNvSpPr txBox="1"/>
          <p:nvPr>
            <p:ph idx="1" type="body"/>
          </p:nvPr>
        </p:nvSpPr>
        <p:spPr>
          <a:xfrm>
            <a:off x="311700" y="1017725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L(A) = {w | w ∈ (0,1)* and w as a binary integer is divisible by 5}</a:t>
            </a:r>
            <a:endParaRPr/>
          </a:p>
        </p:txBody>
      </p:sp>
      <p:pic>
        <p:nvPicPr>
          <p:cNvPr id="299" name="Google Shape;29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775" y="1624075"/>
            <a:ext cx="7364449" cy="24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Operations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Operations</a:t>
            </a:r>
            <a:endParaRPr/>
          </a:p>
        </p:txBody>
      </p:sp>
      <p:sp>
        <p:nvSpPr>
          <p:cNvPr id="310" name="Google Shape;310;p5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 A and B be languages.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 define the regular operations union, intersection, concatenation, complement and star as follows: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Union</a:t>
            </a:r>
            <a:r>
              <a:rPr lang="en" sz="2000"/>
              <a:t>: A ∪ B = {x| x ∈ A OR x ∈ B}.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Intersection</a:t>
            </a:r>
            <a:r>
              <a:rPr lang="en" sz="2000"/>
              <a:t>: A ∩ B = {x| x ∈ A AND x ∈ B}.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Concatenation</a:t>
            </a:r>
            <a:r>
              <a:rPr lang="en" sz="2000"/>
              <a:t>: A ◦ B = {xy| x ∈ A and y ∈ B}.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Complement</a:t>
            </a:r>
            <a:r>
              <a:rPr lang="en" sz="2000"/>
              <a:t>: A` = {x| x ∉ A}.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Star (Kleen Closure)</a:t>
            </a:r>
            <a:r>
              <a:rPr lang="en" sz="2000"/>
              <a:t>: A∗ = {x1x2 . . . xk| k ≥ 0 and each xi ∈ A}.</a:t>
            </a:r>
            <a:endParaRPr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Operations (Example)</a:t>
            </a:r>
            <a:endParaRPr/>
          </a:p>
        </p:txBody>
      </p:sp>
      <p:sp>
        <p:nvSpPr>
          <p:cNvPr id="316" name="Google Shape;316;p5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Let the alphabet Σ be the standard 26 letters {a, b, . . . , z}. 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If A = {good, bad} and B = {boy, girl, good}, then: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2000"/>
              <a:t>A ∪ B</a:t>
            </a:r>
            <a:r>
              <a:rPr lang="en" sz="2000"/>
              <a:t> = {good, bad, boy, girl},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2000"/>
              <a:t>A ∩ B</a:t>
            </a:r>
            <a:r>
              <a:rPr lang="en" sz="2000"/>
              <a:t> = {good},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2000"/>
              <a:t>A ◦ B</a:t>
            </a:r>
            <a:r>
              <a:rPr lang="en" sz="2000"/>
              <a:t> = {goodboy, goodgirl, goodgood, badboy, badgirl, badgood},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2000"/>
              <a:t>A`</a:t>
            </a:r>
            <a:r>
              <a:rPr lang="en" sz="2000"/>
              <a:t> = {good, bad}` and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2000"/>
              <a:t>A∗</a:t>
            </a:r>
            <a:r>
              <a:rPr lang="en" sz="2000"/>
              <a:t> = {ε, good, bad, goodgood, goodbad, badgood, badbad, goodgoodgood, goodgoodbad, goodbadgood, goodbadbad, . . . }.</a:t>
            </a:r>
            <a:endParaRPr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en" sz="2300"/>
              <a:t>Definition of Closed Under any operation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00"/>
          </a:p>
        </p:txBody>
      </p:sp>
      <p:sp>
        <p:nvSpPr>
          <p:cNvPr id="322" name="Google Shape;322;p5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 N = {1, 2, 3, . . . } be the set of natural numbers.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When we say that N is </a:t>
            </a:r>
            <a:r>
              <a:rPr b="1" lang="en" sz="2000"/>
              <a:t>closed under multiplication</a:t>
            </a:r>
            <a:r>
              <a:rPr lang="en" sz="2000"/>
              <a:t>, we mean that for any x and y in N , the product </a:t>
            </a:r>
            <a:r>
              <a:rPr b="1" lang="en" sz="2000"/>
              <a:t>x × y</a:t>
            </a:r>
            <a:r>
              <a:rPr lang="en" sz="2000"/>
              <a:t> also is in the set N.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contrast, N is </a:t>
            </a:r>
            <a:r>
              <a:rPr b="1" lang="en" sz="2000"/>
              <a:t>not closed under division</a:t>
            </a:r>
            <a:r>
              <a:rPr lang="en" sz="2000"/>
              <a:t>, as 1 and 2 are in N but 1/2 is not.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i="1" lang="en" sz="2000"/>
              <a:t>Generally speaking, a collection of objects is closed under some operation if applying that operation to members of the collection returns an object still in the collection.</a:t>
            </a:r>
            <a:endParaRPr i="1"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7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Cross Product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00"/>
              <a:t>Closure of Regular Languages Under Union: The Cross Product Construction (Theorem)</a:t>
            </a:r>
            <a:endParaRPr sz="2100"/>
          </a:p>
        </p:txBody>
      </p:sp>
      <p:sp>
        <p:nvSpPr>
          <p:cNvPr id="333" name="Google Shape;333;p5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class of regular languages is closed under the union operation.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other words, if A1 and A2 are </a:t>
            </a:r>
            <a:r>
              <a:rPr b="1" lang="en" sz="2000"/>
              <a:t>regular languages</a:t>
            </a:r>
            <a:r>
              <a:rPr lang="en" sz="2000"/>
              <a:t>, so is </a:t>
            </a:r>
            <a:r>
              <a:rPr b="1" lang="en" sz="2000"/>
              <a:t>A1 ∪ A2</a:t>
            </a:r>
            <a:r>
              <a:rPr lang="en" sz="2000"/>
              <a:t> and </a:t>
            </a:r>
            <a:r>
              <a:rPr b="1" lang="en" sz="2000"/>
              <a:t>A1 ∩ A2.</a:t>
            </a:r>
            <a:endParaRPr b="1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Between A1 and A2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00"/>
          </a:p>
        </p:txBody>
      </p:sp>
      <p:sp>
        <p:nvSpPr>
          <p:cNvPr id="339" name="Google Shape;339;p5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cross product is the process of constructing a DFA that simulates the steps of two different DFAs in parallel.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 the two DFAs be A1 and A2 accepting regular languages L1 and L2;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A1 = (Q1, Σ, δ1, q01, F1) recognized my machine A1,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A2 = (Q2, Σ, δ2, q02, F2) recognized by machine A2.</a:t>
            </a:r>
            <a:endParaRPr sz="2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DFA A From A1 and A2</a:t>
            </a:r>
            <a:endParaRPr sz="2300"/>
          </a:p>
        </p:txBody>
      </p:sp>
      <p:sp>
        <p:nvSpPr>
          <p:cNvPr id="345" name="Google Shape;345;p6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From these two DFAs, we can construct a DFA, A = (Q, Σ, δ, q0, F) that recognizes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A1 ⋃ A2,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A1 ⋂ A2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For the DFA, the 5-tuple A = (Q, Σ, δ, q0, F):</a:t>
            </a:r>
            <a:endParaRPr sz="2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Set of States, the Start State, Transition Function</a:t>
            </a:r>
            <a:endParaRPr sz="2300"/>
          </a:p>
        </p:txBody>
      </p:sp>
      <p:sp>
        <p:nvSpPr>
          <p:cNvPr id="351" name="Google Shape;351;p6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Set of states</a:t>
            </a:r>
            <a:endParaRPr b="1"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Q is the set of states. It contains pairs of states from A1 and A2</a:t>
            </a:r>
            <a:endParaRPr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Q = Q1 X Q2 = {(q1, q2)| q1 ∈ Q1 and q2 ∈ Q2}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Start State</a:t>
            </a:r>
            <a:endParaRPr b="1"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q0= (q01, q02)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Transition Function</a:t>
            </a:r>
            <a:endParaRPr b="1" sz="20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δ((q1, q2), a) = (δ1(q1, a), δ2(q2, a)) where q1 and q2 are states of A1 and A2 respectively and (q1, q2) represents the state of the new DFA, A that is derived from A1 and A2.</a:t>
            </a:r>
            <a:endParaRPr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Set of Final States</a:t>
            </a:r>
            <a:endParaRPr sz="2300"/>
          </a:p>
        </p:txBody>
      </p:sp>
      <p:sp>
        <p:nvSpPr>
          <p:cNvPr id="357" name="Google Shape;357;p6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Set of final states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For A = A1 ⋃ A2, F = {(q1, q2) | q1 ∈ F1 </a:t>
            </a:r>
            <a:r>
              <a:rPr b="1" lang="en" sz="2000"/>
              <a:t>OR</a:t>
            </a:r>
            <a:r>
              <a:rPr lang="en" sz="2000"/>
              <a:t> q2 ∈ F2}, it accepts when </a:t>
            </a:r>
            <a:r>
              <a:rPr b="1" lang="en" sz="2000"/>
              <a:t>either</a:t>
            </a:r>
            <a:r>
              <a:rPr lang="en" sz="2000"/>
              <a:t> A1 or A2 accepts </a:t>
            </a:r>
            <a:r>
              <a:rPr lang="en" sz="2000"/>
              <a:t>Q = Q1 X Q2 = {(q1, q2)| q1 ∈ Q1 and q2 ∈ Q2}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For A = A1 ⋂ A2, F = {(q1, q2) | q1 ∈ F1 </a:t>
            </a:r>
            <a:r>
              <a:rPr b="1" lang="en" sz="2000"/>
              <a:t>AND</a:t>
            </a:r>
            <a:r>
              <a:rPr lang="en" sz="2000"/>
              <a:t> q2 ∈ F2}, it accepts when </a:t>
            </a:r>
            <a:r>
              <a:rPr b="1" lang="en" sz="2000"/>
              <a:t>both</a:t>
            </a:r>
            <a:r>
              <a:rPr lang="en" sz="2000"/>
              <a:t> A1 and A2 accepts</a:t>
            </a:r>
            <a:endParaRPr sz="2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Example</a:t>
            </a:r>
            <a:endParaRPr sz="2300"/>
          </a:p>
        </p:txBody>
      </p:sp>
      <p:sp>
        <p:nvSpPr>
          <p:cNvPr id="363" name="Google Shape;363;p63"/>
          <p:cNvSpPr txBox="1"/>
          <p:nvPr>
            <p:ph idx="1" type="body"/>
          </p:nvPr>
        </p:nvSpPr>
        <p:spPr>
          <a:xfrm>
            <a:off x="311700" y="1234075"/>
            <a:ext cx="8520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Let’s consider the DFAs for the following languages: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L1 = {w | w ∈ (0,1)* and n0(w) is divisible by 3} i.e. the number of 0 is divisible by 3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L2 = {w | w ∈ (0,1)* and n1(w) is odd} i.e. the number of 1 is odd.</a:t>
            </a:r>
            <a:endParaRPr sz="2000"/>
          </a:p>
        </p:txBody>
      </p:sp>
      <p:pic>
        <p:nvPicPr>
          <p:cNvPr id="364" name="Google Shape;36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913" y="3142675"/>
            <a:ext cx="5398170" cy="16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Example Explanation</a:t>
            </a:r>
            <a:endParaRPr sz="2300"/>
          </a:p>
        </p:txBody>
      </p:sp>
      <p:sp>
        <p:nvSpPr>
          <p:cNvPr id="370" name="Google Shape;370;p64"/>
          <p:cNvSpPr txBox="1"/>
          <p:nvPr>
            <p:ph idx="1" type="body"/>
          </p:nvPr>
        </p:nvSpPr>
        <p:spPr>
          <a:xfrm>
            <a:off x="311700" y="1234075"/>
            <a:ext cx="8520600" cy="35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Here: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</a:t>
            </a:r>
            <a:r>
              <a:rPr b="1" lang="en" sz="2000"/>
              <a:t>set of states</a:t>
            </a:r>
            <a:r>
              <a:rPr lang="en" sz="2000"/>
              <a:t> for the first DFA, Q1 = {A, B, C} the second DFA, Q2 = {X, Y}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Start state</a:t>
            </a:r>
            <a:r>
              <a:rPr lang="en" sz="2000"/>
              <a:t> of the first DFA is A and the second DFA is X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Set of final states</a:t>
            </a:r>
            <a:r>
              <a:rPr lang="en" sz="2000"/>
              <a:t> of the first DFA is F1 = {A} and the second DFA is F2 = {Y}</a:t>
            </a:r>
            <a:endParaRPr sz="2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Example Solution for the new DFA</a:t>
            </a:r>
            <a:endParaRPr sz="2300"/>
          </a:p>
        </p:txBody>
      </p:sp>
      <p:sp>
        <p:nvSpPr>
          <p:cNvPr id="376" name="Google Shape;376;p65"/>
          <p:cNvSpPr txBox="1"/>
          <p:nvPr>
            <p:ph idx="1" type="body"/>
          </p:nvPr>
        </p:nvSpPr>
        <p:spPr>
          <a:xfrm>
            <a:off x="311700" y="1234075"/>
            <a:ext cx="8520600" cy="35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Set of States:</a:t>
            </a:r>
            <a:endParaRPr b="1" sz="2000"/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The set of states is, Q = Q1 X Q2 = {(A, X), (A, Y), (B, X), (B, Y), (C, X), (C, Y) }</a:t>
            </a:r>
            <a:endParaRPr sz="2000"/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For simplicity, let’s name the states as AX, AY, BX, BY, CX, CY. So, Q = {AX, AY, BX, BY, CX, CY}</a:t>
            </a:r>
            <a:endParaRPr sz="2000"/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Start state</a:t>
            </a:r>
            <a:r>
              <a:rPr lang="en" sz="2000"/>
              <a:t> is the state that corresponds to (A, X), which is AX</a:t>
            </a:r>
            <a:endParaRPr sz="2000"/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2000"/>
              <a:t>Set of final states</a:t>
            </a:r>
            <a:r>
              <a:rPr lang="en" sz="2000"/>
              <a:t> of the first DFA is F1 = {A} and the second DFA is F2 = {Y}</a:t>
            </a:r>
            <a:endParaRPr sz="2000"/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Set of Final States:</a:t>
            </a:r>
            <a:endParaRPr sz="2000"/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2000"/>
              <a:t>If L = L1 ⋃ L2 = {w | w ∈ (0,1)* and the n0(w) is divisible by 3 OR n1 (w) is odd}, F = {AX, AY, BY, CY}</a:t>
            </a:r>
            <a:endParaRPr b="1" sz="2000"/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2000"/>
              <a:t>If L = L1 ⋂ L2 = {w | w ∈ (0,1)* and the n0(w) is divisible by 3 AND n1 (w) is odd}, F = {AY}</a:t>
            </a:r>
            <a:endParaRPr b="1" sz="2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Example Solution for the new DFA (The Transitions)</a:t>
            </a:r>
            <a:endParaRPr sz="2300"/>
          </a:p>
        </p:txBody>
      </p:sp>
      <p:sp>
        <p:nvSpPr>
          <p:cNvPr id="382" name="Google Shape;382;p66"/>
          <p:cNvSpPr txBox="1"/>
          <p:nvPr>
            <p:ph idx="1" type="body"/>
          </p:nvPr>
        </p:nvSpPr>
        <p:spPr>
          <a:xfrm>
            <a:off x="311700" y="1234075"/>
            <a:ext cx="8520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The Transitions: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We can figure out the transitions for the new DFA from the transitions of the two DFAs it simulates. It is easier to see from the transition tables.</a:t>
            </a:r>
            <a:endParaRPr b="1" sz="2000"/>
          </a:p>
        </p:txBody>
      </p:sp>
      <p:pic>
        <p:nvPicPr>
          <p:cNvPr id="383" name="Google Shape;38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600" y="3142675"/>
            <a:ext cx="1878149" cy="169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6424" y="3097475"/>
            <a:ext cx="2320256" cy="16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Example Solution for the new DFA (The Transitions) contd…</a:t>
            </a:r>
            <a:endParaRPr sz="2300"/>
          </a:p>
        </p:txBody>
      </p:sp>
      <p:sp>
        <p:nvSpPr>
          <p:cNvPr id="390" name="Google Shape;390;p67"/>
          <p:cNvSpPr txBox="1"/>
          <p:nvPr>
            <p:ph idx="1" type="body"/>
          </p:nvPr>
        </p:nvSpPr>
        <p:spPr>
          <a:xfrm>
            <a:off x="311700" y="1234075"/>
            <a:ext cx="8520600" cy="35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Transitions of new DFA (for input symbol 0):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δ(A, 0) = B and δ(X, 0) = X. So, δ(AX, 0) = BX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δ(B, 0) = C and δ(X, 0) = X. So, δ(BX, 0) = CX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δ(C, 0) = A and δ(X, 0) = X. So, δ(CX, 0) = AX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δ(A, 0) = B and δ(Y, 0) = Y. So, δ(AY, 0) = BY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δ(B, 0) = C and δ(Y, 0) = Y. So, δ(BY, 0) = CY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δ(C, 0) = A and δ(Y, 0) = Y. So, δ(CY, 0) = AY</a:t>
            </a:r>
            <a:endParaRPr b="1" sz="2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Example Solution for the new DFA (The Transitions) contd…</a:t>
            </a:r>
            <a:endParaRPr sz="2300"/>
          </a:p>
        </p:txBody>
      </p:sp>
      <p:sp>
        <p:nvSpPr>
          <p:cNvPr id="396" name="Google Shape;396;p68"/>
          <p:cNvSpPr txBox="1"/>
          <p:nvPr>
            <p:ph idx="1" type="body"/>
          </p:nvPr>
        </p:nvSpPr>
        <p:spPr>
          <a:xfrm>
            <a:off x="311700" y="1234075"/>
            <a:ext cx="8520600" cy="35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Transitions of new DFA (for input symbol 1):</a:t>
            </a:r>
            <a:endParaRPr b="1"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δ(A, 1) = A and δ(X, 1) = Y. So, δ(AX, 1) = AY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δ(B, 1) = B and δ(X, 1) = Y. So, δ(BX, 1) = BY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δ(C, 1) = C and δ(X,1) = Y. So, δ(CX, 1) = CY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δ(A, 1) = A and δ(Y, 1) = X. So, δ(AY, 1) = AX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δ(B, 1) = B and δ(Y, 1) = X. So, δ(BY, 1) = BX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δ(C, 1) = C and δ(Y, 1) = X. So, δ(CY, 1) = CX</a:t>
            </a:r>
            <a:endParaRPr b="1" sz="2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New DFA for L1 ⋃ L2 </a:t>
            </a:r>
            <a:endParaRPr sz="2300"/>
          </a:p>
        </p:txBody>
      </p:sp>
      <p:sp>
        <p:nvSpPr>
          <p:cNvPr id="402" name="Google Shape;402;p69"/>
          <p:cNvSpPr txBox="1"/>
          <p:nvPr>
            <p:ph idx="1" type="body"/>
          </p:nvPr>
        </p:nvSpPr>
        <p:spPr>
          <a:xfrm>
            <a:off x="311700" y="1234075"/>
            <a:ext cx="8520600" cy="10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The DFA for L = L1 ⋃ L2 = {w | w ∈ (0,1)* and the n0(w) is divisible by 3 OR n1(w) is odd}:</a:t>
            </a:r>
            <a:endParaRPr sz="2000"/>
          </a:p>
        </p:txBody>
      </p:sp>
      <p:pic>
        <p:nvPicPr>
          <p:cNvPr id="403" name="Google Shape;40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9813" y="2256775"/>
            <a:ext cx="3944374" cy="25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The Cross Product: New DFA for L1 ⋂ L2 </a:t>
            </a:r>
            <a:endParaRPr sz="2300"/>
          </a:p>
        </p:txBody>
      </p:sp>
      <p:sp>
        <p:nvSpPr>
          <p:cNvPr id="409" name="Google Shape;409;p70"/>
          <p:cNvSpPr txBox="1"/>
          <p:nvPr>
            <p:ph idx="1" type="body"/>
          </p:nvPr>
        </p:nvSpPr>
        <p:spPr>
          <a:xfrm>
            <a:off x="311700" y="1234075"/>
            <a:ext cx="8520600" cy="10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The DFA for L = L1 </a:t>
            </a:r>
            <a:r>
              <a:rPr lang="en" sz="2000"/>
              <a:t>⋂</a:t>
            </a:r>
            <a:r>
              <a:rPr b="1" lang="en" sz="2000"/>
              <a:t> L2 = {w | w ∈ (0,1)* and the n0(w) is divisible by 3 AND n1(w) is odd}:</a:t>
            </a:r>
            <a:endParaRPr sz="2000"/>
          </a:p>
        </p:txBody>
      </p:sp>
      <p:pic>
        <p:nvPicPr>
          <p:cNvPr id="410" name="Google Shape;41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9663" y="2256775"/>
            <a:ext cx="3784685" cy="25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