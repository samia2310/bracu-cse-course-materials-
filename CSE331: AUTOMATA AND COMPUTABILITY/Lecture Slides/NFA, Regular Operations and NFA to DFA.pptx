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embeddedFontLst>
    <p:embeddedFont>
      <p:font typeface="Playfair Display"/>
      <p:regular r:id="rId48"/>
      <p:bold r:id="rId49"/>
      <p:italic r:id="rId50"/>
      <p:boldItalic r:id="rId51"/>
    </p:embeddedFont>
    <p:embeddedFont>
      <p:font typeface="Montserrat"/>
      <p:regular r:id="rId52"/>
      <p:bold r:id="rId53"/>
      <p:italic r:id="rId54"/>
      <p:boldItalic r:id="rId55"/>
    </p:embeddedFont>
    <p:embeddedFont>
      <p:font typeface="Oswald"/>
      <p:regular r:id="rId56"/>
      <p:bold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BAB5C7-D129-4AEC-9460-E58088CC944E}">
  <a:tblStyle styleId="{0CBAB5C7-D129-4AEC-9460-E58088CC94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layfairDisplay-regular.fntdata"/><Relationship Id="rId47" Type="http://schemas.openxmlformats.org/officeDocument/2006/relationships/slide" Target="slides/slide41.xml"/><Relationship Id="rId49" Type="http://schemas.openxmlformats.org/officeDocument/2006/relationships/font" Target="fonts/PlayfairDisplay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layfairDisplay-boldItalic.fntdata"/><Relationship Id="rId50" Type="http://schemas.openxmlformats.org/officeDocument/2006/relationships/font" Target="fonts/PlayfairDisplay-italic.fntdata"/><Relationship Id="rId53" Type="http://schemas.openxmlformats.org/officeDocument/2006/relationships/font" Target="fonts/Montserrat-bold.fntdata"/><Relationship Id="rId52" Type="http://schemas.openxmlformats.org/officeDocument/2006/relationships/font" Target="fonts/Montserrat-regular.fntdata"/><Relationship Id="rId11" Type="http://schemas.openxmlformats.org/officeDocument/2006/relationships/slide" Target="slides/slide5.xml"/><Relationship Id="rId55" Type="http://schemas.openxmlformats.org/officeDocument/2006/relationships/font" Target="fonts/Montserrat-boldItalic.fntdata"/><Relationship Id="rId10" Type="http://schemas.openxmlformats.org/officeDocument/2006/relationships/slide" Target="slides/slide4.xml"/><Relationship Id="rId54" Type="http://schemas.openxmlformats.org/officeDocument/2006/relationships/font" Target="fonts/Montserrat-italic.fntdata"/><Relationship Id="rId13" Type="http://schemas.openxmlformats.org/officeDocument/2006/relationships/slide" Target="slides/slide7.xml"/><Relationship Id="rId57" Type="http://schemas.openxmlformats.org/officeDocument/2006/relationships/font" Target="fonts/Oswald-bold.fntdata"/><Relationship Id="rId12" Type="http://schemas.openxmlformats.org/officeDocument/2006/relationships/slide" Target="slides/slide6.xml"/><Relationship Id="rId56" Type="http://schemas.openxmlformats.org/officeDocument/2006/relationships/font" Target="fonts/Oswald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e1b23795f2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e1b23795f2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e1b23795f2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e1b23795f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1b23795f2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e1b23795f2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e73ce7278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e73ce7278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73ce7278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e73ce7278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73ce7278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e73ce7278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73ce7278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73ce7278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e73ce7278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e73ce7278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73ce72780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e73ce7278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73ce7278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73ce7278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73ce72780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73ce72780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73ce7278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e73ce7278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e73ce7278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e73ce7278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e73ce72780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e73ce7278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e73ce72780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e73ce72780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73ce72780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e73ce72780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e73ce72780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e73ce72780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e73ce7278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e73ce7278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e73ce72780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e73ce72780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e73ce72780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e73ce72780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e73ce72780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e73ce72780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e73ce72780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e73ce72780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e73ce72780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e73ce72780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e73ce72780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e73ce72780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e73ce72780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e73ce72780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e73ce72780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e73ce72780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e73ce72780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e73ce72780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e73ce72780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e73ce72780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e73ce72780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e73ce72780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e839bdff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e839bdff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e839bdff3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e839bdff3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e839bdff3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e839bdff3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e839bdff3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e839bdff3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e839bdff3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e839bdff3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e839bdff3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e839bdff3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e839bdff3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e839bdff3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e839bdff3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e839bdff3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e839bdff3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e839bdff3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e839bdff3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e839bdff3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e839bdff3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e839bdff3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NFA, NFA To DFA and Regular Operations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CSE331 - Automate and Computability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BRAC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a NFA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Nondeterminism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Deterministic</a:t>
            </a:r>
            <a:r>
              <a:rPr b="1" lang="en">
                <a:solidFill>
                  <a:srgbClr val="FF0000"/>
                </a:solidFill>
              </a:rPr>
              <a:t>:</a:t>
            </a:r>
            <a:r>
              <a:rPr lang="en"/>
              <a:t> </a:t>
            </a:r>
            <a:r>
              <a:rPr lang="en"/>
              <a:t>When the machine is in a given state and reads the next input symbol, we know what the next state will be—it is </a:t>
            </a:r>
            <a:r>
              <a:rPr b="1" i="1" lang="en"/>
              <a:t>determined</a:t>
            </a:r>
            <a:r>
              <a:rPr lang="en"/>
              <a:t>; we call this </a:t>
            </a:r>
            <a:r>
              <a:rPr b="1" i="1" lang="en"/>
              <a:t>deterministic computation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Nondeterministic</a:t>
            </a:r>
            <a:r>
              <a:rPr b="1" lang="en">
                <a:solidFill>
                  <a:srgbClr val="FF0000"/>
                </a:solidFill>
              </a:rPr>
              <a:t>:</a:t>
            </a:r>
            <a:r>
              <a:rPr lang="en"/>
              <a:t> In a </a:t>
            </a:r>
            <a:r>
              <a:rPr b="1" i="1" lang="en"/>
              <a:t>nondeterministic</a:t>
            </a:r>
            <a:r>
              <a:rPr lang="en"/>
              <a:t> machine, several choices may exist for the next state at any point.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Nondeterministic Finite Automata (NFA):</a:t>
            </a:r>
            <a:r>
              <a:rPr lang="en"/>
              <a:t> 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Nondeterministic Finite Automata is a Finite State Machine that accepts or rejects a string according to the pattern it defines.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Like a DFA, an NFA also consists of states and transitions. However, it has a lot less restrictions than a DFA.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An NFA can have more than one transition on one input symbol. It can be in more than one state at any given point.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In each step, whenever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there are two or more transitions, it "copies" itself and each copy follows a transition. If there is no possible transition, the copy “dies”.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NFA (Formal Definition)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Formal Definiton</a:t>
            </a:r>
            <a:r>
              <a:rPr b="1" lang="en">
                <a:solidFill>
                  <a:srgbClr val="FF0000"/>
                </a:solidFill>
              </a:rPr>
              <a:t>:</a:t>
            </a:r>
            <a:r>
              <a:rPr lang="en"/>
              <a:t> An NFA is represented formally by a 5-tuple, (Q, Σ, δ, q0, F), consisting of: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● a finite set of states, Q.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● a finite set of input symbols, Σ 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● a transition function δ where δ: Q X Σ → P(Q) where P(Q) is the power set of Q.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● an initial (or start) state q0 ∈ Q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● a set of states F ⊆ Q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NFA (Accept/Final States)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Acceptance of a String by an NFA</a:t>
            </a:r>
            <a:r>
              <a:rPr b="1" lang="en">
                <a:solidFill>
                  <a:srgbClr val="FF0000"/>
                </a:solidFill>
              </a:rPr>
              <a:t>: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 NFA accepts the input string if there exists some choice of transitions that leads to the NFA ending in an </a:t>
            </a:r>
            <a:r>
              <a:rPr b="1" i="1" lang="en"/>
              <a:t>accepting state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Thus, </a:t>
            </a:r>
            <a:r>
              <a:rPr b="1" i="1" lang="en"/>
              <a:t>one accepting branch</a:t>
            </a:r>
            <a:r>
              <a:rPr lang="en"/>
              <a:t> is enough for the overall NFA to accept, but every branch must reject for the overall NFA to reject.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NFA (Example-1) - String ending with ‘abb’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2571750"/>
            <a:ext cx="8520600" cy="9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L = {w | w ∈ (a, b)* and w ends with the substring abb}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NFA (Example-1) - String ending with ‘abb’ [Solution]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3050" y="1581150"/>
            <a:ext cx="6057900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NFA (Example-1) - String ending with ‘abb’ [Simulation]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017725"/>
            <a:ext cx="8520600" cy="9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Let’s take a string </a:t>
            </a:r>
            <a:r>
              <a:rPr b="1" i="1" lang="en"/>
              <a:t>aabbabb</a:t>
            </a:r>
            <a:r>
              <a:rPr b="1" lang="en"/>
              <a:t> and simulate the NFA for the string.</a:t>
            </a:r>
            <a:endParaRPr b="1"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3550" y="1555475"/>
            <a:ext cx="2328750" cy="345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400" y="2004425"/>
            <a:ext cx="6057900" cy="1981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20"/>
          <p:cNvCxnSpPr/>
          <p:nvPr/>
        </p:nvCxnSpPr>
        <p:spPr>
          <a:xfrm flipH="1" rot="10800000">
            <a:off x="8328425" y="2003800"/>
            <a:ext cx="253200" cy="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20"/>
          <p:cNvSpPr txBox="1"/>
          <p:nvPr/>
        </p:nvSpPr>
        <p:spPr>
          <a:xfrm>
            <a:off x="8554425" y="1759700"/>
            <a:ext cx="4248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</a:t>
            </a:r>
            <a:endParaRPr sz="18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05" name="Google Shape;105;p20"/>
          <p:cNvCxnSpPr/>
          <p:nvPr/>
        </p:nvCxnSpPr>
        <p:spPr>
          <a:xfrm flipH="1" rot="10800000">
            <a:off x="8328425" y="2494950"/>
            <a:ext cx="253200" cy="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" name="Google Shape;106;p20"/>
          <p:cNvSpPr txBox="1"/>
          <p:nvPr/>
        </p:nvSpPr>
        <p:spPr>
          <a:xfrm>
            <a:off x="8554425" y="2250850"/>
            <a:ext cx="4248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</a:t>
            </a:r>
            <a:endParaRPr sz="18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07" name="Google Shape;107;p20"/>
          <p:cNvCxnSpPr/>
          <p:nvPr/>
        </p:nvCxnSpPr>
        <p:spPr>
          <a:xfrm>
            <a:off x="7912625" y="2898675"/>
            <a:ext cx="669000" cy="3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20"/>
          <p:cNvSpPr txBox="1"/>
          <p:nvPr/>
        </p:nvSpPr>
        <p:spPr>
          <a:xfrm>
            <a:off x="8554425" y="2657650"/>
            <a:ext cx="4248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</a:t>
            </a:r>
            <a:endParaRPr sz="18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09" name="Google Shape;109;p20"/>
          <p:cNvCxnSpPr/>
          <p:nvPr/>
        </p:nvCxnSpPr>
        <p:spPr>
          <a:xfrm>
            <a:off x="7921725" y="3322338"/>
            <a:ext cx="669000" cy="3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20"/>
          <p:cNvSpPr txBox="1"/>
          <p:nvPr/>
        </p:nvSpPr>
        <p:spPr>
          <a:xfrm>
            <a:off x="8563525" y="3081313"/>
            <a:ext cx="4248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</a:t>
            </a:r>
            <a:endParaRPr sz="18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11" name="Google Shape;111;p20"/>
          <p:cNvCxnSpPr/>
          <p:nvPr/>
        </p:nvCxnSpPr>
        <p:spPr>
          <a:xfrm>
            <a:off x="7921725" y="3729150"/>
            <a:ext cx="669000" cy="3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p20"/>
          <p:cNvSpPr txBox="1"/>
          <p:nvPr/>
        </p:nvSpPr>
        <p:spPr>
          <a:xfrm>
            <a:off x="8563525" y="3488125"/>
            <a:ext cx="4248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</a:t>
            </a:r>
            <a:endParaRPr sz="18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13" name="Google Shape;113;p20"/>
          <p:cNvCxnSpPr/>
          <p:nvPr/>
        </p:nvCxnSpPr>
        <p:spPr>
          <a:xfrm flipH="1" rot="10800000">
            <a:off x="7587200" y="4217250"/>
            <a:ext cx="1003500" cy="1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20"/>
          <p:cNvSpPr txBox="1"/>
          <p:nvPr/>
        </p:nvSpPr>
        <p:spPr>
          <a:xfrm>
            <a:off x="8563525" y="3973175"/>
            <a:ext cx="4248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</a:t>
            </a:r>
            <a:endParaRPr sz="18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15" name="Google Shape;115;p20"/>
          <p:cNvCxnSpPr/>
          <p:nvPr/>
        </p:nvCxnSpPr>
        <p:spPr>
          <a:xfrm flipH="1" rot="10800000">
            <a:off x="7631125" y="4624050"/>
            <a:ext cx="1003500" cy="1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" name="Google Shape;116;p20"/>
          <p:cNvSpPr txBox="1"/>
          <p:nvPr/>
        </p:nvSpPr>
        <p:spPr>
          <a:xfrm>
            <a:off x="8607450" y="4379975"/>
            <a:ext cx="4248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</a:t>
            </a:r>
            <a:endParaRPr sz="18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91400" y="4090025"/>
            <a:ext cx="5985300" cy="9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400"/>
              <a:t>The last states the NFA is in after the processing of the string is done are q0 and q3.</a:t>
            </a:r>
            <a:endParaRPr b="1" sz="1400"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400"/>
              <a:t>Since it contains </a:t>
            </a:r>
            <a:r>
              <a:rPr b="1" lang="en" sz="1400"/>
              <a:t>t</a:t>
            </a:r>
            <a:r>
              <a:rPr b="1" lang="en" sz="1400"/>
              <a:t>he final state q3, the string </a:t>
            </a:r>
            <a:r>
              <a:rPr b="1" i="1" lang="en" sz="1400"/>
              <a:t>aabbabb</a:t>
            </a:r>
            <a:r>
              <a:rPr b="1" lang="en" sz="1400"/>
              <a:t> is accepted in the language.</a:t>
            </a:r>
            <a:endParaRPr b="1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NFA (Example-1) - String ending with ‘abb’ [State Transition Table]</a:t>
            </a:r>
            <a:endParaRPr/>
          </a:p>
        </p:txBody>
      </p:sp>
      <p:graphicFrame>
        <p:nvGraphicFramePr>
          <p:cNvPr id="123" name="Google Shape;123;p21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{0CBAB5C7-D129-4AEC-9460-E58088CC944E}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States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a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b</a:t>
                      </a:r>
                      <a:endParaRPr b="1"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{q0, q1}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{q0}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Φ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{q2}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Φ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{q3}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Φ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Φ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4" name="Google Shape;124;p21"/>
          <p:cNvSpPr txBox="1"/>
          <p:nvPr/>
        </p:nvSpPr>
        <p:spPr>
          <a:xfrm>
            <a:off x="952175" y="3884000"/>
            <a:ext cx="7239000" cy="8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N.B:</a:t>
            </a: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Here, the symbol, </a:t>
            </a:r>
            <a:r>
              <a:rPr b="1"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Φ (null)</a:t>
            </a: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, denotes an empty state i.e. there are not valid transitions.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NFA Variation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Epsilon NFA (ε-NFA)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Epsilon</a:t>
            </a:r>
            <a:r>
              <a:rPr b="1" lang="en">
                <a:solidFill>
                  <a:srgbClr val="FF0000"/>
                </a:solidFill>
              </a:rPr>
              <a:t> NFA:</a:t>
            </a:r>
            <a:r>
              <a:rPr lang="en"/>
              <a:t> 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The class of NFAs can be extended by allowing </a:t>
            </a:r>
            <a:r>
              <a:rPr b="1" lang="en"/>
              <a:t>spontaneous transitions</a:t>
            </a:r>
            <a:r>
              <a:rPr lang="en"/>
              <a:t> without reading any input symbols.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In the diagram, such transitions are represented by an edge labeled by </a:t>
            </a:r>
            <a:r>
              <a:rPr b="1" lang="en"/>
              <a:t>epsilon (ε)</a:t>
            </a:r>
            <a:r>
              <a:rPr lang="en"/>
              <a:t>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It is important to note that, ε is not considered as an input symbol. In fact, it is assumed that ε does not belong to any input alphabet.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An NFA with epsilon transition(s) is called </a:t>
            </a:r>
            <a:r>
              <a:rPr b="1" lang="en"/>
              <a:t>ε-NFA</a:t>
            </a:r>
            <a:r>
              <a:rPr lang="en"/>
              <a:t>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Both NFAs and ε-NFAs recognize the same class of languages that are defined as </a:t>
            </a:r>
            <a:r>
              <a:rPr b="1" lang="en"/>
              <a:t>Regular Languages</a:t>
            </a:r>
            <a:r>
              <a:rPr lang="en"/>
              <a:t>. However, allowing transitions on epsilon adds certain programming conveniences.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Epsilon NFA (Example Simulation)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234075"/>
            <a:ext cx="85206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Consider the following ε-NFA.</a:t>
            </a:r>
            <a:endParaRPr/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400" y="1705375"/>
            <a:ext cx="42672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Epsilon NFA (Example Simulation)</a:t>
            </a:r>
            <a:endParaRPr/>
          </a:p>
        </p:txBody>
      </p:sp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50" y="1090700"/>
            <a:ext cx="42672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4775900" y="1090700"/>
            <a:ext cx="4056300" cy="40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When the automaton is at state A, it “copies” itself. One of the copies remain at A and the other one goes to B following the epsilon(ε) transition from A to B.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Again, when the automaton is at state B, it “copies” itself. One of the copies remain at B and the other one goes to C following the epsilon(ε) transition from B to C.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Basically, When the automaton is at state A, after completing the epsilon transitions, the states that the automaton is at are: </a:t>
            </a:r>
            <a:r>
              <a:rPr b="1" lang="en" sz="1400"/>
              <a:t>A, B, C</a:t>
            </a:r>
            <a:r>
              <a:rPr lang="en" sz="1400"/>
              <a:t>. This is called the </a:t>
            </a:r>
            <a:r>
              <a:rPr b="1" lang="en" sz="1400"/>
              <a:t>epsilon(ε) closure</a:t>
            </a:r>
            <a:r>
              <a:rPr lang="en" sz="1400"/>
              <a:t>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ε-Closure of A is the set </a:t>
            </a:r>
            <a:r>
              <a:rPr b="1" lang="en" sz="1400"/>
              <a:t>{A, B, C}</a:t>
            </a:r>
            <a:r>
              <a:rPr lang="en" sz="1400"/>
              <a:t> and the ε-Closure of B is the set </a:t>
            </a:r>
            <a:r>
              <a:rPr b="1" lang="en" sz="1400"/>
              <a:t>{B, C}</a:t>
            </a:r>
            <a:r>
              <a:rPr lang="en" sz="1400"/>
              <a:t>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Epsilon NFA (Processing a String)</a:t>
            </a:r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311700" y="1234075"/>
            <a:ext cx="85206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If we process the string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010</a:t>
            </a:r>
            <a:r>
              <a:rPr lang="en"/>
              <a:t> can be represented by the following diagram:</a:t>
            </a:r>
            <a:endParaRPr/>
          </a:p>
        </p:txBody>
      </p:sp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7338" y="1705375"/>
            <a:ext cx="1474475" cy="306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175" y="1705375"/>
            <a:ext cx="42672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between DFA and NFA/ε-NFA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Epsilon NFA: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DFA cannot be in more than one state at any given point but an NFA/ε-NFA can.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DFA does not allow moving to two or more different states, from the same state, on the same input symbol but an NFA/ε-NFA does.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DFA, the transition function is </a:t>
            </a:r>
            <a:r>
              <a:rPr b="1" lang="en"/>
              <a:t>δ : Q × ∑ → Q</a:t>
            </a:r>
            <a:r>
              <a:rPr lang="en"/>
              <a:t>; In NFA/ε-NFA, the transition function is </a:t>
            </a:r>
            <a:r>
              <a:rPr b="1" lang="en"/>
              <a:t>δ : Q × ∑ → P(Q)</a:t>
            </a:r>
            <a:r>
              <a:rPr lang="en"/>
              <a:t>; Here, P(Q) is the power set of Q.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Determinism does not allow epsilon transitions but nondeterminism does.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of NFA/ε-NFA to DFA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 Definition</a:t>
            </a:r>
            <a:endParaRPr/>
          </a:p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Equivalence of Regular Languages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If </a:t>
            </a:r>
            <a:r>
              <a:rPr b="1" lang="en"/>
              <a:t>L</a:t>
            </a:r>
            <a:r>
              <a:rPr lang="en"/>
              <a:t> is a regular language, we can express </a:t>
            </a:r>
            <a:r>
              <a:rPr b="1" lang="en"/>
              <a:t>L</a:t>
            </a:r>
            <a:r>
              <a:rPr lang="en"/>
              <a:t> by a nondeterministic finite automata NFA or ε-NFA </a:t>
            </a:r>
            <a:r>
              <a:rPr b="1" lang="en"/>
              <a:t>N</a:t>
            </a:r>
            <a:r>
              <a:rPr lang="en"/>
              <a:t>, we can also represent it with the help of a deterministic finite automata DFA </a:t>
            </a:r>
            <a:r>
              <a:rPr b="1" lang="en"/>
              <a:t>D</a:t>
            </a:r>
            <a:r>
              <a:rPr lang="en"/>
              <a:t>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Now the language of this NFA N is </a:t>
            </a:r>
            <a:r>
              <a:rPr b="1" lang="en"/>
              <a:t>L(N)</a:t>
            </a:r>
            <a:r>
              <a:rPr lang="en"/>
              <a:t> and the language of this DFA D is </a:t>
            </a:r>
            <a:r>
              <a:rPr b="1" lang="en"/>
              <a:t>L(D)</a:t>
            </a:r>
            <a:r>
              <a:rPr lang="en"/>
              <a:t>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Both the finite automata are created from same language, hence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/>
              <a:t>L(N) = L(D) = L</a:t>
            </a:r>
            <a:endParaRPr b="1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So, for the NFA </a:t>
            </a:r>
            <a:r>
              <a:rPr b="1" lang="en"/>
              <a:t>N</a:t>
            </a:r>
            <a:r>
              <a:rPr lang="en"/>
              <a:t> and the DFA </a:t>
            </a:r>
            <a:r>
              <a:rPr b="1" lang="en"/>
              <a:t>D</a:t>
            </a:r>
            <a:r>
              <a:rPr lang="en"/>
              <a:t>, there must be a mechanism to convert the </a:t>
            </a:r>
            <a:r>
              <a:rPr b="1" lang="en"/>
              <a:t>N</a:t>
            </a:r>
            <a:r>
              <a:rPr lang="en"/>
              <a:t> to </a:t>
            </a:r>
            <a:r>
              <a:rPr b="1" lang="en"/>
              <a:t>D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Why the conversion?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b="1" lang="en"/>
              <a:t>Consider simulating a string such as ‘aba’.</a:t>
            </a:r>
            <a:endParaRPr b="1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/>
              <a:t>DFA is a faster recognizer!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Prerequisites</a:t>
            </a:r>
            <a:r>
              <a:rPr lang="en"/>
              <a:t> and Basic Terminologies</a:t>
            </a:r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234075"/>
            <a:ext cx="8520600" cy="12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Approach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Each state in the DFA will correspond to a set of states of NFA. This approach is called </a:t>
            </a:r>
            <a:r>
              <a:rPr b="1" lang="en"/>
              <a:t>subset-construction</a:t>
            </a:r>
            <a:r>
              <a:rPr lang="en"/>
              <a:t>.</a:t>
            </a:r>
            <a:endParaRPr/>
          </a:p>
        </p:txBody>
      </p:sp>
      <p:pic>
        <p:nvPicPr>
          <p:cNvPr id="181" name="Google Shape;18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038" y="2491975"/>
            <a:ext cx="7781925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Prerequisites and Basic Terminologies (contd…)</a:t>
            </a:r>
            <a:endParaRPr/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311700" y="1234075"/>
            <a:ext cx="8520600" cy="3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Worst-case: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there are 3 states in an NFA- A, B and C. If set of states are to be considered, 7 different sub-sets can be created (A, B, C, AB, BC, AC, ABC), thus creating 7 different possible states in DFA.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Here, for, number of states = 3, number of possible of states in DFA is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7≈2^3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Now, if the number of states = 100, ≈2^100 different states will be created which is a huge number.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above worst case scenario is </a:t>
            </a:r>
            <a:r>
              <a:rPr b="1" lang="en"/>
              <a:t>very rare</a:t>
            </a:r>
            <a:r>
              <a:rPr lang="en"/>
              <a:t>. In most of the cases, number of states decreases and makes </a:t>
            </a:r>
            <a:r>
              <a:rPr b="1" lang="en"/>
              <a:t>DFA a faster recognizer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Prerequisites and Basic Terminologies (contd…)</a:t>
            </a:r>
            <a:endParaRPr/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311700" y="1234075"/>
            <a:ext cx="8520600" cy="3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Input: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 NFA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 = States = { s0, s1,..., sN} = S_NFA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δ = Move/Transition function = Move_NFA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Move(S, a) → Set of states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Output: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 DFA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 = States = { ?, ?, ..., ?} = S_DFA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δ = Move function = Move_DFA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Move(s, a) → Single state from S_DFA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Prerequisites and Basic Terminologies</a:t>
            </a:r>
            <a:endParaRPr/>
          </a:p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>
            <a:off x="311700" y="1234075"/>
            <a:ext cx="8520600" cy="12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ε-Closure: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ε-Closure(s) is the set of states reachable from s on ε-transitions.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ε-closure (2) = { 2, 1, 5, 6 }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438" y="2491975"/>
            <a:ext cx="3771522" cy="234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3"/>
          <p:cNvSpPr txBox="1"/>
          <p:nvPr/>
        </p:nvSpPr>
        <p:spPr>
          <a:xfrm>
            <a:off x="4423350" y="2519025"/>
            <a:ext cx="4302900" cy="16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ε-Closure (S) = { t | t ∈ ε-closure(s) for all s ∈ S }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For example, from Figure 1,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ε-closure ({2, 3}) = { 1, 2, 3, 4, 5, 6 }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Prerequisites and Basic Terminologies (contd…)</a:t>
            </a:r>
            <a:endParaRPr/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311700" y="1234075"/>
            <a:ext cx="8520600" cy="3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Move Functions: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Deterministic Machine: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Move_DFA(s, ch) → 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Non-deterministic Machine: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Move_NFA(S, ch) → T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If s ∈ S and there is an edge t, then t ∈ 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For example, from Figure 1,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Move_NFA(0, a) = {2, 5}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Move_NFA({0, 3}, a) = {1, 2, 5}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from NFA to DFA (Example)</a:t>
            </a:r>
            <a:endParaRPr/>
          </a:p>
        </p:txBody>
      </p:sp>
      <p:sp>
        <p:nvSpPr>
          <p:cNvPr id="213" name="Google Shape;213;p35"/>
          <p:cNvSpPr txBox="1"/>
          <p:nvPr>
            <p:ph idx="1" type="body"/>
          </p:nvPr>
        </p:nvSpPr>
        <p:spPr>
          <a:xfrm>
            <a:off x="311700" y="1234075"/>
            <a:ext cx="85206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Consider the following ε-NFA.</a:t>
            </a:r>
            <a:endParaRPr/>
          </a:p>
        </p:txBody>
      </p:sp>
      <p:pic>
        <p:nvPicPr>
          <p:cNvPr id="214" name="Google Shape;2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57775"/>
            <a:ext cx="8724900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from NFA to DFA (Example) (contd…)</a:t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311700" y="1234075"/>
            <a:ext cx="8520600" cy="3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Start State</a:t>
            </a:r>
            <a:r>
              <a:rPr b="1" lang="en">
                <a:solidFill>
                  <a:srgbClr val="FF0000"/>
                </a:solidFill>
              </a:rPr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ε-Closure (0)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{ 0, 1, 2, 4, 7 }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A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from NFA to DFA (Example) (contd…)</a:t>
            </a:r>
            <a:endParaRPr/>
          </a:p>
        </p:txBody>
      </p:sp>
      <p:sp>
        <p:nvSpPr>
          <p:cNvPr id="226" name="Google Shape;226;p37"/>
          <p:cNvSpPr txBox="1"/>
          <p:nvPr>
            <p:ph idx="1" type="body"/>
          </p:nvPr>
        </p:nvSpPr>
        <p:spPr>
          <a:xfrm>
            <a:off x="311700" y="1234075"/>
            <a:ext cx="4260300" cy="3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= { 0, 1, 2, 4, 7 } (Unmarked)</a:t>
            </a:r>
            <a:endParaRPr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Move_DFA (A, a)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(Move_NFA (A, a))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({3, 8})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{1, 2, 3, 4, 6, 7, 8}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B </a:t>
            </a: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(Unmarked)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Move_DFA (A, b)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(Move_NFA (A, b))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({5})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{1, 2, 4, 5, 6, 7}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C </a:t>
            </a: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(Unmarked)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Mark(A)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6600" y="2350113"/>
            <a:ext cx="2295525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from NFA to DFA (Example) (contd…)</a:t>
            </a:r>
            <a:endParaRPr/>
          </a:p>
        </p:txBody>
      </p:sp>
      <p:sp>
        <p:nvSpPr>
          <p:cNvPr id="233" name="Google Shape;233;p38"/>
          <p:cNvSpPr txBox="1"/>
          <p:nvPr>
            <p:ph idx="1" type="body"/>
          </p:nvPr>
        </p:nvSpPr>
        <p:spPr>
          <a:xfrm>
            <a:off x="311700" y="1234075"/>
            <a:ext cx="4260300" cy="3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 = {1, 2, 3, 4, 6, 7, 8} </a:t>
            </a: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(Unmarked)</a:t>
            </a:r>
            <a:endParaRPr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Move_DFA (B, a)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(Move_NFA (B, a))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({3, 8})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{1, 2, 3, 4, 6, 7, 8}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B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Move_DFA (B, b)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(Move_NFA (B, b))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({5, 9})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{1, 2, 4, 5, 6, 7, 9}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D </a:t>
            </a: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(Unmarked)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Mark(B)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700" y="2131025"/>
            <a:ext cx="2838450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from NFA to DFA (Example) (contd…)</a:t>
            </a:r>
            <a:endParaRPr/>
          </a:p>
        </p:txBody>
      </p:sp>
      <p:sp>
        <p:nvSpPr>
          <p:cNvPr id="240" name="Google Shape;240;p39"/>
          <p:cNvSpPr txBox="1"/>
          <p:nvPr>
            <p:ph idx="1" type="body"/>
          </p:nvPr>
        </p:nvSpPr>
        <p:spPr>
          <a:xfrm>
            <a:off x="311700" y="1234075"/>
            <a:ext cx="4260300" cy="3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{1, 2, 4, 5, 6, 7} (Unmarked)</a:t>
            </a:r>
            <a:endParaRPr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Move_DFA (C, a)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(Move_NFA (C, a))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({3, 8})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{1, 2, 3, 4, 6, 7, 8}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B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Move_DFA (C, b)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(Move_NFA (C, b))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({5})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{1, 2, 4, 5, 6, 7}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C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Mark(C)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6375" y="2045313"/>
            <a:ext cx="2686050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from NFA to DFA (Example) (contd…)</a:t>
            </a:r>
            <a:endParaRPr/>
          </a:p>
        </p:txBody>
      </p:sp>
      <p:sp>
        <p:nvSpPr>
          <p:cNvPr id="247" name="Google Shape;247;p40"/>
          <p:cNvSpPr txBox="1"/>
          <p:nvPr>
            <p:ph idx="1" type="body"/>
          </p:nvPr>
        </p:nvSpPr>
        <p:spPr>
          <a:xfrm>
            <a:off x="311700" y="1234075"/>
            <a:ext cx="4260300" cy="3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{1, 2, 4, 5, 6, 7, 9} (Unmarked)</a:t>
            </a:r>
            <a:endParaRPr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Move_DFA (D, a)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(Move_NFA (D, a))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({3, 8})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{1, 2, 3, 4, 6, 7, 8}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B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Move_DFA (D, b)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(Move_NFA (D, b))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({5, 10})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{1, 2, 4, 5, 6, 7, 10}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E </a:t>
            </a: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(Unmarked)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Mark(D)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550" y="2202475"/>
            <a:ext cx="3095625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from NFA to DFA (Example) (contd…)</a:t>
            </a:r>
            <a:endParaRPr/>
          </a:p>
        </p:txBody>
      </p:sp>
      <p:sp>
        <p:nvSpPr>
          <p:cNvPr id="254" name="Google Shape;254;p41"/>
          <p:cNvSpPr txBox="1"/>
          <p:nvPr>
            <p:ph idx="1" type="body"/>
          </p:nvPr>
        </p:nvSpPr>
        <p:spPr>
          <a:xfrm>
            <a:off x="311700" y="1234075"/>
            <a:ext cx="4260300" cy="3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 = { 1, 2, 4, 5, 6, 7, 10} </a:t>
            </a: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(Unmarked)</a:t>
            </a:r>
            <a:endParaRPr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Move_DFA (E, a)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(Move_NFA (E, a))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({3, 8})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{1, 2, 3, 4, 6, 7, 8}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B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Move_DFA (E, b)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(Move_NFA (E, b))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ε-Closure ({5})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{1, 2, 4, 5, 6, 7}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= C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Mark(E)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000" y="2273900"/>
            <a:ext cx="3009900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from NFA to DFA (Example Solution)</a:t>
            </a:r>
            <a:endParaRPr/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311700" y="1234075"/>
            <a:ext cx="8520600" cy="6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Since, E contains the final state of the NFA (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state 10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), the final state of the DFA should be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. The final DFA is given below: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150" y="1913275"/>
            <a:ext cx="4257675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from NFA to DFA (Practice)</a:t>
            </a:r>
            <a:endParaRPr/>
          </a:p>
        </p:txBody>
      </p:sp>
      <p:sp>
        <p:nvSpPr>
          <p:cNvPr id="268" name="Google Shape;268;p43"/>
          <p:cNvSpPr txBox="1"/>
          <p:nvPr>
            <p:ph idx="1" type="body"/>
          </p:nvPr>
        </p:nvSpPr>
        <p:spPr>
          <a:xfrm>
            <a:off x="311700" y="1234075"/>
            <a:ext cx="8520600" cy="6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Convert the following NFA to DFA following the subset construction method shown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5900" y="1777675"/>
            <a:ext cx="2952182" cy="292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4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Closure under the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Operations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Closure under Union Operation (NFA)</a:t>
            </a:r>
            <a:endParaRPr/>
          </a:p>
        </p:txBody>
      </p:sp>
      <p:sp>
        <p:nvSpPr>
          <p:cNvPr id="280" name="Google Shape;280;p4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Theorem</a:t>
            </a:r>
            <a:r>
              <a:rPr b="1" lang="en">
                <a:solidFill>
                  <a:srgbClr val="FF0000"/>
                </a:solidFill>
              </a:rPr>
              <a:t>: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class of regular languages is closed under the </a:t>
            </a:r>
            <a:r>
              <a:rPr b="1" lang="en"/>
              <a:t>union</a:t>
            </a:r>
            <a:r>
              <a:rPr lang="en"/>
              <a:t> operation.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Proof Idea: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have regular languages </a:t>
            </a:r>
            <a:r>
              <a:rPr b="1" lang="en"/>
              <a:t>A1</a:t>
            </a:r>
            <a:r>
              <a:rPr lang="en"/>
              <a:t> and </a:t>
            </a:r>
            <a:r>
              <a:rPr b="1" lang="en"/>
              <a:t>A2</a:t>
            </a:r>
            <a:r>
              <a:rPr lang="en"/>
              <a:t> and want to prove that </a:t>
            </a:r>
            <a:r>
              <a:rPr b="1" lang="en"/>
              <a:t>A1 ∪ A2</a:t>
            </a:r>
            <a:r>
              <a:rPr lang="en"/>
              <a:t> is </a:t>
            </a:r>
            <a:r>
              <a:rPr b="1" lang="en"/>
              <a:t>regular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idea is to take two NFAs, </a:t>
            </a:r>
            <a:r>
              <a:rPr b="1" lang="en"/>
              <a:t>N1</a:t>
            </a:r>
            <a:r>
              <a:rPr lang="en"/>
              <a:t> and </a:t>
            </a:r>
            <a:r>
              <a:rPr b="1" lang="en"/>
              <a:t>N2</a:t>
            </a:r>
            <a:r>
              <a:rPr lang="en"/>
              <a:t> for A1 and A2, and combine them into one new NFA, </a:t>
            </a:r>
            <a:r>
              <a:rPr b="1" lang="en"/>
              <a:t>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Machine N must </a:t>
            </a:r>
            <a:r>
              <a:rPr b="1" lang="en"/>
              <a:t>accept</a:t>
            </a:r>
            <a:r>
              <a:rPr lang="en"/>
              <a:t> its input if </a:t>
            </a:r>
            <a:r>
              <a:rPr b="1" lang="en"/>
              <a:t>either</a:t>
            </a:r>
            <a:r>
              <a:rPr lang="en"/>
              <a:t> N1 or N2 accepts this input.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Closure under Union Operation (NFA) [Formal]</a:t>
            </a:r>
            <a:endParaRPr/>
          </a:p>
        </p:txBody>
      </p:sp>
      <p:sp>
        <p:nvSpPr>
          <p:cNvPr id="286" name="Google Shape;286;p46"/>
          <p:cNvSpPr txBox="1"/>
          <p:nvPr>
            <p:ph idx="1" type="body"/>
          </p:nvPr>
        </p:nvSpPr>
        <p:spPr>
          <a:xfrm>
            <a:off x="311700" y="1234075"/>
            <a:ext cx="8520600" cy="30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Proof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Let </a:t>
            </a:r>
            <a:r>
              <a:rPr b="1" lang="en"/>
              <a:t>N1 = (Q1, Σ, δ1, q1, F1)</a:t>
            </a:r>
            <a:r>
              <a:rPr lang="en"/>
              <a:t> recognize </a:t>
            </a:r>
            <a:r>
              <a:rPr b="1" lang="en"/>
              <a:t>A1</a:t>
            </a:r>
            <a:r>
              <a:rPr lang="en"/>
              <a:t>, 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N2 = (Q2, Σ, δ2, q2, F2)</a:t>
            </a:r>
            <a:r>
              <a:rPr lang="en"/>
              <a:t> recognize </a:t>
            </a:r>
            <a:r>
              <a:rPr b="1" lang="en"/>
              <a:t>A2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Construct </a:t>
            </a:r>
            <a:r>
              <a:rPr b="1" lang="en"/>
              <a:t>N = (Q, Σ, δ, q0, F)</a:t>
            </a:r>
            <a:r>
              <a:rPr lang="en"/>
              <a:t> to recognize </a:t>
            </a:r>
            <a:r>
              <a:rPr b="1" lang="en"/>
              <a:t>A1 ∪ A2</a:t>
            </a:r>
            <a:r>
              <a:rPr lang="en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Q = {q0} ∪ Q1 ∪ Q2</a:t>
            </a:r>
            <a:r>
              <a:rPr lang="en"/>
              <a:t>. The states of N are all the states of N1 and N2, with the addition of a new start state q0.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</a:t>
            </a:r>
            <a:r>
              <a:rPr b="1" lang="en"/>
              <a:t>state q0</a:t>
            </a:r>
            <a:r>
              <a:rPr lang="en"/>
              <a:t> is the start state of 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set of accept states </a:t>
            </a:r>
            <a:r>
              <a:rPr b="1" lang="en"/>
              <a:t>F = F1 ∪ F2</a:t>
            </a:r>
            <a:r>
              <a:rPr lang="en"/>
              <a:t>. The accept states of N are all the accept states of N1 and N2. That way, N accepts if either N1 accepts OR N2 accepts.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Define δ so that for any q ∈ Q and any a ∈ Σε:</a:t>
            </a:r>
            <a:endParaRPr/>
          </a:p>
        </p:txBody>
      </p:sp>
      <p:pic>
        <p:nvPicPr>
          <p:cNvPr id="287" name="Google Shape;28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8213" y="3997450"/>
            <a:ext cx="2647575" cy="9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Closure under Union Operation (NFA) [State Diagram]</a:t>
            </a:r>
            <a:endParaRPr/>
          </a:p>
        </p:txBody>
      </p:sp>
      <p:pic>
        <p:nvPicPr>
          <p:cNvPr id="293" name="Google Shape;29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350" y="1017725"/>
            <a:ext cx="1695050" cy="36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0625" y="1017725"/>
            <a:ext cx="239395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Closure under Concatenation Operation (NFA)</a:t>
            </a:r>
            <a:endParaRPr/>
          </a:p>
        </p:txBody>
      </p:sp>
      <p:sp>
        <p:nvSpPr>
          <p:cNvPr id="300" name="Google Shape;300;p48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Theorem: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class of regular languages is closed under the </a:t>
            </a:r>
            <a:r>
              <a:rPr b="1" lang="en"/>
              <a:t>concatenation</a:t>
            </a:r>
            <a:r>
              <a:rPr lang="en"/>
              <a:t> operation.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Proof Idea: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have regular languages </a:t>
            </a:r>
            <a:r>
              <a:rPr b="1" lang="en"/>
              <a:t>A1</a:t>
            </a:r>
            <a:r>
              <a:rPr lang="en"/>
              <a:t> and </a:t>
            </a:r>
            <a:r>
              <a:rPr b="1" lang="en"/>
              <a:t>A2</a:t>
            </a:r>
            <a:r>
              <a:rPr lang="en"/>
              <a:t> and want to prove that </a:t>
            </a:r>
            <a:r>
              <a:rPr b="1" lang="en"/>
              <a:t>A1 ◦ A2</a:t>
            </a:r>
            <a:r>
              <a:rPr lang="en"/>
              <a:t> is </a:t>
            </a:r>
            <a:r>
              <a:rPr b="1" lang="en"/>
              <a:t>regular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idea is to take two NFAs, </a:t>
            </a:r>
            <a:r>
              <a:rPr b="1" lang="en"/>
              <a:t>N1</a:t>
            </a:r>
            <a:r>
              <a:rPr lang="en"/>
              <a:t> and </a:t>
            </a:r>
            <a:r>
              <a:rPr b="1" lang="en"/>
              <a:t>N2</a:t>
            </a:r>
            <a:r>
              <a:rPr lang="en"/>
              <a:t> for A1 and A2, and combine them into one new NFA, </a:t>
            </a:r>
            <a:r>
              <a:rPr b="1" lang="en"/>
              <a:t>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Machine N must </a:t>
            </a:r>
            <a:r>
              <a:rPr b="1" lang="en"/>
              <a:t>accept</a:t>
            </a:r>
            <a:r>
              <a:rPr lang="en"/>
              <a:t> its input if N2 accepts this input.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Closure under Concatenation Operation (NFA) [Formal]</a:t>
            </a:r>
            <a:endParaRPr/>
          </a:p>
        </p:txBody>
      </p:sp>
      <p:sp>
        <p:nvSpPr>
          <p:cNvPr id="306" name="Google Shape;306;p49"/>
          <p:cNvSpPr txBox="1"/>
          <p:nvPr>
            <p:ph idx="1" type="body"/>
          </p:nvPr>
        </p:nvSpPr>
        <p:spPr>
          <a:xfrm>
            <a:off x="311700" y="1234075"/>
            <a:ext cx="8520600" cy="30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Proof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Let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N1 = (Q1, Σ, δ1, q1, F1)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recognize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A1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, and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N2 = (Q2, Σ, δ2, q2, F2)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recognize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A2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Construct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N = (Q, Σ, δ, q0, F)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to recognize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A1 ◦ A2.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Q = Q1 ∪ Q2.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The states of N are all the states of N1 and N2.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state q0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is the same as the start state of N1 i.e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q1.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accept states F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are the same as the accept states of N2, i.e.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F2.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Define δ so that for any q ∈ Q and any a ∈ Σε: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8563" y="3762925"/>
            <a:ext cx="3406875" cy="10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Closure under Concatenation Operation (NFA) [State Diagram]</a:t>
            </a:r>
            <a:endParaRPr/>
          </a:p>
        </p:txBody>
      </p:sp>
      <p:pic>
        <p:nvPicPr>
          <p:cNvPr id="313" name="Google Shape;31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188" y="1088775"/>
            <a:ext cx="553961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Closure under Star Operation (NFA)</a:t>
            </a:r>
            <a:endParaRPr/>
          </a:p>
        </p:txBody>
      </p:sp>
      <p:sp>
        <p:nvSpPr>
          <p:cNvPr id="319" name="Google Shape;319;p5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Theorem: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class of regular languages is closed under the </a:t>
            </a:r>
            <a:r>
              <a:rPr b="1" lang="en"/>
              <a:t>star</a:t>
            </a:r>
            <a:r>
              <a:rPr lang="en"/>
              <a:t> operation.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Proof Idea: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have regular languages </a:t>
            </a:r>
            <a:r>
              <a:rPr b="1" lang="en"/>
              <a:t>A1</a:t>
            </a:r>
            <a:r>
              <a:rPr lang="en"/>
              <a:t> </a:t>
            </a:r>
            <a:r>
              <a:rPr lang="en"/>
              <a:t>and want to prove that </a:t>
            </a:r>
            <a:r>
              <a:rPr b="1" lang="en"/>
              <a:t>A1∗</a:t>
            </a:r>
            <a:r>
              <a:rPr lang="en"/>
              <a:t> is </a:t>
            </a:r>
            <a:r>
              <a:rPr b="1" lang="en"/>
              <a:t>regular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idea is to take </a:t>
            </a:r>
            <a:r>
              <a:rPr lang="en"/>
              <a:t>an NFA </a:t>
            </a:r>
            <a:r>
              <a:rPr b="1" lang="en"/>
              <a:t>N1</a:t>
            </a:r>
            <a:r>
              <a:rPr lang="en"/>
              <a:t> for A1 and modify it to recognize A∗ to form NFA </a:t>
            </a:r>
            <a:r>
              <a:rPr b="1" lang="en"/>
              <a:t>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Machine N must </a:t>
            </a:r>
            <a:r>
              <a:rPr b="1" lang="en"/>
              <a:t>accept</a:t>
            </a:r>
            <a:r>
              <a:rPr lang="en"/>
              <a:t> </a:t>
            </a:r>
            <a:r>
              <a:rPr lang="en"/>
              <a:t>its input whenever it can be broken into several pieces and N1 accepts each piece.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Closure under Star Operation (NFA) [Formal]</a:t>
            </a:r>
            <a:endParaRPr/>
          </a:p>
        </p:txBody>
      </p:sp>
      <p:sp>
        <p:nvSpPr>
          <p:cNvPr id="325" name="Google Shape;325;p52"/>
          <p:cNvSpPr txBox="1"/>
          <p:nvPr>
            <p:ph idx="1" type="body"/>
          </p:nvPr>
        </p:nvSpPr>
        <p:spPr>
          <a:xfrm>
            <a:off x="311700" y="1234075"/>
            <a:ext cx="8520600" cy="30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Proof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Let </a:t>
            </a:r>
            <a:r>
              <a:rPr b="1" lang="en"/>
              <a:t>N1 = (Q1, Σ, δ1, q1, F1)</a:t>
            </a:r>
            <a:r>
              <a:rPr lang="en"/>
              <a:t> recognize </a:t>
            </a:r>
            <a:r>
              <a:rPr b="1" lang="en"/>
              <a:t>A1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Construct </a:t>
            </a:r>
            <a:r>
              <a:rPr b="1" lang="en"/>
              <a:t>N = (Q, Σ, δ, q0, F)</a:t>
            </a:r>
            <a:r>
              <a:rPr lang="en"/>
              <a:t> to recognize </a:t>
            </a:r>
            <a:r>
              <a:rPr b="1" lang="en"/>
              <a:t>A1∗.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Q = {q0} ∪ Q1. </a:t>
            </a:r>
            <a:r>
              <a:rPr lang="en"/>
              <a:t>The states of N are the states of N1 plus a new start state.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</a:t>
            </a:r>
            <a:r>
              <a:rPr b="1" lang="en"/>
              <a:t>state q0</a:t>
            </a:r>
            <a:r>
              <a:rPr lang="en"/>
              <a:t> is the start state of 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F = {q0} ∪ F1</a:t>
            </a:r>
            <a:r>
              <a:rPr lang="en"/>
              <a:t>. The accept states are the old accept states plus the new start state.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Define δ so that for any q ∈ Q and any a ∈ Σε:</a:t>
            </a:r>
            <a:endParaRPr/>
          </a:p>
        </p:txBody>
      </p:sp>
      <p:pic>
        <p:nvPicPr>
          <p:cNvPr id="326" name="Google Shape;32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162" y="3435575"/>
            <a:ext cx="3587675" cy="129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Closure under Star Operation (NFA) [State Diagram]</a:t>
            </a:r>
            <a:endParaRPr/>
          </a:p>
        </p:txBody>
      </p:sp>
      <p:pic>
        <p:nvPicPr>
          <p:cNvPr id="332" name="Google Shape;33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213" y="1161075"/>
            <a:ext cx="7267575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