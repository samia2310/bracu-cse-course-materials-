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Playfair Display"/>
      <p:regular r:id="rId29"/>
      <p:bold r:id="rId30"/>
      <p:italic r:id="rId31"/>
      <p:boldItalic r:id="rId32"/>
    </p:embeddedFont>
    <p:embeddedFont>
      <p:font typeface="Montserrat"/>
      <p:regular r:id="rId33"/>
      <p:bold r:id="rId34"/>
      <p:italic r:id="rId35"/>
      <p:boldItalic r:id="rId36"/>
    </p:embeddedFont>
    <p:embeddedFont>
      <p:font typeface="Oswald"/>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ADEE7A-987C-48E9-A438-733184D703DB}">
  <a:tblStyle styleId="{71ADEE7A-987C-48E9-A438-733184D703D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ayfairDisplay-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fairDisplay-italic.fntdata"/><Relationship Id="rId30" Type="http://schemas.openxmlformats.org/officeDocument/2006/relationships/font" Target="fonts/PlayfairDisplay-bold.fntdata"/><Relationship Id="rId11" Type="http://schemas.openxmlformats.org/officeDocument/2006/relationships/slide" Target="slides/slide5.xml"/><Relationship Id="rId33" Type="http://schemas.openxmlformats.org/officeDocument/2006/relationships/font" Target="fonts/Montserrat-regular.fntdata"/><Relationship Id="rId10" Type="http://schemas.openxmlformats.org/officeDocument/2006/relationships/slide" Target="slides/slide4.xml"/><Relationship Id="rId32" Type="http://schemas.openxmlformats.org/officeDocument/2006/relationships/font" Target="fonts/PlayfairDisplay-boldItalic.fntdata"/><Relationship Id="rId13" Type="http://schemas.openxmlformats.org/officeDocument/2006/relationships/slide" Target="slides/slide7.xml"/><Relationship Id="rId35" Type="http://schemas.openxmlformats.org/officeDocument/2006/relationships/font" Target="fonts/Montserrat-italic.fntdata"/><Relationship Id="rId12" Type="http://schemas.openxmlformats.org/officeDocument/2006/relationships/slide" Target="slides/slide6.xml"/><Relationship Id="rId34" Type="http://schemas.openxmlformats.org/officeDocument/2006/relationships/font" Target="fonts/Montserrat-bold.fntdata"/><Relationship Id="rId15" Type="http://schemas.openxmlformats.org/officeDocument/2006/relationships/slide" Target="slides/slide9.xml"/><Relationship Id="rId37" Type="http://schemas.openxmlformats.org/officeDocument/2006/relationships/font" Target="fonts/Oswald-regular.fntdata"/><Relationship Id="rId14" Type="http://schemas.openxmlformats.org/officeDocument/2006/relationships/slide" Target="slides/slide8.xml"/><Relationship Id="rId36" Type="http://schemas.openxmlformats.org/officeDocument/2006/relationships/font" Target="fonts/Montserrat-boldItalic.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Oswal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e1b23795f2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e1b23795f2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e1b23795f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e1b23795f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e1b23795f2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e1b23795f2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e8f835df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e8f835df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73ce7278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73ce7278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e8f835df6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e8f835df6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e8f835df6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e8f835df6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8f835df6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8f835df6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e9204a7a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e9204a7a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e9204a7af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e9204a7af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e9204a7af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e9204a7af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9204a7af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e9204a7af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e925039ed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e925039ed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925039ed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e925039ed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e925039ed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e925039ed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e925039ed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e925039ed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925039ed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925039ed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925039ed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925039ed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e925039ed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e925039ed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e925039ed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e925039ed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e925039ed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e925039ed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Regular Expressions</a:t>
            </a:r>
            <a:endParaRPr/>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fontScale="62500" lnSpcReduction="20000"/>
          </a:bodyPr>
          <a:lstStyle/>
          <a:p>
            <a:pPr indent="0" lvl="0" marL="0" rtl="0" algn="l">
              <a:spcBef>
                <a:spcPts val="0"/>
              </a:spcBef>
              <a:spcAft>
                <a:spcPts val="0"/>
              </a:spcAft>
              <a:buNone/>
            </a:pPr>
            <a:r>
              <a:rPr lang="en"/>
              <a:t>CSE331 - Automate and Computability</a:t>
            </a:r>
            <a:endParaRPr/>
          </a:p>
          <a:p>
            <a:pPr indent="0" lvl="0" marL="0" rtl="0" algn="l">
              <a:spcBef>
                <a:spcPts val="0"/>
              </a:spcBef>
              <a:spcAft>
                <a:spcPts val="0"/>
              </a:spcAft>
              <a:buNone/>
            </a:pPr>
            <a:r>
              <a:rPr lang="en"/>
              <a:t>BRAC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Introduction to RegEx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70" name="Google Shape;70;p1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FF0000"/>
                </a:solidFill>
              </a:rPr>
              <a:t>Languages</a:t>
            </a:r>
            <a:r>
              <a:rPr b="1" lang="en">
                <a:solidFill>
                  <a:srgbClr val="FF0000"/>
                </a:solidFill>
              </a:rPr>
              <a:t>:</a:t>
            </a:r>
            <a:r>
              <a:rPr lang="en"/>
              <a:t> </a:t>
            </a:r>
            <a:r>
              <a:rPr lang="en"/>
              <a:t>We know that there are four different types of automata. Each automaton has its own language that i</a:t>
            </a:r>
            <a:r>
              <a:rPr lang="en"/>
              <a:t>t r</a:t>
            </a:r>
            <a:r>
              <a:rPr lang="en"/>
              <a:t>ecognizes/accepts: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graphicFrame>
        <p:nvGraphicFramePr>
          <p:cNvPr id="71" name="Google Shape;71;p15"/>
          <p:cNvGraphicFramePr/>
          <p:nvPr/>
        </p:nvGraphicFramePr>
        <p:xfrm>
          <a:off x="952500" y="1998925"/>
          <a:ext cx="3000000" cy="3000000"/>
        </p:xfrm>
        <a:graphic>
          <a:graphicData uri="http://schemas.openxmlformats.org/drawingml/2006/table">
            <a:tbl>
              <a:tblPr>
                <a:noFill/>
                <a:tableStyleId>{71ADEE7A-987C-48E9-A438-733184D703DB}</a:tableStyleId>
              </a:tblPr>
              <a:tblGrid>
                <a:gridCol w="3619500"/>
                <a:gridCol w="3619500"/>
              </a:tblGrid>
              <a:tr h="381000">
                <a:tc>
                  <a:txBody>
                    <a:bodyPr/>
                    <a:lstStyle/>
                    <a:p>
                      <a:pPr indent="0" lvl="0" marL="0" rtl="0" algn="ctr">
                        <a:spcBef>
                          <a:spcPts val="0"/>
                        </a:spcBef>
                        <a:spcAft>
                          <a:spcPts val="0"/>
                        </a:spcAft>
                        <a:buNone/>
                      </a:pPr>
                      <a:r>
                        <a:rPr b="1" lang="en" sz="1600"/>
                        <a:t>Automaton</a:t>
                      </a:r>
                      <a:endParaRPr b="1" sz="1600"/>
                    </a:p>
                  </a:txBody>
                  <a:tcPr marT="91425" marB="91425" marR="91425" marL="91425" anchor="ctr"/>
                </a:tc>
                <a:tc>
                  <a:txBody>
                    <a:bodyPr/>
                    <a:lstStyle/>
                    <a:p>
                      <a:pPr indent="0" lvl="0" marL="0" rtl="0" algn="ctr">
                        <a:spcBef>
                          <a:spcPts val="0"/>
                        </a:spcBef>
                        <a:spcAft>
                          <a:spcPts val="0"/>
                        </a:spcAft>
                        <a:buNone/>
                      </a:pPr>
                      <a:r>
                        <a:rPr b="1" lang="en" sz="1600"/>
                        <a:t>Corresponding language</a:t>
                      </a:r>
                      <a:endParaRPr b="1" sz="1600"/>
                    </a:p>
                  </a:txBody>
                  <a:tcPr marT="91425" marB="91425" marR="91425" marL="91425" anchor="ctr"/>
                </a:tc>
              </a:tr>
              <a:tr h="381000">
                <a:tc>
                  <a:txBody>
                    <a:bodyPr/>
                    <a:lstStyle/>
                    <a:p>
                      <a:pPr indent="0" lvl="0" marL="0" rtl="0" algn="ctr">
                        <a:spcBef>
                          <a:spcPts val="0"/>
                        </a:spcBef>
                        <a:spcAft>
                          <a:spcPts val="0"/>
                        </a:spcAft>
                        <a:buNone/>
                      </a:pPr>
                      <a:r>
                        <a:rPr lang="en"/>
                        <a:t>Finite State Automaton (FSA)</a:t>
                      </a:r>
                      <a:endParaRPr/>
                    </a:p>
                  </a:txBody>
                  <a:tcPr marT="91425" marB="91425" marR="91425" marL="91425" anchor="ctr"/>
                </a:tc>
                <a:tc>
                  <a:txBody>
                    <a:bodyPr/>
                    <a:lstStyle/>
                    <a:p>
                      <a:pPr indent="0" lvl="0" marL="0" rtl="0" algn="ctr">
                        <a:spcBef>
                          <a:spcPts val="0"/>
                        </a:spcBef>
                        <a:spcAft>
                          <a:spcPts val="0"/>
                        </a:spcAft>
                        <a:buNone/>
                      </a:pPr>
                      <a:r>
                        <a:rPr lang="en"/>
                        <a:t>Regular language (RE)</a:t>
                      </a:r>
                      <a:endParaRPr/>
                    </a:p>
                  </a:txBody>
                  <a:tcPr marT="91425" marB="91425" marR="91425" marL="91425" anchor="ctr"/>
                </a:tc>
              </a:tr>
              <a:tr h="381000">
                <a:tc>
                  <a:txBody>
                    <a:bodyPr/>
                    <a:lstStyle/>
                    <a:p>
                      <a:pPr indent="0" lvl="0" marL="0" rtl="0" algn="ctr">
                        <a:spcBef>
                          <a:spcPts val="0"/>
                        </a:spcBef>
                        <a:spcAft>
                          <a:spcPts val="0"/>
                        </a:spcAft>
                        <a:buNone/>
                      </a:pPr>
                      <a:r>
                        <a:rPr lang="en"/>
                        <a:t>Pushdown Automaton (PDA)</a:t>
                      </a:r>
                      <a:endParaRPr/>
                    </a:p>
                  </a:txBody>
                  <a:tcPr marT="91425" marB="91425" marR="91425" marL="91425" anchor="ctr"/>
                </a:tc>
                <a:tc>
                  <a:txBody>
                    <a:bodyPr/>
                    <a:lstStyle/>
                    <a:p>
                      <a:pPr indent="0" lvl="0" marL="0" rtl="0" algn="ctr">
                        <a:spcBef>
                          <a:spcPts val="0"/>
                        </a:spcBef>
                        <a:spcAft>
                          <a:spcPts val="0"/>
                        </a:spcAft>
                        <a:buNone/>
                      </a:pPr>
                      <a:r>
                        <a:rPr lang="en"/>
                        <a:t>Context-free language (CFL)</a:t>
                      </a:r>
                      <a:endParaRPr/>
                    </a:p>
                  </a:txBody>
                  <a:tcPr marT="91425" marB="91425" marR="91425" marL="91425" anchor="ctr"/>
                </a:tc>
              </a:tr>
              <a:tr h="381000">
                <a:tc>
                  <a:txBody>
                    <a:bodyPr/>
                    <a:lstStyle/>
                    <a:p>
                      <a:pPr indent="0" lvl="0" marL="0" rtl="0" algn="ctr">
                        <a:spcBef>
                          <a:spcPts val="0"/>
                        </a:spcBef>
                        <a:spcAft>
                          <a:spcPts val="0"/>
                        </a:spcAft>
                        <a:buNone/>
                      </a:pPr>
                      <a:r>
                        <a:rPr lang="en"/>
                        <a:t>Linear Bound Automaton (LBA)</a:t>
                      </a:r>
                      <a:endParaRPr/>
                    </a:p>
                  </a:txBody>
                  <a:tcPr marT="91425" marB="91425" marR="91425" marL="91425" anchor="ctr"/>
                </a:tc>
                <a:tc>
                  <a:txBody>
                    <a:bodyPr/>
                    <a:lstStyle/>
                    <a:p>
                      <a:pPr indent="0" lvl="0" marL="0" rtl="0" algn="ctr">
                        <a:spcBef>
                          <a:spcPts val="0"/>
                        </a:spcBef>
                        <a:spcAft>
                          <a:spcPts val="0"/>
                        </a:spcAft>
                        <a:buNone/>
                      </a:pPr>
                      <a:r>
                        <a:rPr lang="en"/>
                        <a:t>Context sensitive language (CSL)</a:t>
                      </a:r>
                      <a:endParaRPr/>
                    </a:p>
                  </a:txBody>
                  <a:tcPr marT="91425" marB="91425" marR="91425" marL="91425" anchor="ctr"/>
                </a:tc>
              </a:tr>
              <a:tr h="381000">
                <a:tc>
                  <a:txBody>
                    <a:bodyPr/>
                    <a:lstStyle/>
                    <a:p>
                      <a:pPr indent="0" lvl="0" marL="0" rtl="0" algn="ctr">
                        <a:spcBef>
                          <a:spcPts val="0"/>
                        </a:spcBef>
                        <a:spcAft>
                          <a:spcPts val="0"/>
                        </a:spcAft>
                        <a:buNone/>
                      </a:pPr>
                      <a:r>
                        <a:rPr lang="en"/>
                        <a:t>Turing Machine (</a:t>
                      </a:r>
                      <a:r>
                        <a:rPr lang="en"/>
                        <a:t>TM</a:t>
                      </a:r>
                      <a:r>
                        <a:rPr lang="en"/>
                        <a:t>)</a:t>
                      </a:r>
                      <a:endParaRPr/>
                    </a:p>
                  </a:txBody>
                  <a:tcPr marT="91425" marB="91425" marR="91425" marL="91425" anchor="ctr"/>
                </a:tc>
                <a:tc>
                  <a:txBody>
                    <a:bodyPr/>
                    <a:lstStyle/>
                    <a:p>
                      <a:pPr indent="0" lvl="0" marL="0" rtl="0" algn="ctr">
                        <a:spcBef>
                          <a:spcPts val="0"/>
                        </a:spcBef>
                        <a:spcAft>
                          <a:spcPts val="0"/>
                        </a:spcAft>
                        <a:buNone/>
                      </a:pPr>
                      <a:r>
                        <a:rPr lang="en"/>
                        <a:t>Recursively Enumerable Language (REL)</a:t>
                      </a:r>
                      <a:endParaRPr/>
                    </a:p>
                  </a:txBody>
                  <a:tcPr marT="91425" marB="91425" marR="91425" marL="91425"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Defining a Regular Language</a:t>
            </a:r>
            <a:endParaRPr/>
          </a:p>
        </p:txBody>
      </p:sp>
      <p:sp>
        <p:nvSpPr>
          <p:cNvPr id="77" name="Google Shape;77;p16"/>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225">
                <a:solidFill>
                  <a:srgbClr val="FF0000"/>
                </a:solidFill>
                <a:latin typeface="Arial"/>
                <a:ea typeface="Arial"/>
                <a:cs typeface="Arial"/>
                <a:sym typeface="Arial"/>
              </a:rPr>
              <a:t>Regular language:</a:t>
            </a:r>
            <a:r>
              <a:rPr lang="en" sz="1225">
                <a:latin typeface="Arial"/>
                <a:ea typeface="Arial"/>
                <a:cs typeface="Arial"/>
                <a:sym typeface="Arial"/>
              </a:rPr>
              <a:t>  It is a simple language with a bunch of strings in it. We shall learn it more formally later.</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225">
                <a:latin typeface="Arial"/>
                <a:ea typeface="Arial"/>
                <a:cs typeface="Arial"/>
                <a:sym typeface="Arial"/>
              </a:rPr>
              <a:t>● A simple regular language can be described intuitively in several ways.</a:t>
            </a:r>
            <a:endParaRPr sz="1225">
              <a:latin typeface="Arial"/>
              <a:ea typeface="Arial"/>
              <a:cs typeface="Arial"/>
              <a:sym typeface="Arial"/>
            </a:endParaRPr>
          </a:p>
          <a:p>
            <a:pPr indent="-306387" lvl="0" marL="914400" rtl="0" algn="l">
              <a:lnSpc>
                <a:spcPct val="105000"/>
              </a:lnSpc>
              <a:spcBef>
                <a:spcPts val="1200"/>
              </a:spcBef>
              <a:spcAft>
                <a:spcPts val="0"/>
              </a:spcAft>
              <a:buSzPts val="1225"/>
              <a:buFont typeface="Arial"/>
              <a:buChar char="-"/>
            </a:pPr>
            <a:r>
              <a:rPr lang="en" sz="1225">
                <a:latin typeface="Arial"/>
                <a:ea typeface="Arial"/>
                <a:cs typeface="Arial"/>
                <a:sym typeface="Arial"/>
              </a:rPr>
              <a:t>You can list all the strings of the language in a tabular set format e.g. {𝑎𝑐, 𝑐𝑎, 𝑎𝑏𝑐, 𝑐𝑏𝑎, 𝑎𝑐, 𝑐𝑎, 𝑎𝑏𝑐, 𝑐𝑏𝑎, 𝑎𝑏𝑑𝑏𝑐, 𝑐𝑏𝑏𝑑𝑑𝑎, 𝑐𝑑𝑑𝑎, 𝑎𝑑𝑐, … }. If the language is too large or infinite, this description is not good.</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Char char="-"/>
            </a:pPr>
            <a:r>
              <a:rPr lang="en" sz="1225">
                <a:latin typeface="Arial"/>
                <a:ea typeface="Arial"/>
                <a:cs typeface="Arial"/>
                <a:sym typeface="Arial"/>
              </a:rPr>
              <a:t>Also, you can start describing the language in words like we do in set builder method. We can express the above language as- {𝐶𝑜𝑛𝑡𝑎𝑖𝑛𝑖𝑛𝑔 𝑠𝑡𝑟𝑖𝑛𝑔𝑠 𝑡ℎ𝑎𝑡 𝑠𝑡𝑎𝑟𝑡 𝑤𝑖𝑡ℎ 𝑎𝑛 𝒂 𝑜𝑟 𝑎 𝒄. 𝐼𝑓 𝑖𝑡 𝑠𝑡𝑎𝑟𝑡𝑠 𝑤𝑖𝑡ℎ 𝑎𝑛 𝒂,𝑡ℎ𝑒𝑛 𝑖𝑡 𝑒𝑛𝑑𝑠 𝑤𝑖𝑡ℎ 𝑎 𝒄, 𝑎𝑛𝑑 𝑖𝑓 𝑖𝑡 𝑠𝑡𝑎𝑟𝑡𝑠 𝑤𝑖𝑡ℎ 𝑎 𝒄 𝑡ℎ𝑒𝑛 𝑖𝑡 𝑒𝑛𝑑𝑠 𝑤𝑖𝑡ℎ 𝑎𝑛 𝒂 … }</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Char char="-"/>
            </a:pPr>
            <a:r>
              <a:rPr lang="en" sz="1225">
                <a:latin typeface="Arial"/>
                <a:ea typeface="Arial"/>
                <a:cs typeface="Arial"/>
                <a:sym typeface="Arial"/>
              </a:rPr>
              <a:t>You can draw an FSA that accepts the above language. Though this method will work perfectly, the drawing something is a bit tedious too. Is there a better way?</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Char char="-"/>
            </a:pPr>
            <a:r>
              <a:rPr lang="en" sz="1225">
                <a:latin typeface="Arial"/>
                <a:ea typeface="Arial"/>
                <a:cs typeface="Arial"/>
                <a:sym typeface="Arial"/>
              </a:rPr>
              <a:t>Lastly, we have Regular Expression which is easy to derive and often concise to write like a mathematical expression.</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225">
                <a:latin typeface="Arial"/>
                <a:ea typeface="Arial"/>
                <a:cs typeface="Arial"/>
                <a:sym typeface="Arial"/>
              </a:rPr>
              <a:t>● Whether you can find it or not, there is a pattern in every regular language. This pattern is known as an Expression.</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225">
                <a:latin typeface="Arial"/>
                <a:ea typeface="Arial"/>
                <a:cs typeface="Arial"/>
                <a:sym typeface="Arial"/>
              </a:rPr>
              <a:t>● If a language is regular, then its expression is called a </a:t>
            </a:r>
            <a:r>
              <a:rPr b="1" lang="en" sz="1225">
                <a:latin typeface="Arial"/>
                <a:ea typeface="Arial"/>
                <a:cs typeface="Arial"/>
                <a:sym typeface="Arial"/>
              </a:rPr>
              <a:t>regular expression (RE)</a:t>
            </a:r>
            <a:r>
              <a:rPr lang="en" sz="1225">
                <a:latin typeface="Arial"/>
                <a:ea typeface="Arial"/>
                <a:cs typeface="Arial"/>
                <a:sym typeface="Arial"/>
              </a:rPr>
              <a:t> or </a:t>
            </a:r>
            <a:r>
              <a:rPr b="1" lang="en" sz="1225">
                <a:latin typeface="Arial"/>
                <a:ea typeface="Arial"/>
                <a:cs typeface="Arial"/>
                <a:sym typeface="Arial"/>
              </a:rPr>
              <a:t>RegEx</a:t>
            </a:r>
            <a:r>
              <a:rPr lang="en" sz="1225">
                <a:latin typeface="Arial"/>
                <a:ea typeface="Arial"/>
                <a:cs typeface="Arial"/>
                <a:sym typeface="Arial"/>
              </a:rPr>
              <a:t>.</a:t>
            </a:r>
            <a:endParaRPr sz="1225">
              <a:latin typeface="Arial"/>
              <a:ea typeface="Arial"/>
              <a:cs typeface="Arial"/>
              <a:sym typeface="Arial"/>
            </a:endParaRPr>
          </a:p>
          <a:p>
            <a:pPr indent="0" lvl="0" marL="0" rtl="0" algn="l">
              <a:lnSpc>
                <a:spcPct val="105000"/>
              </a:lnSpc>
              <a:spcBef>
                <a:spcPts val="1200"/>
              </a:spcBef>
              <a:spcAft>
                <a:spcPts val="1200"/>
              </a:spcAft>
              <a:buClr>
                <a:schemeClr val="dk2"/>
              </a:buClr>
              <a:buSzPts val="688"/>
              <a:buFont typeface="Arial"/>
              <a:buNone/>
            </a:pPr>
            <a:r>
              <a:rPr lang="en" sz="1225">
                <a:latin typeface="Arial"/>
                <a:ea typeface="Arial"/>
                <a:cs typeface="Arial"/>
                <a:sym typeface="Arial"/>
              </a:rPr>
              <a:t>● Every regular language (RL) has one or more regular expressions, i.e. RE of a language is not unique.</a:t>
            </a:r>
            <a:endParaRPr sz="1225">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Basic Regular Operations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Three Basic Regular Operations (for RegEx)</a:t>
            </a:r>
            <a:endParaRPr/>
          </a:p>
        </p:txBody>
      </p:sp>
      <p:sp>
        <p:nvSpPr>
          <p:cNvPr id="88" name="Google Shape;88;p1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FF0000"/>
                </a:solidFill>
                <a:latin typeface="Arial"/>
                <a:ea typeface="Arial"/>
                <a:cs typeface="Arial"/>
                <a:sym typeface="Arial"/>
              </a:rPr>
              <a:t>In a regular expression, three types of operators can be present:</a:t>
            </a:r>
            <a:endParaRPr>
              <a:latin typeface="Arial"/>
              <a:ea typeface="Arial"/>
              <a:cs typeface="Arial"/>
              <a:sym typeface="Arial"/>
            </a:endParaRPr>
          </a:p>
          <a:p>
            <a:pPr indent="0" lvl="0" marL="0" rtl="0" algn="l">
              <a:spcBef>
                <a:spcPts val="1200"/>
              </a:spcBef>
              <a:spcAft>
                <a:spcPts val="0"/>
              </a:spcAft>
              <a:buNone/>
            </a:pPr>
            <a:r>
              <a:t/>
            </a:r>
            <a:endParaRPr>
              <a:latin typeface="Arial"/>
              <a:ea typeface="Arial"/>
              <a:cs typeface="Arial"/>
              <a:sym typeface="Arial"/>
            </a:endParaRPr>
          </a:p>
          <a:p>
            <a:pPr indent="0" lvl="0" marL="0" rtl="0" algn="l">
              <a:spcBef>
                <a:spcPts val="1200"/>
              </a:spcBef>
              <a:spcAft>
                <a:spcPts val="0"/>
              </a:spcAft>
              <a:buNone/>
            </a:pPr>
            <a:r>
              <a:t/>
            </a:r>
            <a:endParaRPr>
              <a:latin typeface="Arial"/>
              <a:ea typeface="Arial"/>
              <a:cs typeface="Arial"/>
              <a:sym typeface="Arial"/>
            </a:endParaRPr>
          </a:p>
          <a:p>
            <a:pPr indent="0" lvl="0" marL="0" rtl="0" algn="l">
              <a:spcBef>
                <a:spcPts val="1200"/>
              </a:spcBef>
              <a:spcAft>
                <a:spcPts val="0"/>
              </a:spcAft>
              <a:buNone/>
            </a:pPr>
            <a:r>
              <a:t/>
            </a:r>
            <a:endParaRPr>
              <a:latin typeface="Arial"/>
              <a:ea typeface="Arial"/>
              <a:cs typeface="Arial"/>
              <a:sym typeface="Arial"/>
            </a:endParaRPr>
          </a:p>
          <a:p>
            <a:pPr indent="0" lvl="0" marL="0" rtl="0" algn="l">
              <a:spcBef>
                <a:spcPts val="1200"/>
              </a:spcBef>
              <a:spcAft>
                <a:spcPts val="1200"/>
              </a:spcAft>
              <a:buNone/>
            </a:pPr>
            <a:r>
              <a:t/>
            </a:r>
            <a:endParaRPr>
              <a:latin typeface="Arial"/>
              <a:ea typeface="Arial"/>
              <a:cs typeface="Arial"/>
              <a:sym typeface="Arial"/>
            </a:endParaRPr>
          </a:p>
        </p:txBody>
      </p:sp>
      <p:graphicFrame>
        <p:nvGraphicFramePr>
          <p:cNvPr id="89" name="Google Shape;89;p18"/>
          <p:cNvGraphicFramePr/>
          <p:nvPr/>
        </p:nvGraphicFramePr>
        <p:xfrm>
          <a:off x="952500" y="1809750"/>
          <a:ext cx="3000000" cy="3000000"/>
        </p:xfrm>
        <a:graphic>
          <a:graphicData uri="http://schemas.openxmlformats.org/drawingml/2006/table">
            <a:tbl>
              <a:tblPr>
                <a:noFill/>
                <a:tableStyleId>{71ADEE7A-987C-48E9-A438-733184D703DB}</a:tableStyleId>
              </a:tblPr>
              <a:tblGrid>
                <a:gridCol w="3619500"/>
                <a:gridCol w="3619500"/>
              </a:tblGrid>
              <a:tr h="381000">
                <a:tc>
                  <a:txBody>
                    <a:bodyPr/>
                    <a:lstStyle/>
                    <a:p>
                      <a:pPr indent="0" lvl="0" marL="0" rtl="0" algn="ctr">
                        <a:spcBef>
                          <a:spcPts val="0"/>
                        </a:spcBef>
                        <a:spcAft>
                          <a:spcPts val="0"/>
                        </a:spcAft>
                        <a:buNone/>
                      </a:pPr>
                      <a:r>
                        <a:rPr b="1" lang="en" sz="1600"/>
                        <a:t>Operator name</a:t>
                      </a:r>
                      <a:endParaRPr b="1" sz="1600"/>
                    </a:p>
                  </a:txBody>
                  <a:tcPr marT="91425" marB="91425" marR="91425" marL="91425" anchor="ctr"/>
                </a:tc>
                <a:tc>
                  <a:txBody>
                    <a:bodyPr/>
                    <a:lstStyle/>
                    <a:p>
                      <a:pPr indent="0" lvl="0" marL="0" rtl="0" algn="ctr">
                        <a:spcBef>
                          <a:spcPts val="0"/>
                        </a:spcBef>
                        <a:spcAft>
                          <a:spcPts val="0"/>
                        </a:spcAft>
                        <a:buNone/>
                      </a:pPr>
                      <a:r>
                        <a:rPr b="1" lang="en" sz="1600"/>
                        <a:t>Symbol</a:t>
                      </a:r>
                      <a:endParaRPr b="1" sz="1600"/>
                    </a:p>
                  </a:txBody>
                  <a:tcPr marT="91425" marB="91425" marR="91425" marL="91425" anchor="ctr"/>
                </a:tc>
              </a:tr>
              <a:tr h="381000">
                <a:tc>
                  <a:txBody>
                    <a:bodyPr/>
                    <a:lstStyle/>
                    <a:p>
                      <a:pPr indent="0" lvl="0" marL="0" rtl="0" algn="ctr">
                        <a:spcBef>
                          <a:spcPts val="0"/>
                        </a:spcBef>
                        <a:spcAft>
                          <a:spcPts val="0"/>
                        </a:spcAft>
                        <a:buNone/>
                      </a:pPr>
                      <a:r>
                        <a:rPr lang="en"/>
                        <a:t>OR Operator</a:t>
                      </a:r>
                      <a:endParaRPr/>
                    </a:p>
                  </a:txBody>
                  <a:tcPr marT="91425" marB="91425" marR="91425" marL="91425" anchor="ctr"/>
                </a:tc>
                <a:tc>
                  <a:txBody>
                    <a:bodyPr/>
                    <a:lstStyle/>
                    <a:p>
                      <a:pPr indent="0" lvl="0" marL="0" rtl="0" algn="ctr">
                        <a:spcBef>
                          <a:spcPts val="0"/>
                        </a:spcBef>
                        <a:spcAft>
                          <a:spcPts val="0"/>
                        </a:spcAft>
                        <a:buNone/>
                      </a:pPr>
                      <a:r>
                        <a:rPr lang="en"/>
                        <a:t>| or +</a:t>
                      </a:r>
                      <a:endParaRPr/>
                    </a:p>
                  </a:txBody>
                  <a:tcPr marT="91425" marB="91425" marR="91425" marL="91425" anchor="ctr"/>
                </a:tc>
              </a:tr>
              <a:tr h="381000">
                <a:tc>
                  <a:txBody>
                    <a:bodyPr/>
                    <a:lstStyle/>
                    <a:p>
                      <a:pPr indent="0" lvl="0" marL="0" rtl="0" algn="ctr">
                        <a:spcBef>
                          <a:spcPts val="0"/>
                        </a:spcBef>
                        <a:spcAft>
                          <a:spcPts val="0"/>
                        </a:spcAft>
                        <a:buNone/>
                      </a:pPr>
                      <a:r>
                        <a:rPr lang="en"/>
                        <a:t>Concatenation Operator</a:t>
                      </a:r>
                      <a:endParaRPr/>
                    </a:p>
                  </a:txBody>
                  <a:tcPr marT="91425" marB="91425" marR="91425" marL="91425" anchor="ctr"/>
                </a:tc>
                <a:tc>
                  <a:txBody>
                    <a:bodyPr/>
                    <a:lstStyle/>
                    <a:p>
                      <a:pPr indent="0" lvl="0" marL="0" rtl="0" algn="ctr">
                        <a:spcBef>
                          <a:spcPts val="0"/>
                        </a:spcBef>
                        <a:spcAft>
                          <a:spcPts val="0"/>
                        </a:spcAft>
                        <a:buNone/>
                      </a:pPr>
                      <a:r>
                        <a:rPr lang="en"/>
                        <a:t>. or &lt;no symbol&gt;</a:t>
                      </a:r>
                      <a:endParaRPr/>
                    </a:p>
                  </a:txBody>
                  <a:tcPr marT="91425" marB="91425" marR="91425" marL="91425" anchor="ctr"/>
                </a:tc>
              </a:tr>
              <a:tr h="381000">
                <a:tc>
                  <a:txBody>
                    <a:bodyPr/>
                    <a:lstStyle/>
                    <a:p>
                      <a:pPr indent="0" lvl="0" marL="0" rtl="0" algn="ctr">
                        <a:spcBef>
                          <a:spcPts val="0"/>
                        </a:spcBef>
                        <a:spcAft>
                          <a:spcPts val="0"/>
                        </a:spcAft>
                        <a:buClr>
                          <a:schemeClr val="dk2"/>
                        </a:buClr>
                        <a:buSzPts val="1100"/>
                        <a:buFont typeface="Arial"/>
                        <a:buNone/>
                      </a:pPr>
                      <a:r>
                        <a:rPr lang="en"/>
                        <a:t>Kleene closure operator</a:t>
                      </a:r>
                      <a:endParaRPr/>
                    </a:p>
                    <a:p>
                      <a:pPr indent="0" lvl="0" marL="0" rtl="0" algn="ctr">
                        <a:spcBef>
                          <a:spcPts val="0"/>
                        </a:spcBef>
                        <a:spcAft>
                          <a:spcPts val="0"/>
                        </a:spcAft>
                        <a:buNone/>
                      </a:pPr>
                      <a:r>
                        <a:rPr lang="en"/>
                        <a:t>Positive closure operator</a:t>
                      </a:r>
                      <a:endParaRPr/>
                    </a:p>
                  </a:txBody>
                  <a:tcPr marT="91425" marB="91425" marR="91425" marL="91425" anchor="ctr"/>
                </a:tc>
                <a:tc>
                  <a:txBody>
                    <a:bodyPr/>
                    <a:lstStyle/>
                    <a:p>
                      <a:pPr indent="0" lvl="0" marL="0" rtl="0" algn="ctr">
                        <a:spcBef>
                          <a:spcPts val="0"/>
                        </a:spcBef>
                        <a:spcAft>
                          <a:spcPts val="0"/>
                        </a:spcAft>
                        <a:buClr>
                          <a:schemeClr val="dk2"/>
                        </a:buClr>
                        <a:buSzPts val="1100"/>
                        <a:buFont typeface="Arial"/>
                        <a:buNone/>
                      </a:pPr>
                      <a:r>
                        <a:rPr lang="en"/>
                        <a:t>*</a:t>
                      </a:r>
                      <a:endParaRPr/>
                    </a:p>
                    <a:p>
                      <a:pPr indent="0" lvl="0" marL="0" rtl="0" algn="ctr">
                        <a:spcBef>
                          <a:spcPts val="0"/>
                        </a:spcBef>
                        <a:spcAft>
                          <a:spcPts val="0"/>
                        </a:spcAft>
                        <a:buNone/>
                      </a:pPr>
                      <a:r>
                        <a:rPr lang="en"/>
                        <a:t>+</a:t>
                      </a:r>
                      <a:endParaRPr/>
                    </a:p>
                  </a:txBody>
                  <a:tcPr marT="91425" marB="91425" marR="91425" marL="91425"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OR Operator (| or +)</a:t>
            </a:r>
            <a:endParaRPr/>
          </a:p>
        </p:txBody>
      </p:sp>
      <p:sp>
        <p:nvSpPr>
          <p:cNvPr id="95" name="Google Shape;95;p19"/>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725">
                <a:solidFill>
                  <a:srgbClr val="FF0000"/>
                </a:solidFill>
                <a:latin typeface="Arial"/>
                <a:ea typeface="Arial"/>
                <a:cs typeface="Arial"/>
                <a:sym typeface="Arial"/>
              </a:rPr>
              <a:t>Position :</a:t>
            </a:r>
            <a:r>
              <a:rPr lang="en" sz="1725">
                <a:latin typeface="Arial"/>
                <a:ea typeface="Arial"/>
                <a:cs typeface="Arial"/>
                <a:sym typeface="Arial"/>
              </a:rPr>
              <a:t>  It sits between two things e.g. 𝑅1|𝑅2 where each of 𝑅1 and 𝑅2 can be any string, a symbol or even another RegEx. You can also write them using + sign e.g. 𝑅1 + 𝑅2.</a:t>
            </a:r>
            <a:endParaRPr sz="1725">
              <a:latin typeface="Arial"/>
              <a:ea typeface="Arial"/>
              <a:cs typeface="Arial"/>
              <a:sym typeface="Arial"/>
            </a:endParaRPr>
          </a:p>
          <a:p>
            <a:pPr indent="0" lvl="0" marL="0" rtl="0" algn="l">
              <a:lnSpc>
                <a:spcPct val="105000"/>
              </a:lnSpc>
              <a:spcBef>
                <a:spcPts val="1200"/>
              </a:spcBef>
              <a:spcAft>
                <a:spcPts val="0"/>
              </a:spcAft>
              <a:buSzPts val="688"/>
              <a:buNone/>
            </a:pPr>
            <a:r>
              <a:rPr b="1" lang="en" sz="1725">
                <a:solidFill>
                  <a:srgbClr val="FF0000"/>
                </a:solidFill>
                <a:latin typeface="Arial"/>
                <a:ea typeface="Arial"/>
                <a:cs typeface="Arial"/>
                <a:sym typeface="Arial"/>
              </a:rPr>
              <a:t>Meaning :</a:t>
            </a:r>
            <a:r>
              <a:rPr lang="en" sz="1725">
                <a:latin typeface="Arial"/>
                <a:ea typeface="Arial"/>
                <a:cs typeface="Arial"/>
                <a:sym typeface="Arial"/>
              </a:rPr>
              <a:t> 𝑅1 or 𝑅2 means that you may take the one from the left or the one from the right. If you take the one from the left, you get 𝑅1, and if you take the one from the right, you get 𝑅2.</a:t>
            </a:r>
            <a:endParaRPr sz="1725">
              <a:latin typeface="Arial"/>
              <a:ea typeface="Arial"/>
              <a:cs typeface="Arial"/>
              <a:sym typeface="Arial"/>
            </a:endParaRPr>
          </a:p>
          <a:p>
            <a:pPr indent="0" lvl="0" marL="0" rtl="0" algn="l">
              <a:lnSpc>
                <a:spcPct val="105000"/>
              </a:lnSpc>
              <a:spcBef>
                <a:spcPts val="1200"/>
              </a:spcBef>
              <a:spcAft>
                <a:spcPts val="0"/>
              </a:spcAft>
              <a:buSzPts val="688"/>
              <a:buNone/>
            </a:pPr>
            <a:r>
              <a:rPr b="1" lang="en" sz="1725">
                <a:solidFill>
                  <a:srgbClr val="FF0000"/>
                </a:solidFill>
                <a:latin typeface="Arial"/>
                <a:ea typeface="Arial"/>
                <a:cs typeface="Arial"/>
                <a:sym typeface="Arial"/>
              </a:rPr>
              <a:t>Examples :</a:t>
            </a:r>
            <a:r>
              <a:rPr lang="en" sz="1725">
                <a:latin typeface="Arial"/>
                <a:ea typeface="Arial"/>
                <a:cs typeface="Arial"/>
                <a:sym typeface="Arial"/>
              </a:rPr>
              <a:t> </a:t>
            </a:r>
            <a:endParaRPr sz="1725">
              <a:latin typeface="Arial"/>
              <a:ea typeface="Arial"/>
              <a:cs typeface="Arial"/>
              <a:sym typeface="Arial"/>
            </a:endParaRPr>
          </a:p>
          <a:p>
            <a:pPr indent="-338137" lvl="0" marL="457200" rtl="0" algn="l">
              <a:lnSpc>
                <a:spcPct val="105000"/>
              </a:lnSpc>
              <a:spcBef>
                <a:spcPts val="1200"/>
              </a:spcBef>
              <a:spcAft>
                <a:spcPts val="0"/>
              </a:spcAft>
              <a:buSzPts val="1725"/>
              <a:buFont typeface="Arial"/>
              <a:buChar char="-"/>
            </a:pPr>
            <a:r>
              <a:rPr lang="en" sz="1725">
                <a:latin typeface="Arial"/>
                <a:ea typeface="Arial"/>
                <a:cs typeface="Arial"/>
                <a:sym typeface="Arial"/>
              </a:rPr>
              <a:t>𝑎 | 𝑏 = {𝑎, 𝑏}</a:t>
            </a:r>
            <a:endParaRPr sz="1725">
              <a:latin typeface="Arial"/>
              <a:ea typeface="Arial"/>
              <a:cs typeface="Arial"/>
              <a:sym typeface="Arial"/>
            </a:endParaRPr>
          </a:p>
          <a:p>
            <a:pPr indent="-338137" lvl="0" marL="457200" rtl="0" algn="l">
              <a:lnSpc>
                <a:spcPct val="105000"/>
              </a:lnSpc>
              <a:spcBef>
                <a:spcPts val="0"/>
              </a:spcBef>
              <a:spcAft>
                <a:spcPts val="0"/>
              </a:spcAft>
              <a:buSzPts val="1725"/>
              <a:buFont typeface="Arial"/>
              <a:buChar char="-"/>
            </a:pPr>
            <a:r>
              <a:rPr lang="en" sz="1725">
                <a:latin typeface="Arial"/>
                <a:ea typeface="Arial"/>
                <a:cs typeface="Arial"/>
                <a:sym typeface="Arial"/>
              </a:rPr>
              <a:t>𝑎𝑎 | 𝑏 = {𝑎𝑎, 𝑏}</a:t>
            </a:r>
            <a:endParaRPr sz="1725">
              <a:latin typeface="Arial"/>
              <a:ea typeface="Arial"/>
              <a:cs typeface="Arial"/>
              <a:sym typeface="Arial"/>
            </a:endParaRPr>
          </a:p>
          <a:p>
            <a:pPr indent="-338137" lvl="0" marL="457200" rtl="0" algn="l">
              <a:lnSpc>
                <a:spcPct val="105000"/>
              </a:lnSpc>
              <a:spcBef>
                <a:spcPts val="0"/>
              </a:spcBef>
              <a:spcAft>
                <a:spcPts val="0"/>
              </a:spcAft>
              <a:buSzPts val="1725"/>
              <a:buFont typeface="Arial"/>
              <a:buChar char="-"/>
            </a:pPr>
            <a:r>
              <a:rPr lang="en" sz="1725">
                <a:latin typeface="Arial"/>
                <a:ea typeface="Arial"/>
                <a:cs typeface="Arial"/>
                <a:sym typeface="Arial"/>
              </a:rPr>
              <a:t>ℎ𝑒𝑙𝑙𝑜 | ℎ𝑖 = {ℎ𝑒𝑙𝑙𝑜, ℎ𝑖}</a:t>
            </a:r>
            <a:endParaRPr sz="1725">
              <a:latin typeface="Arial"/>
              <a:ea typeface="Arial"/>
              <a:cs typeface="Arial"/>
              <a:sym typeface="Arial"/>
            </a:endParaRPr>
          </a:p>
          <a:p>
            <a:pPr indent="-338137" lvl="0" marL="457200" rtl="0" algn="l">
              <a:lnSpc>
                <a:spcPct val="105000"/>
              </a:lnSpc>
              <a:spcBef>
                <a:spcPts val="0"/>
              </a:spcBef>
              <a:spcAft>
                <a:spcPts val="0"/>
              </a:spcAft>
              <a:buSzPts val="1725"/>
              <a:buFont typeface="Arial"/>
              <a:buChar char="-"/>
            </a:pPr>
            <a:r>
              <a:rPr lang="en" sz="1725">
                <a:latin typeface="Arial"/>
                <a:ea typeface="Arial"/>
                <a:cs typeface="Arial"/>
                <a:sym typeface="Arial"/>
              </a:rPr>
              <a:t>(0 | 01) | 001 = 0 | 01 | 001 = {0, 01, 001}</a:t>
            </a:r>
            <a:endParaRPr sz="1725">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CONCATENATION Operator (</a:t>
            </a:r>
            <a:r>
              <a:rPr lang="en"/>
              <a:t>. or &lt;no symbol&gt;</a:t>
            </a:r>
            <a:r>
              <a:rPr lang="en"/>
              <a:t>)</a:t>
            </a:r>
            <a:endParaRPr/>
          </a:p>
        </p:txBody>
      </p:sp>
      <p:sp>
        <p:nvSpPr>
          <p:cNvPr id="101" name="Google Shape;101;p20"/>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100"/>
              <a:buNone/>
            </a:pPr>
            <a:r>
              <a:rPr b="1" lang="en" sz="1525">
                <a:solidFill>
                  <a:srgbClr val="FF0000"/>
                </a:solidFill>
                <a:latin typeface="Arial"/>
                <a:ea typeface="Arial"/>
                <a:cs typeface="Arial"/>
                <a:sym typeface="Arial"/>
              </a:rPr>
              <a:t>Definition : </a:t>
            </a:r>
            <a:r>
              <a:rPr lang="en" sz="1525">
                <a:latin typeface="Arial"/>
                <a:ea typeface="Arial"/>
                <a:cs typeface="Arial"/>
                <a:sym typeface="Arial"/>
              </a:rPr>
              <a:t>It is a binary operator but it is NOT like the and operator that you saw in Boolean algebra. </a:t>
            </a:r>
            <a:endParaRPr sz="1525">
              <a:latin typeface="Arial"/>
              <a:ea typeface="Arial"/>
              <a:cs typeface="Arial"/>
              <a:sym typeface="Arial"/>
            </a:endParaRPr>
          </a:p>
          <a:p>
            <a:pPr indent="0" lvl="0" marL="0" rtl="0" algn="l">
              <a:lnSpc>
                <a:spcPct val="105000"/>
              </a:lnSpc>
              <a:spcBef>
                <a:spcPts val="1200"/>
              </a:spcBef>
              <a:spcAft>
                <a:spcPts val="0"/>
              </a:spcAft>
              <a:buSzPts val="688"/>
              <a:buNone/>
            </a:pPr>
            <a:r>
              <a:rPr b="1" lang="en" sz="1525">
                <a:solidFill>
                  <a:srgbClr val="FF0000"/>
                </a:solidFill>
                <a:latin typeface="Arial"/>
                <a:ea typeface="Arial"/>
                <a:cs typeface="Arial"/>
                <a:sym typeface="Arial"/>
              </a:rPr>
              <a:t>Position :</a:t>
            </a:r>
            <a:r>
              <a:rPr lang="en" sz="1525">
                <a:latin typeface="Arial"/>
                <a:ea typeface="Arial"/>
                <a:cs typeface="Arial"/>
                <a:sym typeface="Arial"/>
              </a:rPr>
              <a:t> It sits between two things e.g. </a:t>
            </a:r>
            <a:r>
              <a:rPr b="1" lang="en" sz="1525">
                <a:latin typeface="Arial"/>
                <a:ea typeface="Arial"/>
                <a:cs typeface="Arial"/>
                <a:sym typeface="Arial"/>
              </a:rPr>
              <a:t>𝑅1 ⋅ 𝑅2</a:t>
            </a:r>
            <a:r>
              <a:rPr lang="en" sz="1525">
                <a:latin typeface="Arial"/>
                <a:ea typeface="Arial"/>
                <a:cs typeface="Arial"/>
                <a:sym typeface="Arial"/>
              </a:rPr>
              <a:t> where each of 𝑅1 and 𝑅2 can be any string, a symbol or even another RegEx. You can also write 𝑅1 and 𝑅2 side by side without any sign e.g. </a:t>
            </a:r>
            <a:r>
              <a:rPr b="1" lang="en" sz="1525">
                <a:latin typeface="Arial"/>
                <a:ea typeface="Arial"/>
                <a:cs typeface="Arial"/>
                <a:sym typeface="Arial"/>
              </a:rPr>
              <a:t>𝑅1𝑅2</a:t>
            </a:r>
            <a:r>
              <a:rPr lang="en" sz="1525">
                <a:latin typeface="Arial"/>
                <a:ea typeface="Arial"/>
                <a:cs typeface="Arial"/>
                <a:sym typeface="Arial"/>
              </a:rPr>
              <a:t>.</a:t>
            </a:r>
            <a:endParaRPr sz="1525">
              <a:latin typeface="Arial"/>
              <a:ea typeface="Arial"/>
              <a:cs typeface="Arial"/>
              <a:sym typeface="Arial"/>
            </a:endParaRPr>
          </a:p>
          <a:p>
            <a:pPr indent="0" lvl="0" marL="0" rtl="0" algn="l">
              <a:lnSpc>
                <a:spcPct val="105000"/>
              </a:lnSpc>
              <a:spcBef>
                <a:spcPts val="1200"/>
              </a:spcBef>
              <a:spcAft>
                <a:spcPts val="0"/>
              </a:spcAft>
              <a:buSzPts val="688"/>
              <a:buNone/>
            </a:pPr>
            <a:r>
              <a:rPr b="1" lang="en" sz="1525">
                <a:solidFill>
                  <a:srgbClr val="FF0000"/>
                </a:solidFill>
                <a:latin typeface="Arial"/>
                <a:ea typeface="Arial"/>
                <a:cs typeface="Arial"/>
                <a:sym typeface="Arial"/>
              </a:rPr>
              <a:t>Meaning :</a:t>
            </a:r>
            <a:r>
              <a:rPr lang="en" sz="1525">
                <a:latin typeface="Arial"/>
                <a:ea typeface="Arial"/>
                <a:cs typeface="Arial"/>
                <a:sym typeface="Arial"/>
              </a:rPr>
              <a:t> </a:t>
            </a:r>
            <a:r>
              <a:rPr lang="en" sz="1525">
                <a:latin typeface="Arial"/>
                <a:ea typeface="Arial"/>
                <a:cs typeface="Arial"/>
                <a:sym typeface="Arial"/>
              </a:rPr>
              <a:t> 𝑅1 or 𝑅2 means that you take the 𝑅1 first and then append 𝑅2 to the right.</a:t>
            </a:r>
            <a:endParaRPr sz="1525">
              <a:latin typeface="Arial"/>
              <a:ea typeface="Arial"/>
              <a:cs typeface="Arial"/>
              <a:sym typeface="Arial"/>
            </a:endParaRPr>
          </a:p>
          <a:p>
            <a:pPr indent="0" lvl="0" marL="0" rtl="0" algn="l">
              <a:lnSpc>
                <a:spcPct val="105000"/>
              </a:lnSpc>
              <a:spcBef>
                <a:spcPts val="1200"/>
              </a:spcBef>
              <a:spcAft>
                <a:spcPts val="0"/>
              </a:spcAft>
              <a:buSzPts val="688"/>
              <a:buNone/>
            </a:pPr>
            <a:r>
              <a:rPr b="1" lang="en" sz="1525">
                <a:solidFill>
                  <a:srgbClr val="FF0000"/>
                </a:solidFill>
                <a:latin typeface="Arial"/>
                <a:ea typeface="Arial"/>
                <a:cs typeface="Arial"/>
                <a:sym typeface="Arial"/>
              </a:rPr>
              <a:t>Examples :</a:t>
            </a:r>
            <a:r>
              <a:rPr lang="en" sz="1525">
                <a:latin typeface="Arial"/>
                <a:ea typeface="Arial"/>
                <a:cs typeface="Arial"/>
                <a:sym typeface="Arial"/>
              </a:rPr>
              <a:t> </a:t>
            </a:r>
            <a:endParaRPr sz="1525">
              <a:latin typeface="Arial"/>
              <a:ea typeface="Arial"/>
              <a:cs typeface="Arial"/>
              <a:sym typeface="Arial"/>
            </a:endParaRPr>
          </a:p>
          <a:p>
            <a:pPr indent="-325437" lvl="0" marL="457200" rtl="0" algn="l">
              <a:lnSpc>
                <a:spcPct val="105000"/>
              </a:lnSpc>
              <a:spcBef>
                <a:spcPts val="1200"/>
              </a:spcBef>
              <a:spcAft>
                <a:spcPts val="0"/>
              </a:spcAft>
              <a:buSzPts val="1525"/>
              <a:buFont typeface="Arial"/>
              <a:buChar char="-"/>
            </a:pPr>
            <a:r>
              <a:rPr lang="en" sz="1525">
                <a:latin typeface="Arial"/>
                <a:ea typeface="Arial"/>
                <a:cs typeface="Arial"/>
                <a:sym typeface="Arial"/>
              </a:rPr>
              <a:t>𝑎 ⋅ 𝑏 = {𝑎𝑏}</a:t>
            </a:r>
            <a:endParaRPr sz="1525">
              <a:latin typeface="Arial"/>
              <a:ea typeface="Arial"/>
              <a:cs typeface="Arial"/>
              <a:sym typeface="Arial"/>
            </a:endParaRPr>
          </a:p>
          <a:p>
            <a:pPr indent="-325437" lvl="0" marL="457200" rtl="0" algn="l">
              <a:lnSpc>
                <a:spcPct val="105000"/>
              </a:lnSpc>
              <a:spcBef>
                <a:spcPts val="0"/>
              </a:spcBef>
              <a:spcAft>
                <a:spcPts val="0"/>
              </a:spcAft>
              <a:buSzPts val="1525"/>
              <a:buFont typeface="Arial"/>
              <a:buChar char="-"/>
            </a:pPr>
            <a:r>
              <a:rPr lang="en" sz="1525">
                <a:latin typeface="Arial"/>
                <a:ea typeface="Arial"/>
                <a:cs typeface="Arial"/>
                <a:sym typeface="Arial"/>
              </a:rPr>
              <a:t>𝑎𝑎 ⋅ 𝑏 = {𝑎𝑎𝑏}</a:t>
            </a:r>
            <a:endParaRPr sz="1525">
              <a:latin typeface="Arial"/>
              <a:ea typeface="Arial"/>
              <a:cs typeface="Arial"/>
              <a:sym typeface="Arial"/>
            </a:endParaRPr>
          </a:p>
          <a:p>
            <a:pPr indent="-325437" lvl="0" marL="457200" rtl="0" algn="l">
              <a:lnSpc>
                <a:spcPct val="105000"/>
              </a:lnSpc>
              <a:spcBef>
                <a:spcPts val="0"/>
              </a:spcBef>
              <a:spcAft>
                <a:spcPts val="0"/>
              </a:spcAft>
              <a:buSzPts val="1525"/>
              <a:buFont typeface="Arial"/>
              <a:buChar char="-"/>
            </a:pPr>
            <a:r>
              <a:rPr lang="en" sz="1525">
                <a:latin typeface="Arial"/>
                <a:ea typeface="Arial"/>
                <a:cs typeface="Arial"/>
                <a:sym typeface="Arial"/>
              </a:rPr>
              <a:t>ℎ𝑒𝑙𝑙𝑜 ⋅ ℎ𝑖 = {ℎ𝑒𝑙𝑙𝑜ℎ𝑖}</a:t>
            </a:r>
            <a:endParaRPr sz="1525">
              <a:latin typeface="Arial"/>
              <a:ea typeface="Arial"/>
              <a:cs typeface="Arial"/>
              <a:sym typeface="Arial"/>
            </a:endParaRPr>
          </a:p>
          <a:p>
            <a:pPr indent="-325437" lvl="0" marL="457200" rtl="0" algn="l">
              <a:lnSpc>
                <a:spcPct val="105000"/>
              </a:lnSpc>
              <a:spcBef>
                <a:spcPts val="0"/>
              </a:spcBef>
              <a:spcAft>
                <a:spcPts val="0"/>
              </a:spcAft>
              <a:buSzPts val="1525"/>
              <a:buFont typeface="Arial"/>
              <a:buChar char="-"/>
            </a:pPr>
            <a:r>
              <a:rPr lang="en" sz="1525">
                <a:latin typeface="Arial"/>
                <a:ea typeface="Arial"/>
                <a:cs typeface="Arial"/>
                <a:sym typeface="Arial"/>
              </a:rPr>
              <a:t>(0 ⋅ 01) ⋅ 001 = 0 ⋅ 01 ⋅ 001 = {001001}</a:t>
            </a:r>
            <a:endParaRPr sz="1525">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Combination of Concatenation and OR</a:t>
            </a:r>
            <a:endParaRPr/>
          </a:p>
        </p:txBody>
      </p:sp>
      <p:sp>
        <p:nvSpPr>
          <p:cNvPr id="107" name="Google Shape;107;p21"/>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725">
                <a:solidFill>
                  <a:srgbClr val="FF0000"/>
                </a:solidFill>
                <a:latin typeface="Arial"/>
                <a:ea typeface="Arial"/>
                <a:cs typeface="Arial"/>
                <a:sym typeface="Arial"/>
              </a:rPr>
              <a:t>Position :</a:t>
            </a:r>
            <a:r>
              <a:rPr lang="en" sz="1725">
                <a:latin typeface="Arial"/>
                <a:ea typeface="Arial"/>
                <a:cs typeface="Arial"/>
                <a:sym typeface="Arial"/>
              </a:rPr>
              <a:t>  It sits between two things e.g. 𝑅1|𝑅2 where each of 𝑅1 and 𝑅2 can be any string, a symbol or even another RegEx. You can also write them using + sign e.g. 𝑅1 + 𝑅2.</a:t>
            </a:r>
            <a:endParaRPr sz="1725">
              <a:latin typeface="Arial"/>
              <a:ea typeface="Arial"/>
              <a:cs typeface="Arial"/>
              <a:sym typeface="Arial"/>
            </a:endParaRPr>
          </a:p>
          <a:p>
            <a:pPr indent="0" lvl="0" marL="0" rtl="0" algn="l">
              <a:lnSpc>
                <a:spcPct val="105000"/>
              </a:lnSpc>
              <a:spcBef>
                <a:spcPts val="1200"/>
              </a:spcBef>
              <a:spcAft>
                <a:spcPts val="0"/>
              </a:spcAft>
              <a:buSzPts val="688"/>
              <a:buNone/>
            </a:pPr>
            <a:r>
              <a:rPr b="1" lang="en" sz="1725">
                <a:solidFill>
                  <a:srgbClr val="FF0000"/>
                </a:solidFill>
                <a:latin typeface="Arial"/>
                <a:ea typeface="Arial"/>
                <a:cs typeface="Arial"/>
                <a:sym typeface="Arial"/>
              </a:rPr>
              <a:t>Meaning :</a:t>
            </a:r>
            <a:r>
              <a:rPr lang="en" sz="1725">
                <a:latin typeface="Arial"/>
                <a:ea typeface="Arial"/>
                <a:cs typeface="Arial"/>
                <a:sym typeface="Arial"/>
              </a:rPr>
              <a:t> 𝑅1 or 𝑅2 means that you may take the one from the left or the one from the right. If you take the one from the left, you get 𝑅1, and if you take the one from the right, you get 𝑅2.</a:t>
            </a:r>
            <a:endParaRPr sz="1725">
              <a:latin typeface="Arial"/>
              <a:ea typeface="Arial"/>
              <a:cs typeface="Arial"/>
              <a:sym typeface="Arial"/>
            </a:endParaRPr>
          </a:p>
          <a:p>
            <a:pPr indent="0" lvl="0" marL="0" rtl="0" algn="l">
              <a:lnSpc>
                <a:spcPct val="105000"/>
              </a:lnSpc>
              <a:spcBef>
                <a:spcPts val="1200"/>
              </a:spcBef>
              <a:spcAft>
                <a:spcPts val="0"/>
              </a:spcAft>
              <a:buSzPts val="688"/>
              <a:buNone/>
            </a:pPr>
            <a:r>
              <a:rPr b="1" lang="en" sz="1725">
                <a:solidFill>
                  <a:srgbClr val="FF0000"/>
                </a:solidFill>
                <a:latin typeface="Arial"/>
                <a:ea typeface="Arial"/>
                <a:cs typeface="Arial"/>
                <a:sym typeface="Arial"/>
              </a:rPr>
              <a:t>Examples :</a:t>
            </a:r>
            <a:r>
              <a:rPr lang="en" sz="1725">
                <a:latin typeface="Arial"/>
                <a:ea typeface="Arial"/>
                <a:cs typeface="Arial"/>
                <a:sym typeface="Arial"/>
              </a:rPr>
              <a:t> </a:t>
            </a:r>
            <a:endParaRPr sz="1725">
              <a:latin typeface="Arial"/>
              <a:ea typeface="Arial"/>
              <a:cs typeface="Arial"/>
              <a:sym typeface="Arial"/>
            </a:endParaRPr>
          </a:p>
          <a:p>
            <a:pPr indent="-338137" lvl="0" marL="457200" rtl="0" algn="l">
              <a:lnSpc>
                <a:spcPct val="105000"/>
              </a:lnSpc>
              <a:spcBef>
                <a:spcPts val="1200"/>
              </a:spcBef>
              <a:spcAft>
                <a:spcPts val="0"/>
              </a:spcAft>
              <a:buSzPts val="1725"/>
              <a:buFont typeface="Arial"/>
              <a:buChar char="-"/>
            </a:pPr>
            <a:r>
              <a:rPr lang="en" sz="1725">
                <a:latin typeface="Arial"/>
                <a:ea typeface="Arial"/>
                <a:cs typeface="Arial"/>
                <a:sym typeface="Arial"/>
              </a:rPr>
              <a:t>𝑎 | 𝑏 = {𝑎, 𝑏}</a:t>
            </a:r>
            <a:endParaRPr sz="1725">
              <a:latin typeface="Arial"/>
              <a:ea typeface="Arial"/>
              <a:cs typeface="Arial"/>
              <a:sym typeface="Arial"/>
            </a:endParaRPr>
          </a:p>
          <a:p>
            <a:pPr indent="-338137" lvl="0" marL="457200" rtl="0" algn="l">
              <a:lnSpc>
                <a:spcPct val="105000"/>
              </a:lnSpc>
              <a:spcBef>
                <a:spcPts val="0"/>
              </a:spcBef>
              <a:spcAft>
                <a:spcPts val="0"/>
              </a:spcAft>
              <a:buSzPts val="1725"/>
              <a:buFont typeface="Arial"/>
              <a:buChar char="-"/>
            </a:pPr>
            <a:r>
              <a:rPr lang="en" sz="1725">
                <a:latin typeface="Arial"/>
                <a:ea typeface="Arial"/>
                <a:cs typeface="Arial"/>
                <a:sym typeface="Arial"/>
              </a:rPr>
              <a:t>𝑎𝑎 | 𝑏 = {𝑎𝑎, 𝑏}</a:t>
            </a:r>
            <a:endParaRPr sz="1725">
              <a:latin typeface="Arial"/>
              <a:ea typeface="Arial"/>
              <a:cs typeface="Arial"/>
              <a:sym typeface="Arial"/>
            </a:endParaRPr>
          </a:p>
          <a:p>
            <a:pPr indent="-338137" lvl="0" marL="457200" rtl="0" algn="l">
              <a:lnSpc>
                <a:spcPct val="105000"/>
              </a:lnSpc>
              <a:spcBef>
                <a:spcPts val="0"/>
              </a:spcBef>
              <a:spcAft>
                <a:spcPts val="0"/>
              </a:spcAft>
              <a:buSzPts val="1725"/>
              <a:buFont typeface="Arial"/>
              <a:buChar char="-"/>
            </a:pPr>
            <a:r>
              <a:rPr lang="en" sz="1725">
                <a:latin typeface="Arial"/>
                <a:ea typeface="Arial"/>
                <a:cs typeface="Arial"/>
                <a:sym typeface="Arial"/>
              </a:rPr>
              <a:t>ℎ𝑒𝑙𝑙𝑜 | ℎ𝑖 = {ℎ𝑒𝑙𝑙𝑜, ℎ𝑖}</a:t>
            </a:r>
            <a:endParaRPr sz="1725">
              <a:latin typeface="Arial"/>
              <a:ea typeface="Arial"/>
              <a:cs typeface="Arial"/>
              <a:sym typeface="Arial"/>
            </a:endParaRPr>
          </a:p>
          <a:p>
            <a:pPr indent="-338137" lvl="0" marL="457200" rtl="0" algn="l">
              <a:lnSpc>
                <a:spcPct val="105000"/>
              </a:lnSpc>
              <a:spcBef>
                <a:spcPts val="0"/>
              </a:spcBef>
              <a:spcAft>
                <a:spcPts val="0"/>
              </a:spcAft>
              <a:buSzPts val="1725"/>
              <a:buFont typeface="Arial"/>
              <a:buChar char="-"/>
            </a:pPr>
            <a:r>
              <a:rPr lang="en" sz="1725">
                <a:latin typeface="Arial"/>
                <a:ea typeface="Arial"/>
                <a:cs typeface="Arial"/>
                <a:sym typeface="Arial"/>
              </a:rPr>
              <a:t>(0 | 01) | 001 = 0 | 01 | 001 = {0, 01, 001}</a:t>
            </a:r>
            <a:endParaRPr sz="1725">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RegEx Equivalence with Finite Automata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Formal Definition of Regular Expressions</a:t>
            </a:r>
            <a:endParaRPr/>
          </a:p>
        </p:txBody>
      </p:sp>
      <p:sp>
        <p:nvSpPr>
          <p:cNvPr id="118" name="Google Shape;118;p23"/>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225">
                <a:solidFill>
                  <a:srgbClr val="FF0000"/>
                </a:solidFill>
                <a:latin typeface="Arial"/>
                <a:ea typeface="Arial"/>
                <a:cs typeface="Arial"/>
                <a:sym typeface="Arial"/>
              </a:rPr>
              <a:t>Formal Definition:</a:t>
            </a:r>
            <a:r>
              <a:rPr lang="en" sz="1225">
                <a:latin typeface="Arial"/>
                <a:ea typeface="Arial"/>
                <a:cs typeface="Arial"/>
                <a:sym typeface="Arial"/>
              </a:rPr>
              <a:t>  Say that </a:t>
            </a:r>
            <a:r>
              <a:rPr i="1" lang="en" sz="1225">
                <a:latin typeface="Arial"/>
                <a:ea typeface="Arial"/>
                <a:cs typeface="Arial"/>
                <a:sym typeface="Arial"/>
              </a:rPr>
              <a:t>R</a:t>
            </a:r>
            <a:r>
              <a:rPr lang="en" sz="1225">
                <a:latin typeface="Arial"/>
                <a:ea typeface="Arial"/>
                <a:cs typeface="Arial"/>
                <a:sym typeface="Arial"/>
              </a:rPr>
              <a:t> is a </a:t>
            </a:r>
            <a:r>
              <a:rPr b="1" i="1" lang="en" sz="1225">
                <a:latin typeface="Arial"/>
                <a:ea typeface="Arial"/>
                <a:cs typeface="Arial"/>
                <a:sym typeface="Arial"/>
              </a:rPr>
              <a:t>regular expression</a:t>
            </a:r>
            <a:r>
              <a:rPr lang="en" sz="1225">
                <a:latin typeface="Arial"/>
                <a:ea typeface="Arial"/>
                <a:cs typeface="Arial"/>
                <a:sym typeface="Arial"/>
              </a:rPr>
              <a:t> if </a:t>
            </a:r>
            <a:r>
              <a:rPr i="1" lang="en" sz="1225">
                <a:latin typeface="Arial"/>
                <a:ea typeface="Arial"/>
                <a:cs typeface="Arial"/>
                <a:sym typeface="Arial"/>
              </a:rPr>
              <a:t>R</a:t>
            </a:r>
            <a:r>
              <a:rPr lang="en" sz="1225">
                <a:latin typeface="Arial"/>
                <a:ea typeface="Arial"/>
                <a:cs typeface="Arial"/>
                <a:sym typeface="Arial"/>
              </a:rPr>
              <a:t> is</a:t>
            </a:r>
            <a:endParaRPr sz="1225">
              <a:latin typeface="Arial"/>
              <a:ea typeface="Arial"/>
              <a:cs typeface="Arial"/>
              <a:sym typeface="Arial"/>
            </a:endParaRPr>
          </a:p>
          <a:p>
            <a:pPr indent="-306387" lvl="0" marL="914400" rtl="0" algn="l">
              <a:lnSpc>
                <a:spcPct val="105000"/>
              </a:lnSpc>
              <a:spcBef>
                <a:spcPts val="1200"/>
              </a:spcBef>
              <a:spcAft>
                <a:spcPts val="0"/>
              </a:spcAft>
              <a:buSzPts val="1225"/>
              <a:buFont typeface="Arial"/>
              <a:buAutoNum type="arabicPeriod"/>
            </a:pPr>
            <a:r>
              <a:rPr lang="en" sz="1225">
                <a:latin typeface="Arial"/>
                <a:ea typeface="Arial"/>
                <a:cs typeface="Arial"/>
                <a:sym typeface="Arial"/>
              </a:rPr>
              <a:t>a for some a in the alphabet Σ,</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ε,</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(R1 ∪ R2), where R1 and R2 are regular expressions, </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(R1 ◦ R2), where R1 and R2 are regular expressions, or </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(R1 ∗), where R1 is a regular expression.</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225">
                <a:latin typeface="Arial"/>
                <a:ea typeface="Arial"/>
                <a:cs typeface="Arial"/>
                <a:sym typeface="Arial"/>
              </a:rPr>
              <a:t>● In items 1 and 2, the regular expressions a and ε represent the languages {a} and {ε}, respectively.</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225">
                <a:latin typeface="Arial"/>
                <a:ea typeface="Arial"/>
                <a:cs typeface="Arial"/>
                <a:sym typeface="Arial"/>
              </a:rPr>
              <a:t>● In item 3, the regular expression ∅ represents the empty language.</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225">
                <a:latin typeface="Arial"/>
                <a:ea typeface="Arial"/>
                <a:cs typeface="Arial"/>
                <a:sym typeface="Arial"/>
              </a:rPr>
              <a:t>● In items 4, 5, and 6, the expressions represent the languages obtained by taking the union or concatenation of the languages R1 and R2, or the star of the language R1, respectively.</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225">
                <a:latin typeface="Arial"/>
                <a:ea typeface="Arial"/>
                <a:cs typeface="Arial"/>
                <a:sym typeface="Arial"/>
              </a:rPr>
              <a:t>● For convenience, we let R+ be shorthand for RR∗</a:t>
            </a:r>
            <a:endParaRPr sz="1225">
              <a:latin typeface="Arial"/>
              <a:ea typeface="Arial"/>
              <a:cs typeface="Arial"/>
              <a:sym typeface="Arial"/>
            </a:endParaRPr>
          </a:p>
          <a:p>
            <a:pPr indent="0" lvl="0" marL="0" rtl="0" algn="l">
              <a:lnSpc>
                <a:spcPct val="105000"/>
              </a:lnSpc>
              <a:spcBef>
                <a:spcPts val="1200"/>
              </a:spcBef>
              <a:spcAft>
                <a:spcPts val="0"/>
              </a:spcAft>
              <a:buClr>
                <a:schemeClr val="dk2"/>
              </a:buClr>
              <a:buSzPts val="1100"/>
              <a:buFont typeface="Arial"/>
              <a:buNone/>
            </a:pPr>
            <a:r>
              <a:rPr lang="en" sz="1225">
                <a:latin typeface="Arial"/>
                <a:ea typeface="Arial"/>
                <a:cs typeface="Arial"/>
                <a:sym typeface="Arial"/>
              </a:rPr>
              <a:t>● In addition, we let Rk be shorthand for the concatenation of k R’s with each other.</a:t>
            </a:r>
            <a:endParaRPr sz="1225">
              <a:latin typeface="Arial"/>
              <a:ea typeface="Arial"/>
              <a:cs typeface="Arial"/>
              <a:sym typeface="Arial"/>
            </a:endParaRPr>
          </a:p>
          <a:p>
            <a:pPr indent="0" lvl="0" marL="0" rtl="0" algn="l">
              <a:lnSpc>
                <a:spcPct val="105000"/>
              </a:lnSpc>
              <a:spcBef>
                <a:spcPts val="1200"/>
              </a:spcBef>
              <a:spcAft>
                <a:spcPts val="1200"/>
              </a:spcAft>
              <a:buClr>
                <a:schemeClr val="dk2"/>
              </a:buClr>
              <a:buSzPts val="688"/>
              <a:buFont typeface="Arial"/>
              <a:buNone/>
            </a:pPr>
            <a:r>
              <a:t/>
            </a:r>
            <a:endParaRPr sz="1225">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(Examples)</a:t>
            </a:r>
            <a:endParaRPr/>
          </a:p>
        </p:txBody>
      </p:sp>
      <p:sp>
        <p:nvSpPr>
          <p:cNvPr id="124" name="Google Shape;124;p24"/>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225">
                <a:solidFill>
                  <a:srgbClr val="FF0000"/>
                </a:solidFill>
                <a:latin typeface="Arial"/>
                <a:ea typeface="Arial"/>
                <a:cs typeface="Arial"/>
                <a:sym typeface="Arial"/>
              </a:rPr>
              <a:t>Examples</a:t>
            </a:r>
            <a:r>
              <a:rPr b="1" lang="en" sz="1225">
                <a:solidFill>
                  <a:srgbClr val="FF0000"/>
                </a:solidFill>
                <a:latin typeface="Arial"/>
                <a:ea typeface="Arial"/>
                <a:cs typeface="Arial"/>
                <a:sym typeface="Arial"/>
              </a:rPr>
              <a:t>:</a:t>
            </a:r>
            <a:r>
              <a:rPr lang="en" sz="1225">
                <a:latin typeface="Arial"/>
                <a:ea typeface="Arial"/>
                <a:cs typeface="Arial"/>
                <a:sym typeface="Arial"/>
              </a:rPr>
              <a:t>  </a:t>
            </a:r>
            <a:r>
              <a:rPr lang="en" sz="1225">
                <a:latin typeface="Arial"/>
                <a:ea typeface="Arial"/>
                <a:cs typeface="Arial"/>
                <a:sym typeface="Arial"/>
              </a:rPr>
              <a:t>In the following instances, we assume that the alphabet Σ is {0,1}.</a:t>
            </a:r>
            <a:endParaRPr sz="1225">
              <a:latin typeface="Arial"/>
              <a:ea typeface="Arial"/>
              <a:cs typeface="Arial"/>
              <a:sym typeface="Arial"/>
            </a:endParaRPr>
          </a:p>
          <a:p>
            <a:pPr indent="-306387" lvl="0" marL="914400" rtl="0" algn="l">
              <a:lnSpc>
                <a:spcPct val="105000"/>
              </a:lnSpc>
              <a:spcBef>
                <a:spcPts val="1200"/>
              </a:spcBef>
              <a:spcAft>
                <a:spcPts val="0"/>
              </a:spcAft>
              <a:buSzPts val="1225"/>
              <a:buFont typeface="Arial"/>
              <a:buAutoNum type="arabicPeriod"/>
            </a:pPr>
            <a:r>
              <a:rPr lang="en" sz="1225">
                <a:latin typeface="Arial"/>
                <a:ea typeface="Arial"/>
                <a:cs typeface="Arial"/>
                <a:sym typeface="Arial"/>
              </a:rPr>
              <a:t>0∗ 1 0∗ = {w| w contains a single 1}.</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Σ∗ 1 Σ∗ = {w| w has at least one 1}.</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Σ∗ 001 Σ∗ = {w| w contains the string 001 as a substring}.</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1∗ (01+)∗</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(ΣΣ)∗ = {w| w is a string of even length}.</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(ΣΣΣ)∗ = {w| the length of w is a multiple of 3}.</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01 ∪ 10 = {01, 10}.</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(0 Σ∗ 0) ∪ (1 Σ∗ 1) ∪ 0 ∪ 1 = {w| w starts and ends with the same symbol}.</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(0 ∪ ε)1∗ = 01∗ ∪ 1∗. Note: The expression 0 ∪ ε describes the language {0, ε}, so the concatenation operation adds either 0 or ε before every string in 1∗.</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(0 ∪ ε)(1 ∪ ε) = {ε, 0, 1, 01}.</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1∗∅ = ∅. Note: Concatenating the empty set to any set yields the empty set.</a:t>
            </a:r>
            <a:endParaRPr sz="1225">
              <a:latin typeface="Arial"/>
              <a:ea typeface="Arial"/>
              <a:cs typeface="Arial"/>
              <a:sym typeface="Arial"/>
            </a:endParaRPr>
          </a:p>
          <a:p>
            <a:pPr indent="-306387" lvl="0" marL="914400" rtl="0" algn="l">
              <a:lnSpc>
                <a:spcPct val="105000"/>
              </a:lnSpc>
              <a:spcBef>
                <a:spcPts val="0"/>
              </a:spcBef>
              <a:spcAft>
                <a:spcPts val="0"/>
              </a:spcAft>
              <a:buSzPts val="1225"/>
              <a:buFont typeface="Arial"/>
              <a:buAutoNum type="arabicPeriod"/>
            </a:pPr>
            <a:r>
              <a:rPr lang="en" sz="1225">
                <a:latin typeface="Arial"/>
                <a:ea typeface="Arial"/>
                <a:cs typeface="Arial"/>
                <a:sym typeface="Arial"/>
              </a:rPr>
              <a:t>∅∗ = {ε}. Note: The star operation puts together any number of strings from the language to get a string in the result. If the language is empty, the star operation can put together 0 strings, giving only the empty string.</a:t>
            </a:r>
            <a:endParaRPr sz="1225">
              <a:latin typeface="Arial"/>
              <a:ea typeface="Arial"/>
              <a:cs typeface="Arial"/>
              <a:sym typeface="Arial"/>
            </a:endParaRPr>
          </a:p>
          <a:p>
            <a:pPr indent="0" lvl="0" marL="0" rtl="0" algn="l">
              <a:lnSpc>
                <a:spcPct val="105000"/>
              </a:lnSpc>
              <a:spcBef>
                <a:spcPts val="1200"/>
              </a:spcBef>
              <a:spcAft>
                <a:spcPts val="0"/>
              </a:spcAft>
              <a:buNone/>
            </a:pPr>
            <a:r>
              <a:t/>
            </a:r>
            <a:endParaRPr sz="1225">
              <a:latin typeface="Arial"/>
              <a:ea typeface="Arial"/>
              <a:cs typeface="Arial"/>
              <a:sym typeface="Arial"/>
            </a:endParaRPr>
          </a:p>
          <a:p>
            <a:pPr indent="0" lvl="0" marL="0" rtl="0" algn="l">
              <a:lnSpc>
                <a:spcPct val="105000"/>
              </a:lnSpc>
              <a:spcBef>
                <a:spcPts val="1200"/>
              </a:spcBef>
              <a:spcAft>
                <a:spcPts val="1200"/>
              </a:spcAft>
              <a:buClr>
                <a:schemeClr val="dk2"/>
              </a:buClr>
              <a:buSzPts val="688"/>
              <a:buFont typeface="Arial"/>
              <a:buNone/>
            </a:pPr>
            <a:r>
              <a:t/>
            </a:r>
            <a:endParaRPr sz="1225">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(Identities)</a:t>
            </a:r>
            <a:endParaRPr/>
          </a:p>
        </p:txBody>
      </p:sp>
      <p:sp>
        <p:nvSpPr>
          <p:cNvPr id="130" name="Google Shape;130;p25"/>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425">
                <a:solidFill>
                  <a:srgbClr val="FF0000"/>
                </a:solidFill>
                <a:latin typeface="Arial"/>
                <a:ea typeface="Arial"/>
                <a:cs typeface="Arial"/>
                <a:sym typeface="Arial"/>
              </a:rPr>
              <a:t>Identities</a:t>
            </a:r>
            <a:r>
              <a:rPr b="1" lang="en" sz="1425">
                <a:solidFill>
                  <a:srgbClr val="FF0000"/>
                </a:solidFill>
                <a:latin typeface="Arial"/>
                <a:ea typeface="Arial"/>
                <a:cs typeface="Arial"/>
                <a:sym typeface="Arial"/>
              </a:rPr>
              <a:t>:</a:t>
            </a:r>
            <a:r>
              <a:rPr lang="en" sz="1425">
                <a:latin typeface="Arial"/>
                <a:ea typeface="Arial"/>
                <a:cs typeface="Arial"/>
                <a:sym typeface="Arial"/>
              </a:rPr>
              <a:t>  </a:t>
            </a:r>
            <a:r>
              <a:rPr lang="en" sz="1425">
                <a:latin typeface="Arial"/>
                <a:ea typeface="Arial"/>
                <a:cs typeface="Arial"/>
                <a:sym typeface="Arial"/>
              </a:rPr>
              <a:t>If we let R be any regular expression, we have the following identities. They are good tests of whether you understand the definition.</a:t>
            </a:r>
            <a:endParaRPr sz="14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425">
                <a:latin typeface="Arial"/>
                <a:ea typeface="Arial"/>
                <a:cs typeface="Arial"/>
                <a:sym typeface="Arial"/>
              </a:rPr>
              <a:t>● </a:t>
            </a:r>
            <a:r>
              <a:rPr lang="en" sz="1425">
                <a:latin typeface="Arial"/>
                <a:ea typeface="Arial"/>
                <a:cs typeface="Arial"/>
                <a:sym typeface="Arial"/>
              </a:rPr>
              <a:t>R ∪ ∅ = R.</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Adding the empty language to any other language will not change it.</a:t>
            </a:r>
            <a:endParaRPr sz="1425">
              <a:latin typeface="Arial"/>
              <a:ea typeface="Arial"/>
              <a:cs typeface="Arial"/>
              <a:sym typeface="Arial"/>
            </a:endParaRPr>
          </a:p>
          <a:p>
            <a:pPr indent="0" lvl="0" marL="0" rtl="0" algn="l">
              <a:lnSpc>
                <a:spcPct val="105000"/>
              </a:lnSpc>
              <a:spcBef>
                <a:spcPts val="1200"/>
              </a:spcBef>
              <a:spcAft>
                <a:spcPts val="0"/>
              </a:spcAft>
              <a:buNone/>
            </a:pPr>
            <a:r>
              <a:rPr lang="en" sz="1425">
                <a:latin typeface="Arial"/>
                <a:ea typeface="Arial"/>
                <a:cs typeface="Arial"/>
                <a:sym typeface="Arial"/>
              </a:rPr>
              <a:t>● R ◦ ε = R.</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Joining the empty string to any string will not change it.</a:t>
            </a:r>
            <a:endParaRPr sz="1425">
              <a:latin typeface="Arial"/>
              <a:ea typeface="Arial"/>
              <a:cs typeface="Arial"/>
              <a:sym typeface="Arial"/>
            </a:endParaRPr>
          </a:p>
          <a:p>
            <a:pPr indent="0" lvl="0" marL="0" rtl="0" algn="l">
              <a:lnSpc>
                <a:spcPct val="105000"/>
              </a:lnSpc>
              <a:spcBef>
                <a:spcPts val="1200"/>
              </a:spcBef>
              <a:spcAft>
                <a:spcPts val="0"/>
              </a:spcAft>
              <a:buNone/>
            </a:pPr>
            <a:r>
              <a:rPr lang="en" sz="1425">
                <a:latin typeface="Arial"/>
                <a:ea typeface="Arial"/>
                <a:cs typeface="Arial"/>
                <a:sym typeface="Arial"/>
              </a:rPr>
              <a:t>● R ∪ ε may not equal R.</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For example, if R = 0, then L(R) = {0} but L(R ∪ ε) = {0, ε}.</a:t>
            </a:r>
            <a:endParaRPr sz="1425">
              <a:latin typeface="Arial"/>
              <a:ea typeface="Arial"/>
              <a:cs typeface="Arial"/>
              <a:sym typeface="Arial"/>
            </a:endParaRPr>
          </a:p>
          <a:p>
            <a:pPr indent="0" lvl="0" marL="0" rtl="0" algn="l">
              <a:lnSpc>
                <a:spcPct val="105000"/>
              </a:lnSpc>
              <a:spcBef>
                <a:spcPts val="1200"/>
              </a:spcBef>
              <a:spcAft>
                <a:spcPts val="0"/>
              </a:spcAft>
              <a:buNone/>
            </a:pPr>
            <a:r>
              <a:rPr lang="en" sz="1425">
                <a:latin typeface="Arial"/>
                <a:ea typeface="Arial"/>
                <a:cs typeface="Arial"/>
                <a:sym typeface="Arial"/>
              </a:rPr>
              <a:t>● R ◦ ∅ may not equal R.</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For example, if R = 0, then L(R) = {0} but L(R ◦ ∅) = ∅.</a:t>
            </a:r>
            <a:endParaRPr sz="1425">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and Finite Automata Equivalence</a:t>
            </a:r>
            <a:endParaRPr/>
          </a:p>
        </p:txBody>
      </p:sp>
      <p:sp>
        <p:nvSpPr>
          <p:cNvPr id="136" name="Google Shape;136;p26"/>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525">
                <a:solidFill>
                  <a:srgbClr val="FF0000"/>
                </a:solidFill>
                <a:latin typeface="Arial"/>
                <a:ea typeface="Arial"/>
                <a:cs typeface="Arial"/>
                <a:sym typeface="Arial"/>
              </a:rPr>
              <a:t>Theorem:</a:t>
            </a:r>
            <a:r>
              <a:rPr lang="en" sz="1525">
                <a:latin typeface="Arial"/>
                <a:ea typeface="Arial"/>
                <a:cs typeface="Arial"/>
                <a:sym typeface="Arial"/>
              </a:rPr>
              <a:t>  </a:t>
            </a:r>
            <a:r>
              <a:rPr lang="en" sz="1525">
                <a:latin typeface="Arial"/>
                <a:ea typeface="Arial"/>
                <a:cs typeface="Arial"/>
                <a:sym typeface="Arial"/>
              </a:rPr>
              <a:t>A language is regular if and only if some regular expression describes it. This theorem has two directions. We state and prove each direction as a separate lemma.</a:t>
            </a:r>
            <a:endParaRPr sz="1525">
              <a:latin typeface="Arial"/>
              <a:ea typeface="Arial"/>
              <a:cs typeface="Arial"/>
              <a:sym typeface="Arial"/>
            </a:endParaRPr>
          </a:p>
          <a:p>
            <a:pPr indent="0" lvl="0" marL="0" rtl="0" algn="l">
              <a:lnSpc>
                <a:spcPct val="105000"/>
              </a:lnSpc>
              <a:spcBef>
                <a:spcPts val="1200"/>
              </a:spcBef>
              <a:spcAft>
                <a:spcPts val="0"/>
              </a:spcAft>
              <a:buClr>
                <a:schemeClr val="dk2"/>
              </a:buClr>
              <a:buSzPts val="688"/>
              <a:buFont typeface="Arial"/>
              <a:buNone/>
            </a:pPr>
            <a:r>
              <a:rPr lang="en" sz="1525">
                <a:latin typeface="Arial"/>
                <a:ea typeface="Arial"/>
                <a:cs typeface="Arial"/>
                <a:sym typeface="Arial"/>
              </a:rPr>
              <a:t>● Lemma-1</a:t>
            </a:r>
            <a:endParaRPr sz="1525">
              <a:latin typeface="Arial"/>
              <a:ea typeface="Arial"/>
              <a:cs typeface="Arial"/>
              <a:sym typeface="Arial"/>
            </a:endParaRPr>
          </a:p>
          <a:p>
            <a:pPr indent="-325437" lvl="0" marL="914400" rtl="0" algn="l">
              <a:lnSpc>
                <a:spcPct val="105000"/>
              </a:lnSpc>
              <a:spcBef>
                <a:spcPts val="1200"/>
              </a:spcBef>
              <a:spcAft>
                <a:spcPts val="0"/>
              </a:spcAft>
              <a:buSzPts val="1525"/>
              <a:buFont typeface="Arial"/>
              <a:buChar char="-"/>
            </a:pPr>
            <a:r>
              <a:rPr lang="en" sz="1525">
                <a:latin typeface="Arial"/>
                <a:ea typeface="Arial"/>
                <a:cs typeface="Arial"/>
                <a:sym typeface="Arial"/>
              </a:rPr>
              <a:t>If a language is described by a regular expression, then it is regular. (RegEx to NFA)</a:t>
            </a:r>
            <a:endParaRPr sz="1525">
              <a:latin typeface="Arial"/>
              <a:ea typeface="Arial"/>
              <a:cs typeface="Arial"/>
              <a:sym typeface="Arial"/>
            </a:endParaRPr>
          </a:p>
          <a:p>
            <a:pPr indent="0" lvl="0" marL="0" rtl="0" algn="l">
              <a:lnSpc>
                <a:spcPct val="105000"/>
              </a:lnSpc>
              <a:spcBef>
                <a:spcPts val="1200"/>
              </a:spcBef>
              <a:spcAft>
                <a:spcPts val="0"/>
              </a:spcAft>
              <a:buNone/>
            </a:pPr>
            <a:r>
              <a:rPr lang="en" sz="1525">
                <a:latin typeface="Arial"/>
                <a:ea typeface="Arial"/>
                <a:cs typeface="Arial"/>
                <a:sym typeface="Arial"/>
              </a:rPr>
              <a:t>● Lemma-2</a:t>
            </a:r>
            <a:endParaRPr sz="1525">
              <a:latin typeface="Arial"/>
              <a:ea typeface="Arial"/>
              <a:cs typeface="Arial"/>
              <a:sym typeface="Arial"/>
            </a:endParaRPr>
          </a:p>
          <a:p>
            <a:pPr indent="-325437" lvl="0" marL="914400" rtl="0" algn="l">
              <a:lnSpc>
                <a:spcPct val="105000"/>
              </a:lnSpc>
              <a:spcBef>
                <a:spcPts val="1200"/>
              </a:spcBef>
              <a:spcAft>
                <a:spcPts val="0"/>
              </a:spcAft>
              <a:buSzPts val="1525"/>
              <a:buFont typeface="Arial"/>
              <a:buChar char="-"/>
            </a:pPr>
            <a:r>
              <a:rPr lang="en" sz="1525">
                <a:latin typeface="Arial"/>
                <a:ea typeface="Arial"/>
                <a:cs typeface="Arial"/>
                <a:sym typeface="Arial"/>
              </a:rPr>
              <a:t>If a language is regular, then it is described by a regular expression. (DFA to RegEx)</a:t>
            </a:r>
            <a:endParaRPr sz="1525">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 (Proof Idea and Proof)</a:t>
            </a:r>
            <a:endParaRPr/>
          </a:p>
        </p:txBody>
      </p:sp>
      <p:sp>
        <p:nvSpPr>
          <p:cNvPr id="142" name="Google Shape;142;p27"/>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825">
                <a:solidFill>
                  <a:srgbClr val="FF0000"/>
                </a:solidFill>
                <a:latin typeface="Arial"/>
                <a:ea typeface="Arial"/>
                <a:cs typeface="Arial"/>
                <a:sym typeface="Arial"/>
              </a:rPr>
              <a:t>Proof Idea</a:t>
            </a:r>
            <a:r>
              <a:rPr b="1" lang="en" sz="1825">
                <a:solidFill>
                  <a:srgbClr val="FF0000"/>
                </a:solidFill>
                <a:latin typeface="Arial"/>
                <a:ea typeface="Arial"/>
                <a:cs typeface="Arial"/>
                <a:sym typeface="Arial"/>
              </a:rPr>
              <a:t>:</a:t>
            </a:r>
            <a:r>
              <a:rPr lang="en" sz="1825">
                <a:latin typeface="Arial"/>
                <a:ea typeface="Arial"/>
                <a:cs typeface="Arial"/>
                <a:sym typeface="Arial"/>
              </a:rPr>
              <a:t>  </a:t>
            </a:r>
            <a:endParaRPr sz="1825">
              <a:latin typeface="Arial"/>
              <a:ea typeface="Arial"/>
              <a:cs typeface="Arial"/>
              <a:sym typeface="Arial"/>
            </a:endParaRPr>
          </a:p>
          <a:p>
            <a:pPr indent="-344487" lvl="0" marL="914400" rtl="0" algn="l">
              <a:lnSpc>
                <a:spcPct val="105000"/>
              </a:lnSpc>
              <a:spcBef>
                <a:spcPts val="1200"/>
              </a:spcBef>
              <a:spcAft>
                <a:spcPts val="0"/>
              </a:spcAft>
              <a:buSzPts val="1825"/>
              <a:buFont typeface="Arial"/>
              <a:buChar char="-"/>
            </a:pPr>
            <a:r>
              <a:rPr lang="en" sz="1825">
                <a:latin typeface="Arial"/>
                <a:ea typeface="Arial"/>
                <a:cs typeface="Arial"/>
                <a:sym typeface="Arial"/>
              </a:rPr>
              <a:t>Say that we have a </a:t>
            </a:r>
            <a:r>
              <a:rPr b="1" lang="en" sz="1825">
                <a:latin typeface="Arial"/>
                <a:ea typeface="Arial"/>
                <a:cs typeface="Arial"/>
                <a:sym typeface="Arial"/>
              </a:rPr>
              <a:t>regular expression R</a:t>
            </a:r>
            <a:r>
              <a:rPr lang="en" sz="1825">
                <a:latin typeface="Arial"/>
                <a:ea typeface="Arial"/>
                <a:cs typeface="Arial"/>
                <a:sym typeface="Arial"/>
              </a:rPr>
              <a:t> describing some </a:t>
            </a:r>
            <a:r>
              <a:rPr b="1" lang="en" sz="1825">
                <a:latin typeface="Arial"/>
                <a:ea typeface="Arial"/>
                <a:cs typeface="Arial"/>
                <a:sym typeface="Arial"/>
              </a:rPr>
              <a:t>language A</a:t>
            </a:r>
            <a:r>
              <a:rPr lang="en" sz="1825">
                <a:latin typeface="Arial"/>
                <a:ea typeface="Arial"/>
                <a:cs typeface="Arial"/>
                <a:sym typeface="Arial"/>
              </a:rPr>
              <a:t>. We show how to convert </a:t>
            </a:r>
            <a:r>
              <a:rPr b="1" lang="en" sz="1825">
                <a:latin typeface="Arial"/>
                <a:ea typeface="Arial"/>
                <a:cs typeface="Arial"/>
                <a:sym typeface="Arial"/>
              </a:rPr>
              <a:t>R</a:t>
            </a:r>
            <a:r>
              <a:rPr lang="en" sz="1825">
                <a:latin typeface="Arial"/>
                <a:ea typeface="Arial"/>
                <a:cs typeface="Arial"/>
                <a:sym typeface="Arial"/>
              </a:rPr>
              <a:t> into an NFA recognizing </a:t>
            </a:r>
            <a:r>
              <a:rPr b="1" lang="en" sz="1825">
                <a:latin typeface="Arial"/>
                <a:ea typeface="Arial"/>
                <a:cs typeface="Arial"/>
                <a:sym typeface="Arial"/>
              </a:rPr>
              <a:t>A</a:t>
            </a:r>
            <a:r>
              <a:rPr lang="en" sz="1825">
                <a:latin typeface="Arial"/>
                <a:ea typeface="Arial"/>
                <a:cs typeface="Arial"/>
                <a:sym typeface="Arial"/>
              </a:rPr>
              <a:t>. We know, if an NFA recognizes A then A is </a:t>
            </a:r>
            <a:r>
              <a:rPr b="1" lang="en" sz="1825">
                <a:latin typeface="Arial"/>
                <a:ea typeface="Arial"/>
                <a:cs typeface="Arial"/>
                <a:sym typeface="Arial"/>
              </a:rPr>
              <a:t>regular</a:t>
            </a:r>
            <a:r>
              <a:rPr lang="en" sz="1825">
                <a:latin typeface="Arial"/>
                <a:ea typeface="Arial"/>
                <a:cs typeface="Arial"/>
                <a:sym typeface="Arial"/>
              </a:rPr>
              <a:t>.</a:t>
            </a:r>
            <a:endParaRPr sz="1825">
              <a:latin typeface="Arial"/>
              <a:ea typeface="Arial"/>
              <a:cs typeface="Arial"/>
              <a:sym typeface="Arial"/>
            </a:endParaRPr>
          </a:p>
          <a:p>
            <a:pPr indent="0" lvl="0" marL="0" rtl="0" algn="l">
              <a:lnSpc>
                <a:spcPct val="105000"/>
              </a:lnSpc>
              <a:spcBef>
                <a:spcPts val="1200"/>
              </a:spcBef>
              <a:spcAft>
                <a:spcPts val="0"/>
              </a:spcAft>
              <a:buSzPts val="688"/>
              <a:buNone/>
            </a:pPr>
            <a:r>
              <a:t/>
            </a:r>
            <a:endParaRPr sz="1825">
              <a:latin typeface="Arial"/>
              <a:ea typeface="Arial"/>
              <a:cs typeface="Arial"/>
              <a:sym typeface="Arial"/>
            </a:endParaRPr>
          </a:p>
          <a:p>
            <a:pPr indent="0" lvl="0" marL="0" rtl="0" algn="l">
              <a:lnSpc>
                <a:spcPct val="105000"/>
              </a:lnSpc>
              <a:spcBef>
                <a:spcPts val="1200"/>
              </a:spcBef>
              <a:spcAft>
                <a:spcPts val="0"/>
              </a:spcAft>
              <a:buSzPts val="688"/>
              <a:buNone/>
            </a:pPr>
            <a:r>
              <a:rPr b="1" lang="en" sz="1825">
                <a:solidFill>
                  <a:srgbClr val="FF0000"/>
                </a:solidFill>
                <a:latin typeface="Arial"/>
                <a:ea typeface="Arial"/>
                <a:cs typeface="Arial"/>
                <a:sym typeface="Arial"/>
              </a:rPr>
              <a:t>Proof:</a:t>
            </a:r>
            <a:r>
              <a:rPr lang="en" sz="1825">
                <a:latin typeface="Arial"/>
                <a:ea typeface="Arial"/>
                <a:cs typeface="Arial"/>
                <a:sym typeface="Arial"/>
              </a:rPr>
              <a:t>  </a:t>
            </a:r>
            <a:endParaRPr sz="1825">
              <a:latin typeface="Arial"/>
              <a:ea typeface="Arial"/>
              <a:cs typeface="Arial"/>
              <a:sym typeface="Arial"/>
            </a:endParaRPr>
          </a:p>
          <a:p>
            <a:pPr indent="-344487" lvl="0" marL="914400" rtl="0" algn="l">
              <a:lnSpc>
                <a:spcPct val="105000"/>
              </a:lnSpc>
              <a:spcBef>
                <a:spcPts val="1200"/>
              </a:spcBef>
              <a:spcAft>
                <a:spcPts val="0"/>
              </a:spcAft>
              <a:buSzPts val="1825"/>
              <a:buFont typeface="Arial"/>
              <a:buChar char="-"/>
            </a:pPr>
            <a:r>
              <a:rPr lang="en" sz="1825">
                <a:latin typeface="Arial"/>
                <a:ea typeface="Arial"/>
                <a:cs typeface="Arial"/>
                <a:sym typeface="Arial"/>
              </a:rPr>
              <a:t>Let’s convert R into an NFA N. We consider the </a:t>
            </a:r>
            <a:r>
              <a:rPr b="1" lang="en" sz="1825">
                <a:latin typeface="Arial"/>
                <a:ea typeface="Arial"/>
                <a:cs typeface="Arial"/>
                <a:sym typeface="Arial"/>
              </a:rPr>
              <a:t>six cases</a:t>
            </a:r>
            <a:r>
              <a:rPr lang="en" sz="1825">
                <a:latin typeface="Arial"/>
                <a:ea typeface="Arial"/>
                <a:cs typeface="Arial"/>
                <a:sym typeface="Arial"/>
              </a:rPr>
              <a:t> in the formal definition of regular expressions (Slide-11)</a:t>
            </a:r>
            <a:endParaRPr sz="1825">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a:t>
            </a:r>
            <a:r>
              <a:rPr lang="en"/>
              <a:t> (Case-1)</a:t>
            </a:r>
            <a:endParaRPr/>
          </a:p>
        </p:txBody>
      </p:sp>
      <p:sp>
        <p:nvSpPr>
          <p:cNvPr id="148" name="Google Shape;148;p28"/>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325">
                <a:solidFill>
                  <a:srgbClr val="FF0000"/>
                </a:solidFill>
                <a:latin typeface="Arial"/>
                <a:ea typeface="Arial"/>
                <a:cs typeface="Arial"/>
                <a:sym typeface="Arial"/>
              </a:rPr>
              <a:t>Case-1</a:t>
            </a:r>
            <a:r>
              <a:rPr b="1" lang="en" sz="1325">
                <a:solidFill>
                  <a:srgbClr val="FF0000"/>
                </a:solidFill>
                <a:latin typeface="Arial"/>
                <a:ea typeface="Arial"/>
                <a:cs typeface="Arial"/>
                <a:sym typeface="Arial"/>
              </a:rPr>
              <a:t>:</a:t>
            </a:r>
            <a:r>
              <a:rPr lang="en" sz="1325">
                <a:latin typeface="Arial"/>
                <a:ea typeface="Arial"/>
                <a:cs typeface="Arial"/>
                <a:sym typeface="Arial"/>
              </a:rPr>
              <a:t>  </a:t>
            </a:r>
            <a:endParaRPr sz="1325">
              <a:latin typeface="Arial"/>
              <a:ea typeface="Arial"/>
              <a:cs typeface="Arial"/>
              <a:sym typeface="Arial"/>
            </a:endParaRPr>
          </a:p>
          <a:p>
            <a:pPr indent="-312737" lvl="0" marL="914400" rtl="0" algn="l">
              <a:lnSpc>
                <a:spcPct val="105000"/>
              </a:lnSpc>
              <a:spcBef>
                <a:spcPts val="1200"/>
              </a:spcBef>
              <a:spcAft>
                <a:spcPts val="0"/>
              </a:spcAft>
              <a:buSzPts val="1325"/>
              <a:buFont typeface="Arial"/>
              <a:buChar char="-"/>
            </a:pPr>
            <a:r>
              <a:rPr lang="en" sz="1325">
                <a:latin typeface="Arial"/>
                <a:ea typeface="Arial"/>
                <a:cs typeface="Arial"/>
                <a:sym typeface="Arial"/>
              </a:rPr>
              <a:t>R = a for some a ∈ Σ. Then L(R) = {a}, and the following NFA recognizes L(R).</a:t>
            </a:r>
            <a:endParaRPr sz="1325">
              <a:latin typeface="Arial"/>
              <a:ea typeface="Arial"/>
              <a:cs typeface="Arial"/>
              <a:sym typeface="Arial"/>
            </a:endParaRPr>
          </a:p>
          <a:p>
            <a:pPr indent="0" lvl="0" marL="0" rtl="0" algn="l">
              <a:lnSpc>
                <a:spcPct val="105000"/>
              </a:lnSpc>
              <a:spcBef>
                <a:spcPts val="1200"/>
              </a:spcBef>
              <a:spcAft>
                <a:spcPts val="0"/>
              </a:spcAft>
              <a:buSzPts val="688"/>
              <a:buNone/>
            </a:pPr>
            <a:r>
              <a:t/>
            </a:r>
            <a:endParaRPr sz="1325">
              <a:latin typeface="Arial"/>
              <a:ea typeface="Arial"/>
              <a:cs typeface="Arial"/>
              <a:sym typeface="Arial"/>
            </a:endParaRPr>
          </a:p>
          <a:p>
            <a:pPr indent="0" lvl="0" marL="0" rtl="0" algn="l">
              <a:lnSpc>
                <a:spcPct val="105000"/>
              </a:lnSpc>
              <a:spcBef>
                <a:spcPts val="1200"/>
              </a:spcBef>
              <a:spcAft>
                <a:spcPts val="0"/>
              </a:spcAft>
              <a:buSzPts val="688"/>
              <a:buNone/>
            </a:pPr>
            <a:r>
              <a:t/>
            </a:r>
            <a:endParaRPr b="1" sz="1325">
              <a:solidFill>
                <a:srgbClr val="FF0000"/>
              </a:solidFill>
              <a:latin typeface="Arial"/>
              <a:ea typeface="Arial"/>
              <a:cs typeface="Arial"/>
              <a:sym typeface="Arial"/>
            </a:endParaRPr>
          </a:p>
          <a:p>
            <a:pPr indent="0" lvl="0" marL="0" rtl="0" algn="l">
              <a:lnSpc>
                <a:spcPct val="105000"/>
              </a:lnSpc>
              <a:spcBef>
                <a:spcPts val="1200"/>
              </a:spcBef>
              <a:spcAft>
                <a:spcPts val="0"/>
              </a:spcAft>
              <a:buSzPts val="688"/>
              <a:buNone/>
            </a:pPr>
            <a:r>
              <a:t/>
            </a:r>
            <a:endParaRPr b="1" sz="1325">
              <a:solidFill>
                <a:srgbClr val="FF0000"/>
              </a:solidFill>
              <a:latin typeface="Arial"/>
              <a:ea typeface="Arial"/>
              <a:cs typeface="Arial"/>
              <a:sym typeface="Arial"/>
            </a:endParaRPr>
          </a:p>
          <a:p>
            <a:pPr indent="0" lvl="0" marL="0" rtl="0" algn="l">
              <a:lnSpc>
                <a:spcPct val="105000"/>
              </a:lnSpc>
              <a:spcBef>
                <a:spcPts val="1200"/>
              </a:spcBef>
              <a:spcAft>
                <a:spcPts val="0"/>
              </a:spcAft>
              <a:buSzPts val="688"/>
              <a:buNone/>
            </a:pPr>
            <a:r>
              <a:rPr b="1" i="1" lang="en" sz="1325">
                <a:solidFill>
                  <a:srgbClr val="FF0000"/>
                </a:solidFill>
                <a:latin typeface="Arial"/>
                <a:ea typeface="Arial"/>
                <a:cs typeface="Arial"/>
                <a:sym typeface="Arial"/>
              </a:rPr>
              <a:t>Note</a:t>
            </a:r>
            <a:r>
              <a:rPr b="1" i="1" lang="en" sz="1325">
                <a:solidFill>
                  <a:srgbClr val="FF0000"/>
                </a:solidFill>
                <a:latin typeface="Arial"/>
                <a:ea typeface="Arial"/>
                <a:cs typeface="Arial"/>
                <a:sym typeface="Arial"/>
              </a:rPr>
              <a:t>:</a:t>
            </a:r>
            <a:r>
              <a:rPr i="1" lang="en" sz="1325">
                <a:latin typeface="Arial"/>
                <a:ea typeface="Arial"/>
                <a:cs typeface="Arial"/>
                <a:sym typeface="Arial"/>
              </a:rPr>
              <a:t> </a:t>
            </a:r>
            <a:r>
              <a:rPr lang="en" sz="1325">
                <a:latin typeface="Arial"/>
                <a:ea typeface="Arial"/>
                <a:cs typeface="Arial"/>
                <a:sym typeface="Arial"/>
              </a:rPr>
              <a:t> </a:t>
            </a:r>
            <a:endParaRPr sz="1325">
              <a:latin typeface="Arial"/>
              <a:ea typeface="Arial"/>
              <a:cs typeface="Arial"/>
              <a:sym typeface="Arial"/>
            </a:endParaRPr>
          </a:p>
          <a:p>
            <a:pPr indent="-312737" lvl="0" marL="914400" rtl="0" algn="l">
              <a:lnSpc>
                <a:spcPct val="105000"/>
              </a:lnSpc>
              <a:spcBef>
                <a:spcPts val="1200"/>
              </a:spcBef>
              <a:spcAft>
                <a:spcPts val="0"/>
              </a:spcAft>
              <a:buSzPts val="1325"/>
              <a:buFont typeface="Arial"/>
              <a:buChar char="-"/>
            </a:pPr>
            <a:r>
              <a:rPr lang="en" sz="1325">
                <a:latin typeface="Arial"/>
                <a:ea typeface="Arial"/>
                <a:cs typeface="Arial"/>
                <a:sym typeface="Arial"/>
              </a:rPr>
              <a:t>This</a:t>
            </a:r>
            <a:r>
              <a:rPr lang="en" sz="1325">
                <a:latin typeface="Arial"/>
                <a:ea typeface="Arial"/>
                <a:cs typeface="Arial"/>
                <a:sym typeface="Arial"/>
              </a:rPr>
              <a:t> machine fits the definition of an NFA but not that ofa DFA because it has some states with no exiting arrow for each possible input symbol.</a:t>
            </a:r>
            <a:endParaRPr sz="1325">
              <a:latin typeface="Arial"/>
              <a:ea typeface="Arial"/>
              <a:cs typeface="Arial"/>
              <a:sym typeface="Arial"/>
            </a:endParaRPr>
          </a:p>
          <a:p>
            <a:pPr indent="-312737" lvl="0" marL="914400" rtl="0" algn="l">
              <a:lnSpc>
                <a:spcPct val="105000"/>
              </a:lnSpc>
              <a:spcBef>
                <a:spcPts val="0"/>
              </a:spcBef>
              <a:spcAft>
                <a:spcPts val="0"/>
              </a:spcAft>
              <a:buSzPts val="1325"/>
              <a:buFont typeface="Arial"/>
              <a:buChar char="-"/>
            </a:pPr>
            <a:r>
              <a:rPr lang="en" sz="1325">
                <a:latin typeface="Arial"/>
                <a:ea typeface="Arial"/>
                <a:cs typeface="Arial"/>
                <a:sym typeface="Arial"/>
              </a:rPr>
              <a:t>Of course, we could have presented an equivalent DFA here; but an NFA is all we need for now, and it is easier to describe.</a:t>
            </a:r>
            <a:endParaRPr sz="1325">
              <a:latin typeface="Arial"/>
              <a:ea typeface="Arial"/>
              <a:cs typeface="Arial"/>
              <a:sym typeface="Arial"/>
            </a:endParaRPr>
          </a:p>
          <a:p>
            <a:pPr indent="-312737" lvl="0" marL="914400" rtl="0" algn="l">
              <a:lnSpc>
                <a:spcPct val="105000"/>
              </a:lnSpc>
              <a:spcBef>
                <a:spcPts val="0"/>
              </a:spcBef>
              <a:spcAft>
                <a:spcPts val="0"/>
              </a:spcAft>
              <a:buSzPts val="1325"/>
              <a:buFont typeface="Arial"/>
              <a:buChar char="-"/>
            </a:pPr>
            <a:r>
              <a:rPr lang="en" sz="1325">
                <a:latin typeface="Arial"/>
                <a:ea typeface="Arial"/>
                <a:cs typeface="Arial"/>
                <a:sym typeface="Arial"/>
              </a:rPr>
              <a:t>Formally, </a:t>
            </a:r>
            <a:r>
              <a:rPr b="1" lang="en" sz="1325">
                <a:latin typeface="Arial"/>
                <a:ea typeface="Arial"/>
                <a:cs typeface="Arial"/>
                <a:sym typeface="Arial"/>
              </a:rPr>
              <a:t>N = ({q1, q2}, Σ, δ, q1, {q2})</a:t>
            </a:r>
            <a:r>
              <a:rPr lang="en" sz="1325">
                <a:latin typeface="Arial"/>
                <a:ea typeface="Arial"/>
                <a:cs typeface="Arial"/>
                <a:sym typeface="Arial"/>
              </a:rPr>
              <a:t>, where we describe δ by saying that </a:t>
            </a:r>
            <a:r>
              <a:rPr b="1" lang="en" sz="1325">
                <a:latin typeface="Arial"/>
                <a:ea typeface="Arial"/>
                <a:cs typeface="Arial"/>
                <a:sym typeface="Arial"/>
              </a:rPr>
              <a:t>δ(q1, a) = {q2}</a:t>
            </a:r>
            <a:r>
              <a:rPr lang="en" sz="1325">
                <a:latin typeface="Arial"/>
                <a:ea typeface="Arial"/>
                <a:cs typeface="Arial"/>
                <a:sym typeface="Arial"/>
              </a:rPr>
              <a:t> and that </a:t>
            </a:r>
            <a:r>
              <a:rPr b="1" lang="en" sz="1325">
                <a:latin typeface="Arial"/>
                <a:ea typeface="Arial"/>
                <a:cs typeface="Arial"/>
                <a:sym typeface="Arial"/>
              </a:rPr>
              <a:t>δ(r, b) = ∅</a:t>
            </a:r>
            <a:r>
              <a:rPr lang="en" sz="1325">
                <a:latin typeface="Arial"/>
                <a:ea typeface="Arial"/>
                <a:cs typeface="Arial"/>
                <a:sym typeface="Arial"/>
              </a:rPr>
              <a:t> for </a:t>
            </a:r>
            <a:r>
              <a:rPr b="1" lang="en" sz="1325">
                <a:latin typeface="Arial"/>
                <a:ea typeface="Arial"/>
                <a:cs typeface="Arial"/>
                <a:sym typeface="Arial"/>
              </a:rPr>
              <a:t>r != q1</a:t>
            </a:r>
            <a:r>
              <a:rPr lang="en" sz="1325">
                <a:latin typeface="Arial"/>
                <a:ea typeface="Arial"/>
                <a:cs typeface="Arial"/>
                <a:sym typeface="Arial"/>
              </a:rPr>
              <a:t> or </a:t>
            </a:r>
            <a:r>
              <a:rPr b="1" lang="en" sz="1325">
                <a:latin typeface="Arial"/>
                <a:ea typeface="Arial"/>
                <a:cs typeface="Arial"/>
                <a:sym typeface="Arial"/>
              </a:rPr>
              <a:t>b != a</a:t>
            </a:r>
            <a:r>
              <a:rPr lang="en" sz="1325">
                <a:latin typeface="Arial"/>
                <a:ea typeface="Arial"/>
                <a:cs typeface="Arial"/>
                <a:sym typeface="Arial"/>
              </a:rPr>
              <a:t>.</a:t>
            </a:r>
            <a:endParaRPr sz="1325">
              <a:latin typeface="Arial"/>
              <a:ea typeface="Arial"/>
              <a:cs typeface="Arial"/>
              <a:sym typeface="Arial"/>
            </a:endParaRPr>
          </a:p>
        </p:txBody>
      </p:sp>
      <p:pic>
        <p:nvPicPr>
          <p:cNvPr id="149" name="Google Shape;149;p28"/>
          <p:cNvPicPr preferRelativeResize="0"/>
          <p:nvPr/>
        </p:nvPicPr>
        <p:blipFill>
          <a:blip r:embed="rId3">
            <a:alphaModFix/>
          </a:blip>
          <a:stretch>
            <a:fillRect/>
          </a:stretch>
        </p:blipFill>
        <p:spPr>
          <a:xfrm>
            <a:off x="2758900" y="2043100"/>
            <a:ext cx="2686050" cy="1057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a:t>
            </a:r>
            <a:r>
              <a:rPr lang="en"/>
              <a:t> (Case-2)</a:t>
            </a:r>
            <a:endParaRPr/>
          </a:p>
        </p:txBody>
      </p:sp>
      <p:sp>
        <p:nvSpPr>
          <p:cNvPr id="155" name="Google Shape;155;p29"/>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425">
                <a:solidFill>
                  <a:srgbClr val="FF0000"/>
                </a:solidFill>
                <a:latin typeface="Arial"/>
                <a:ea typeface="Arial"/>
                <a:cs typeface="Arial"/>
                <a:sym typeface="Arial"/>
              </a:rPr>
              <a:t>Case-2:</a:t>
            </a:r>
            <a:r>
              <a:rPr lang="en" sz="1425">
                <a:latin typeface="Arial"/>
                <a:ea typeface="Arial"/>
                <a:cs typeface="Arial"/>
                <a:sym typeface="Arial"/>
              </a:rPr>
              <a:t>  </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R = ε. Then L(R) = {ε}, and the following NFA recognizes L(R).</a:t>
            </a:r>
            <a:endParaRPr sz="1425">
              <a:latin typeface="Arial"/>
              <a:ea typeface="Arial"/>
              <a:cs typeface="Arial"/>
              <a:sym typeface="Arial"/>
            </a:endParaRPr>
          </a:p>
          <a:p>
            <a:pPr indent="0" lvl="0" marL="0" rtl="0" algn="l">
              <a:lnSpc>
                <a:spcPct val="105000"/>
              </a:lnSpc>
              <a:spcBef>
                <a:spcPts val="1200"/>
              </a:spcBef>
              <a:spcAft>
                <a:spcPts val="0"/>
              </a:spcAft>
              <a:buSzPts val="688"/>
              <a:buNone/>
            </a:pPr>
            <a:r>
              <a:t/>
            </a:r>
            <a:endParaRPr sz="1425">
              <a:latin typeface="Arial"/>
              <a:ea typeface="Arial"/>
              <a:cs typeface="Arial"/>
              <a:sym typeface="Arial"/>
            </a:endParaRPr>
          </a:p>
          <a:p>
            <a:pPr indent="0" lvl="0" marL="0" rtl="0" algn="l">
              <a:lnSpc>
                <a:spcPct val="105000"/>
              </a:lnSpc>
              <a:spcBef>
                <a:spcPts val="1200"/>
              </a:spcBef>
              <a:spcAft>
                <a:spcPts val="0"/>
              </a:spcAft>
              <a:buSzPts val="688"/>
              <a:buNone/>
            </a:pPr>
            <a:r>
              <a:t/>
            </a:r>
            <a:endParaRPr b="1" sz="1425">
              <a:solidFill>
                <a:srgbClr val="FF0000"/>
              </a:solidFill>
              <a:latin typeface="Arial"/>
              <a:ea typeface="Arial"/>
              <a:cs typeface="Arial"/>
              <a:sym typeface="Arial"/>
            </a:endParaRPr>
          </a:p>
          <a:p>
            <a:pPr indent="0" lvl="0" marL="0" rtl="0" algn="l">
              <a:lnSpc>
                <a:spcPct val="105000"/>
              </a:lnSpc>
              <a:spcBef>
                <a:spcPts val="1200"/>
              </a:spcBef>
              <a:spcAft>
                <a:spcPts val="0"/>
              </a:spcAft>
              <a:buSzPts val="688"/>
              <a:buNone/>
            </a:pPr>
            <a:r>
              <a:t/>
            </a:r>
            <a:endParaRPr b="1" sz="1425">
              <a:solidFill>
                <a:srgbClr val="FF0000"/>
              </a:solidFill>
              <a:latin typeface="Arial"/>
              <a:ea typeface="Arial"/>
              <a:cs typeface="Arial"/>
              <a:sym typeface="Arial"/>
            </a:endParaRPr>
          </a:p>
          <a:p>
            <a:pPr indent="0" lvl="0" marL="0" rtl="0" algn="l">
              <a:lnSpc>
                <a:spcPct val="105000"/>
              </a:lnSpc>
              <a:spcBef>
                <a:spcPts val="1200"/>
              </a:spcBef>
              <a:spcAft>
                <a:spcPts val="0"/>
              </a:spcAft>
              <a:buSzPts val="688"/>
              <a:buNone/>
            </a:pPr>
            <a:r>
              <a:rPr b="1" i="1" lang="en" sz="1425">
                <a:solidFill>
                  <a:srgbClr val="FF0000"/>
                </a:solidFill>
                <a:latin typeface="Arial"/>
                <a:ea typeface="Arial"/>
                <a:cs typeface="Arial"/>
                <a:sym typeface="Arial"/>
              </a:rPr>
              <a:t>Note:</a:t>
            </a:r>
            <a:r>
              <a:rPr lang="en" sz="1425">
                <a:latin typeface="Arial"/>
                <a:ea typeface="Arial"/>
                <a:cs typeface="Arial"/>
                <a:sym typeface="Arial"/>
              </a:rPr>
              <a:t>  </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Formally, </a:t>
            </a:r>
            <a:r>
              <a:rPr b="1" lang="en" sz="1425">
                <a:latin typeface="Arial"/>
                <a:ea typeface="Arial"/>
                <a:cs typeface="Arial"/>
                <a:sym typeface="Arial"/>
              </a:rPr>
              <a:t>N = ({q1}, Σ, δ, q1, {q1})</a:t>
            </a:r>
            <a:r>
              <a:rPr lang="en" sz="1425">
                <a:latin typeface="Arial"/>
                <a:ea typeface="Arial"/>
                <a:cs typeface="Arial"/>
                <a:sym typeface="Arial"/>
              </a:rPr>
              <a:t>, where </a:t>
            </a:r>
            <a:r>
              <a:rPr b="1" lang="en" sz="1425">
                <a:latin typeface="Arial"/>
                <a:ea typeface="Arial"/>
                <a:cs typeface="Arial"/>
                <a:sym typeface="Arial"/>
              </a:rPr>
              <a:t>δ(r, b) = ∅</a:t>
            </a:r>
            <a:r>
              <a:rPr lang="en" sz="1425">
                <a:latin typeface="Arial"/>
                <a:ea typeface="Arial"/>
                <a:cs typeface="Arial"/>
                <a:sym typeface="Arial"/>
              </a:rPr>
              <a:t> for any </a:t>
            </a:r>
            <a:r>
              <a:rPr b="1" lang="en" sz="1425">
                <a:latin typeface="Arial"/>
                <a:ea typeface="Arial"/>
                <a:cs typeface="Arial"/>
                <a:sym typeface="Arial"/>
              </a:rPr>
              <a:t>r</a:t>
            </a:r>
            <a:r>
              <a:rPr lang="en" sz="1425">
                <a:latin typeface="Arial"/>
                <a:ea typeface="Arial"/>
                <a:cs typeface="Arial"/>
                <a:sym typeface="Arial"/>
              </a:rPr>
              <a:t> and </a:t>
            </a:r>
            <a:r>
              <a:rPr b="1" lang="en" sz="1425">
                <a:latin typeface="Arial"/>
                <a:ea typeface="Arial"/>
                <a:cs typeface="Arial"/>
                <a:sym typeface="Arial"/>
              </a:rPr>
              <a:t>b</a:t>
            </a:r>
            <a:r>
              <a:rPr lang="en" sz="1425">
                <a:latin typeface="Arial"/>
                <a:ea typeface="Arial"/>
                <a:cs typeface="Arial"/>
                <a:sym typeface="Arial"/>
              </a:rPr>
              <a:t>.</a:t>
            </a:r>
            <a:endParaRPr sz="1425">
              <a:latin typeface="Arial"/>
              <a:ea typeface="Arial"/>
              <a:cs typeface="Arial"/>
              <a:sym typeface="Arial"/>
            </a:endParaRPr>
          </a:p>
          <a:p>
            <a:pPr indent="0" lvl="0" marL="0" rtl="0" algn="l">
              <a:lnSpc>
                <a:spcPct val="105000"/>
              </a:lnSpc>
              <a:spcBef>
                <a:spcPts val="1200"/>
              </a:spcBef>
              <a:spcAft>
                <a:spcPts val="1200"/>
              </a:spcAft>
              <a:buNone/>
            </a:pPr>
            <a:r>
              <a:t/>
            </a:r>
            <a:endParaRPr b="1" sz="1425">
              <a:latin typeface="Arial"/>
              <a:ea typeface="Arial"/>
              <a:cs typeface="Arial"/>
              <a:sym typeface="Arial"/>
            </a:endParaRPr>
          </a:p>
        </p:txBody>
      </p:sp>
      <p:pic>
        <p:nvPicPr>
          <p:cNvPr id="156" name="Google Shape;156;p29"/>
          <p:cNvPicPr preferRelativeResize="0"/>
          <p:nvPr/>
        </p:nvPicPr>
        <p:blipFill>
          <a:blip r:embed="rId3">
            <a:alphaModFix/>
          </a:blip>
          <a:stretch>
            <a:fillRect/>
          </a:stretch>
        </p:blipFill>
        <p:spPr>
          <a:xfrm>
            <a:off x="3248013" y="2143125"/>
            <a:ext cx="1323975" cy="857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a:t>
            </a:r>
            <a:r>
              <a:rPr lang="en"/>
              <a:t> (Case-3)</a:t>
            </a:r>
            <a:endParaRPr/>
          </a:p>
        </p:txBody>
      </p:sp>
      <p:sp>
        <p:nvSpPr>
          <p:cNvPr id="162" name="Google Shape;162;p30"/>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425">
                <a:solidFill>
                  <a:srgbClr val="FF0000"/>
                </a:solidFill>
                <a:latin typeface="Arial"/>
                <a:ea typeface="Arial"/>
                <a:cs typeface="Arial"/>
                <a:sym typeface="Arial"/>
              </a:rPr>
              <a:t>Case-2:</a:t>
            </a:r>
            <a:r>
              <a:rPr lang="en" sz="1425">
                <a:latin typeface="Arial"/>
                <a:ea typeface="Arial"/>
                <a:cs typeface="Arial"/>
                <a:sym typeface="Arial"/>
              </a:rPr>
              <a:t>  </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R = ∅. Then L(R) = ∅, and the following NFA recognizes L(R).</a:t>
            </a:r>
            <a:endParaRPr sz="1425">
              <a:latin typeface="Arial"/>
              <a:ea typeface="Arial"/>
              <a:cs typeface="Arial"/>
              <a:sym typeface="Arial"/>
            </a:endParaRPr>
          </a:p>
          <a:p>
            <a:pPr indent="0" lvl="0" marL="0" rtl="0" algn="l">
              <a:lnSpc>
                <a:spcPct val="105000"/>
              </a:lnSpc>
              <a:spcBef>
                <a:spcPts val="1200"/>
              </a:spcBef>
              <a:spcAft>
                <a:spcPts val="0"/>
              </a:spcAft>
              <a:buSzPts val="688"/>
              <a:buNone/>
            </a:pPr>
            <a:r>
              <a:t/>
            </a:r>
            <a:endParaRPr sz="1425">
              <a:latin typeface="Arial"/>
              <a:ea typeface="Arial"/>
              <a:cs typeface="Arial"/>
              <a:sym typeface="Arial"/>
            </a:endParaRPr>
          </a:p>
          <a:p>
            <a:pPr indent="0" lvl="0" marL="0" rtl="0" algn="l">
              <a:lnSpc>
                <a:spcPct val="105000"/>
              </a:lnSpc>
              <a:spcBef>
                <a:spcPts val="1200"/>
              </a:spcBef>
              <a:spcAft>
                <a:spcPts val="0"/>
              </a:spcAft>
              <a:buSzPts val="688"/>
              <a:buNone/>
            </a:pPr>
            <a:r>
              <a:t/>
            </a:r>
            <a:endParaRPr b="1" sz="1425">
              <a:solidFill>
                <a:srgbClr val="FF0000"/>
              </a:solidFill>
              <a:latin typeface="Arial"/>
              <a:ea typeface="Arial"/>
              <a:cs typeface="Arial"/>
              <a:sym typeface="Arial"/>
            </a:endParaRPr>
          </a:p>
          <a:p>
            <a:pPr indent="0" lvl="0" marL="0" rtl="0" algn="l">
              <a:lnSpc>
                <a:spcPct val="105000"/>
              </a:lnSpc>
              <a:spcBef>
                <a:spcPts val="1200"/>
              </a:spcBef>
              <a:spcAft>
                <a:spcPts val="0"/>
              </a:spcAft>
              <a:buSzPts val="688"/>
              <a:buNone/>
            </a:pPr>
            <a:r>
              <a:t/>
            </a:r>
            <a:endParaRPr b="1" sz="1425">
              <a:solidFill>
                <a:srgbClr val="FF0000"/>
              </a:solidFill>
              <a:latin typeface="Arial"/>
              <a:ea typeface="Arial"/>
              <a:cs typeface="Arial"/>
              <a:sym typeface="Arial"/>
            </a:endParaRPr>
          </a:p>
          <a:p>
            <a:pPr indent="0" lvl="0" marL="0" rtl="0" algn="l">
              <a:lnSpc>
                <a:spcPct val="105000"/>
              </a:lnSpc>
              <a:spcBef>
                <a:spcPts val="1200"/>
              </a:spcBef>
              <a:spcAft>
                <a:spcPts val="0"/>
              </a:spcAft>
              <a:buSzPts val="688"/>
              <a:buNone/>
            </a:pPr>
            <a:r>
              <a:rPr b="1" i="1" lang="en" sz="1425">
                <a:solidFill>
                  <a:srgbClr val="FF0000"/>
                </a:solidFill>
                <a:latin typeface="Arial"/>
                <a:ea typeface="Arial"/>
                <a:cs typeface="Arial"/>
                <a:sym typeface="Arial"/>
              </a:rPr>
              <a:t>Note:</a:t>
            </a:r>
            <a:r>
              <a:rPr lang="en" sz="1425">
                <a:latin typeface="Arial"/>
                <a:ea typeface="Arial"/>
                <a:cs typeface="Arial"/>
                <a:sym typeface="Arial"/>
              </a:rPr>
              <a:t>  </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Formally, </a:t>
            </a:r>
            <a:r>
              <a:rPr b="1" lang="en" sz="1425">
                <a:latin typeface="Arial"/>
                <a:ea typeface="Arial"/>
                <a:cs typeface="Arial"/>
                <a:sym typeface="Arial"/>
              </a:rPr>
              <a:t>N = ({q}, Σ, δ, q, ∅)</a:t>
            </a:r>
            <a:r>
              <a:rPr lang="en" sz="1425">
                <a:latin typeface="Arial"/>
                <a:ea typeface="Arial"/>
                <a:cs typeface="Arial"/>
                <a:sym typeface="Arial"/>
              </a:rPr>
              <a:t>, where </a:t>
            </a:r>
            <a:r>
              <a:rPr b="1" lang="en" sz="1425">
                <a:latin typeface="Arial"/>
                <a:ea typeface="Arial"/>
                <a:cs typeface="Arial"/>
                <a:sym typeface="Arial"/>
              </a:rPr>
              <a:t>δ(r, b) = ∅</a:t>
            </a:r>
            <a:r>
              <a:rPr lang="en" sz="1425">
                <a:latin typeface="Arial"/>
                <a:ea typeface="Arial"/>
                <a:cs typeface="Arial"/>
                <a:sym typeface="Arial"/>
              </a:rPr>
              <a:t> for any </a:t>
            </a:r>
            <a:r>
              <a:rPr b="1" lang="en" sz="1425">
                <a:latin typeface="Arial"/>
                <a:ea typeface="Arial"/>
                <a:cs typeface="Arial"/>
                <a:sym typeface="Arial"/>
              </a:rPr>
              <a:t>r </a:t>
            </a:r>
            <a:r>
              <a:rPr lang="en" sz="1425">
                <a:latin typeface="Arial"/>
                <a:ea typeface="Arial"/>
                <a:cs typeface="Arial"/>
                <a:sym typeface="Arial"/>
              </a:rPr>
              <a:t>and </a:t>
            </a:r>
            <a:r>
              <a:rPr b="1" lang="en" sz="1425">
                <a:latin typeface="Arial"/>
                <a:ea typeface="Arial"/>
                <a:cs typeface="Arial"/>
                <a:sym typeface="Arial"/>
              </a:rPr>
              <a:t>b</a:t>
            </a:r>
            <a:r>
              <a:rPr lang="en" sz="1425">
                <a:latin typeface="Arial"/>
                <a:ea typeface="Arial"/>
                <a:cs typeface="Arial"/>
                <a:sym typeface="Arial"/>
              </a:rPr>
              <a:t>.</a:t>
            </a:r>
            <a:endParaRPr sz="1425">
              <a:latin typeface="Arial"/>
              <a:ea typeface="Arial"/>
              <a:cs typeface="Arial"/>
              <a:sym typeface="Arial"/>
            </a:endParaRPr>
          </a:p>
          <a:p>
            <a:pPr indent="0" lvl="0" marL="0" rtl="0" algn="l">
              <a:lnSpc>
                <a:spcPct val="105000"/>
              </a:lnSpc>
              <a:spcBef>
                <a:spcPts val="1200"/>
              </a:spcBef>
              <a:spcAft>
                <a:spcPts val="1200"/>
              </a:spcAft>
              <a:buNone/>
            </a:pPr>
            <a:r>
              <a:t/>
            </a:r>
            <a:endParaRPr b="1" sz="1425">
              <a:latin typeface="Arial"/>
              <a:ea typeface="Arial"/>
              <a:cs typeface="Arial"/>
              <a:sym typeface="Arial"/>
            </a:endParaRPr>
          </a:p>
        </p:txBody>
      </p:sp>
      <p:pic>
        <p:nvPicPr>
          <p:cNvPr id="163" name="Google Shape;163;p30"/>
          <p:cNvPicPr preferRelativeResize="0"/>
          <p:nvPr/>
        </p:nvPicPr>
        <p:blipFill>
          <a:blip r:embed="rId3">
            <a:alphaModFix/>
          </a:blip>
          <a:stretch>
            <a:fillRect/>
          </a:stretch>
        </p:blipFill>
        <p:spPr>
          <a:xfrm>
            <a:off x="3134038" y="2095500"/>
            <a:ext cx="1609725" cy="952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a:t>
            </a:r>
            <a:r>
              <a:rPr lang="en"/>
              <a:t> (Case-4, 5, 6)</a:t>
            </a:r>
            <a:endParaRPr/>
          </a:p>
        </p:txBody>
      </p:sp>
      <p:sp>
        <p:nvSpPr>
          <p:cNvPr id="169" name="Google Shape;169;p31"/>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425">
                <a:solidFill>
                  <a:srgbClr val="FF0000"/>
                </a:solidFill>
                <a:latin typeface="Arial"/>
                <a:ea typeface="Arial"/>
                <a:cs typeface="Arial"/>
                <a:sym typeface="Arial"/>
              </a:rPr>
              <a:t>Case-4: Union</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R = R1 ∪ R2.</a:t>
            </a:r>
            <a:endParaRPr sz="1425">
              <a:latin typeface="Arial"/>
              <a:ea typeface="Arial"/>
              <a:cs typeface="Arial"/>
              <a:sym typeface="Arial"/>
            </a:endParaRPr>
          </a:p>
          <a:p>
            <a:pPr indent="0" lvl="0" marL="0" rtl="0" algn="l">
              <a:lnSpc>
                <a:spcPct val="105000"/>
              </a:lnSpc>
              <a:spcBef>
                <a:spcPts val="1200"/>
              </a:spcBef>
              <a:spcAft>
                <a:spcPts val="0"/>
              </a:spcAft>
              <a:buNone/>
            </a:pPr>
            <a:r>
              <a:rPr b="1" lang="en" sz="1425">
                <a:solidFill>
                  <a:srgbClr val="FF0000"/>
                </a:solidFill>
                <a:latin typeface="Arial"/>
                <a:ea typeface="Arial"/>
                <a:cs typeface="Arial"/>
                <a:sym typeface="Arial"/>
              </a:rPr>
              <a:t>Case-5: Concatenation</a:t>
            </a:r>
            <a:r>
              <a:rPr lang="en" sz="1425">
                <a:latin typeface="Arial"/>
                <a:ea typeface="Arial"/>
                <a:cs typeface="Arial"/>
                <a:sym typeface="Arial"/>
              </a:rPr>
              <a:t>  </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R = R1 ◦ R2.</a:t>
            </a:r>
            <a:endParaRPr sz="1425">
              <a:latin typeface="Arial"/>
              <a:ea typeface="Arial"/>
              <a:cs typeface="Arial"/>
              <a:sym typeface="Arial"/>
            </a:endParaRPr>
          </a:p>
          <a:p>
            <a:pPr indent="0" lvl="0" marL="0" rtl="0" algn="l">
              <a:lnSpc>
                <a:spcPct val="105000"/>
              </a:lnSpc>
              <a:spcBef>
                <a:spcPts val="1200"/>
              </a:spcBef>
              <a:spcAft>
                <a:spcPts val="0"/>
              </a:spcAft>
              <a:buNone/>
            </a:pPr>
            <a:r>
              <a:rPr b="1" lang="en" sz="1425">
                <a:solidFill>
                  <a:srgbClr val="FF0000"/>
                </a:solidFill>
                <a:latin typeface="Arial"/>
                <a:ea typeface="Arial"/>
                <a:cs typeface="Arial"/>
                <a:sym typeface="Arial"/>
              </a:rPr>
              <a:t>Case-5: Star</a:t>
            </a:r>
            <a:r>
              <a:rPr lang="en" sz="1425">
                <a:latin typeface="Arial"/>
                <a:ea typeface="Arial"/>
                <a:cs typeface="Arial"/>
                <a:sym typeface="Arial"/>
              </a:rPr>
              <a:t>  </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R = R1*.</a:t>
            </a:r>
            <a:endParaRPr sz="1425">
              <a:latin typeface="Arial"/>
              <a:ea typeface="Arial"/>
              <a:cs typeface="Arial"/>
              <a:sym typeface="Arial"/>
            </a:endParaRPr>
          </a:p>
          <a:p>
            <a:pPr indent="0" lvl="0" marL="0" rtl="0" algn="l">
              <a:lnSpc>
                <a:spcPct val="105000"/>
              </a:lnSpc>
              <a:spcBef>
                <a:spcPts val="1200"/>
              </a:spcBef>
              <a:spcAft>
                <a:spcPts val="0"/>
              </a:spcAft>
              <a:buSzPts val="688"/>
              <a:buNone/>
            </a:pPr>
            <a:r>
              <a:t/>
            </a:r>
            <a:endParaRPr b="1" sz="1425">
              <a:solidFill>
                <a:srgbClr val="FF0000"/>
              </a:solidFill>
              <a:latin typeface="Arial"/>
              <a:ea typeface="Arial"/>
              <a:cs typeface="Arial"/>
              <a:sym typeface="Arial"/>
            </a:endParaRPr>
          </a:p>
          <a:p>
            <a:pPr indent="0" lvl="0" marL="0" rtl="0" algn="l">
              <a:lnSpc>
                <a:spcPct val="105000"/>
              </a:lnSpc>
              <a:spcBef>
                <a:spcPts val="1200"/>
              </a:spcBef>
              <a:spcAft>
                <a:spcPts val="0"/>
              </a:spcAft>
              <a:buSzPts val="688"/>
              <a:buNone/>
            </a:pPr>
            <a:r>
              <a:rPr b="1" i="1" lang="en" sz="1425">
                <a:solidFill>
                  <a:srgbClr val="FF0000"/>
                </a:solidFill>
                <a:latin typeface="Arial"/>
                <a:ea typeface="Arial"/>
                <a:cs typeface="Arial"/>
                <a:sym typeface="Arial"/>
              </a:rPr>
              <a:t>Note:</a:t>
            </a:r>
            <a:r>
              <a:rPr lang="en" sz="1425">
                <a:latin typeface="Arial"/>
                <a:ea typeface="Arial"/>
                <a:cs typeface="Arial"/>
                <a:sym typeface="Arial"/>
              </a:rPr>
              <a:t>  </a:t>
            </a:r>
            <a:endParaRPr sz="1425">
              <a:latin typeface="Arial"/>
              <a:ea typeface="Arial"/>
              <a:cs typeface="Arial"/>
              <a:sym typeface="Arial"/>
            </a:endParaRPr>
          </a:p>
          <a:p>
            <a:pPr indent="-319087" lvl="0" marL="914400" rtl="0" algn="l">
              <a:lnSpc>
                <a:spcPct val="105000"/>
              </a:lnSpc>
              <a:spcBef>
                <a:spcPts val="1200"/>
              </a:spcBef>
              <a:spcAft>
                <a:spcPts val="0"/>
              </a:spcAft>
              <a:buSzPts val="1425"/>
              <a:buFont typeface="Arial"/>
              <a:buChar char="-"/>
            </a:pPr>
            <a:r>
              <a:rPr lang="en" sz="1425">
                <a:latin typeface="Arial"/>
                <a:ea typeface="Arial"/>
                <a:cs typeface="Arial"/>
                <a:sym typeface="Arial"/>
              </a:rPr>
              <a:t>For the last three cases, we use the constructions given in the proofs that the class of regular languages is </a:t>
            </a:r>
            <a:r>
              <a:rPr b="1" lang="en" sz="1425">
                <a:latin typeface="Arial"/>
                <a:ea typeface="Arial"/>
                <a:cs typeface="Arial"/>
                <a:sym typeface="Arial"/>
              </a:rPr>
              <a:t>closed under the regular operations</a:t>
            </a:r>
            <a:r>
              <a:rPr lang="en" sz="1425">
                <a:latin typeface="Arial"/>
                <a:ea typeface="Arial"/>
                <a:cs typeface="Arial"/>
                <a:sym typeface="Arial"/>
              </a:rPr>
              <a:t>.</a:t>
            </a:r>
            <a:endParaRPr sz="1425">
              <a:latin typeface="Arial"/>
              <a:ea typeface="Arial"/>
              <a:cs typeface="Arial"/>
              <a:sym typeface="Arial"/>
            </a:endParaRPr>
          </a:p>
          <a:p>
            <a:pPr indent="0" lvl="0" marL="0" rtl="0" algn="l">
              <a:lnSpc>
                <a:spcPct val="105000"/>
              </a:lnSpc>
              <a:spcBef>
                <a:spcPts val="1200"/>
              </a:spcBef>
              <a:spcAft>
                <a:spcPts val="1200"/>
              </a:spcAft>
              <a:buNone/>
            </a:pPr>
            <a:r>
              <a:t/>
            </a:r>
            <a:endParaRPr b="1" sz="1425">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a:t>
            </a:r>
            <a:r>
              <a:rPr lang="en"/>
              <a:t> (Approach)</a:t>
            </a:r>
            <a:endParaRPr/>
          </a:p>
        </p:txBody>
      </p:sp>
      <p:sp>
        <p:nvSpPr>
          <p:cNvPr id="175" name="Google Shape;175;p32"/>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b="1" lang="en" sz="1925">
                <a:solidFill>
                  <a:srgbClr val="FF0000"/>
                </a:solidFill>
                <a:latin typeface="Arial"/>
                <a:ea typeface="Arial"/>
                <a:cs typeface="Arial"/>
                <a:sym typeface="Arial"/>
              </a:rPr>
              <a:t>Approach</a:t>
            </a:r>
            <a:endParaRPr sz="1925">
              <a:latin typeface="Arial"/>
              <a:ea typeface="Arial"/>
              <a:cs typeface="Arial"/>
              <a:sym typeface="Arial"/>
            </a:endParaRPr>
          </a:p>
          <a:p>
            <a:pPr indent="-350837" lvl="0" marL="914400" rtl="0" algn="l">
              <a:lnSpc>
                <a:spcPct val="105000"/>
              </a:lnSpc>
              <a:spcBef>
                <a:spcPts val="1200"/>
              </a:spcBef>
              <a:spcAft>
                <a:spcPts val="0"/>
              </a:spcAft>
              <a:buSzPts val="1925"/>
              <a:buFont typeface="Arial"/>
              <a:buAutoNum type="arabicPeriod"/>
            </a:pPr>
            <a:r>
              <a:rPr lang="en" sz="1925">
                <a:latin typeface="Arial"/>
                <a:ea typeface="Arial"/>
                <a:cs typeface="Arial"/>
                <a:sym typeface="Arial"/>
              </a:rPr>
              <a:t>We build up from the smallest subexpressions to larger subexpressions until we have an NFA for the original expression.</a:t>
            </a:r>
            <a:endParaRPr sz="1925">
              <a:latin typeface="Arial"/>
              <a:ea typeface="Arial"/>
              <a:cs typeface="Arial"/>
              <a:sym typeface="Arial"/>
            </a:endParaRPr>
          </a:p>
          <a:p>
            <a:pPr indent="-350837" lvl="0" marL="914400" rtl="0" algn="l">
              <a:lnSpc>
                <a:spcPct val="105000"/>
              </a:lnSpc>
              <a:spcBef>
                <a:spcPts val="0"/>
              </a:spcBef>
              <a:spcAft>
                <a:spcPts val="0"/>
              </a:spcAft>
              <a:buSzPts val="1925"/>
              <a:buFont typeface="Arial"/>
              <a:buAutoNum type="arabicPeriod"/>
            </a:pPr>
            <a:r>
              <a:rPr lang="en" sz="1925">
                <a:latin typeface="Arial"/>
                <a:ea typeface="Arial"/>
                <a:cs typeface="Arial"/>
                <a:sym typeface="Arial"/>
              </a:rPr>
              <a:t>Note that this procedure generally doesn’t give the NFA with the fewest states.</a:t>
            </a:r>
            <a:endParaRPr b="1" sz="1925">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a:t>
            </a:r>
            <a:r>
              <a:rPr lang="en"/>
              <a:t> (Example-1)</a:t>
            </a:r>
            <a:endParaRPr/>
          </a:p>
        </p:txBody>
      </p:sp>
      <p:sp>
        <p:nvSpPr>
          <p:cNvPr id="181" name="Google Shape;181;p33"/>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688"/>
              <a:buNone/>
            </a:pPr>
            <a:r>
              <a:rPr b="1" lang="en" sz="1200">
                <a:solidFill>
                  <a:srgbClr val="FF0000"/>
                </a:solidFill>
                <a:latin typeface="Arial"/>
                <a:ea typeface="Arial"/>
                <a:cs typeface="Arial"/>
                <a:sym typeface="Arial"/>
              </a:rPr>
              <a:t>Example-1: </a:t>
            </a:r>
            <a:r>
              <a:rPr lang="en" sz="1200">
                <a:latin typeface="Arial"/>
                <a:ea typeface="Arial"/>
                <a:cs typeface="Arial"/>
                <a:sym typeface="Arial"/>
              </a:rPr>
              <a:t>Convert the regular expression (ab ∪ a)* to an NFA</a:t>
            </a:r>
            <a:endParaRPr sz="1200">
              <a:latin typeface="Arial"/>
              <a:ea typeface="Arial"/>
              <a:cs typeface="Arial"/>
              <a:sym typeface="Arial"/>
            </a:endParaRPr>
          </a:p>
        </p:txBody>
      </p:sp>
      <p:pic>
        <p:nvPicPr>
          <p:cNvPr id="182" name="Google Shape;182;p33"/>
          <p:cNvPicPr preferRelativeResize="0"/>
          <p:nvPr/>
        </p:nvPicPr>
        <p:blipFill>
          <a:blip r:embed="rId3">
            <a:alphaModFix/>
          </a:blip>
          <a:stretch>
            <a:fillRect/>
          </a:stretch>
        </p:blipFill>
        <p:spPr>
          <a:xfrm>
            <a:off x="2850475" y="1568575"/>
            <a:ext cx="3443049" cy="3327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RegEx to NFA</a:t>
            </a:r>
            <a:r>
              <a:rPr lang="en"/>
              <a:t> (Example-2)</a:t>
            </a:r>
            <a:endParaRPr/>
          </a:p>
        </p:txBody>
      </p:sp>
      <p:sp>
        <p:nvSpPr>
          <p:cNvPr id="188" name="Google Shape;188;p34"/>
          <p:cNvSpPr txBox="1"/>
          <p:nvPr>
            <p:ph idx="1" type="body"/>
          </p:nvPr>
        </p:nvSpPr>
        <p:spPr>
          <a:xfrm>
            <a:off x="311700" y="1234075"/>
            <a:ext cx="8520600" cy="3662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688"/>
              <a:buNone/>
            </a:pPr>
            <a:r>
              <a:rPr b="1" lang="en" sz="1200">
                <a:solidFill>
                  <a:srgbClr val="FF0000"/>
                </a:solidFill>
                <a:latin typeface="Arial"/>
                <a:ea typeface="Arial"/>
                <a:cs typeface="Arial"/>
                <a:sym typeface="Arial"/>
              </a:rPr>
              <a:t>Example-1: </a:t>
            </a:r>
            <a:r>
              <a:rPr lang="en" sz="1200">
                <a:latin typeface="Arial"/>
                <a:ea typeface="Arial"/>
                <a:cs typeface="Arial"/>
                <a:sym typeface="Arial"/>
              </a:rPr>
              <a:t>Convert the regular expression </a:t>
            </a:r>
            <a:r>
              <a:rPr lang="en" sz="1200">
                <a:latin typeface="Arial"/>
                <a:ea typeface="Arial"/>
                <a:cs typeface="Arial"/>
                <a:sym typeface="Arial"/>
              </a:rPr>
              <a:t>(a ∪ b)*aba</a:t>
            </a:r>
            <a:r>
              <a:rPr lang="en" sz="1200">
                <a:latin typeface="Arial"/>
                <a:ea typeface="Arial"/>
                <a:cs typeface="Arial"/>
                <a:sym typeface="Arial"/>
              </a:rPr>
              <a:t> to an NFA</a:t>
            </a:r>
            <a:endParaRPr sz="1200">
              <a:latin typeface="Arial"/>
              <a:ea typeface="Arial"/>
              <a:cs typeface="Arial"/>
              <a:sym typeface="Arial"/>
            </a:endParaRPr>
          </a:p>
        </p:txBody>
      </p:sp>
      <p:pic>
        <p:nvPicPr>
          <p:cNvPr id="189" name="Google Shape;189;p34"/>
          <p:cNvPicPr preferRelativeResize="0"/>
          <p:nvPr/>
        </p:nvPicPr>
        <p:blipFill>
          <a:blip r:embed="rId3">
            <a:alphaModFix/>
          </a:blip>
          <a:stretch>
            <a:fillRect/>
          </a:stretch>
        </p:blipFill>
        <p:spPr>
          <a:xfrm>
            <a:off x="2615450" y="1518025"/>
            <a:ext cx="3913100" cy="3378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