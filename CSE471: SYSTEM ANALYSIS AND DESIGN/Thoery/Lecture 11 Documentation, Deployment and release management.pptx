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9144000"/>
  <p:notesSz cx="6858000" cy="9144000"/>
  <p:embeddedFontLst>
    <p:embeddedFont>
      <p:font typeface="Corbel"/>
      <p:regular r:id="rId46"/>
      <p:bold r:id="rId47"/>
      <p:italic r:id="rId48"/>
      <p:boldItalic r:id="rId49"/>
    </p:embeddedFont>
    <p:embeddedFont>
      <p:font typeface="Tahoma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jAvByqac9wOrpiuAJeO5IcyQal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Corbel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rbel-italic.fntdata"/><Relationship Id="rId47" Type="http://schemas.openxmlformats.org/officeDocument/2006/relationships/font" Target="fonts/Corbel-bold.fntdata"/><Relationship Id="rId49" Type="http://schemas.openxmlformats.org/officeDocument/2006/relationships/font" Target="fonts/Corbel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Tahoma-bold.fntdata"/><Relationship Id="rId50" Type="http://schemas.openxmlformats.org/officeDocument/2006/relationships/font" Target="fonts/Tahoma-regular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930"/>
          </a:p>
        </p:txBody>
      </p:sp>
      <p:sp>
        <p:nvSpPr>
          <p:cNvPr id="172" name="Google Shape;17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These do not necessarily each have to have their own document, but the topics should be covered thoroughly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Software Deployment Life Cycle is an evolving collection of processes. These processes can either be performed on the software producer side or the customer side.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Functionality</a:t>
            </a:r>
            <a:r>
              <a:rPr lang="en-US"/>
              <a:t>: Software deployments can yield more than improving security, as adding new features that address specific business needs can help enhance employee productivity and streamline workflows by removing friction.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Patches</a:t>
            </a:r>
            <a:r>
              <a:rPr lang="en-US"/>
              <a:t>: No application is infallible or impervious to outside intrusion. And the longer a particular release remains deployed without an update, the more likely security exploits are inviting an outside attack.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-US"/>
              <a:t>Robocopy</a:t>
            </a:r>
            <a:r>
              <a:rPr lang="en-US"/>
              <a:t>, for "Robust File Copy", is a command-line directory and/or file replication command for Microsoft Windows.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Microsoft’s Group Policy Object (GPO) is a collection of Group Policy settings that defines what a system will look like and how it will behave for a defined group of users.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Having regular third-party penetration testing, an intelligent alert system, and subsequent software improvements at timely intervals help maintain security and mission-critical objectives with software deployments.</a:t>
            </a:r>
            <a:endParaRPr/>
          </a:p>
        </p:txBody>
      </p:sp>
      <p:sp>
        <p:nvSpPr>
          <p:cNvPr id="360" name="Google Shape;360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600"/>
          </a:p>
        </p:txBody>
      </p:sp>
      <p:sp>
        <p:nvSpPr>
          <p:cNvPr id="428" name="Google Shape;428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2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25" name="Google Shape;25;p42"/>
            <p:cNvSpPr/>
            <p:nvPr/>
          </p:nvSpPr>
          <p:spPr>
            <a:xfrm>
              <a:off x="641350" y="0"/>
              <a:ext cx="1365250" cy="3971925"/>
            </a:xfrm>
            <a:custGeom>
              <a:rect b="b" l="l" r="r" t="t"/>
              <a:pathLst>
                <a:path extrusionOk="0" h="2502" w="86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Google Shape;26;p42"/>
            <p:cNvSpPr/>
            <p:nvPr/>
          </p:nvSpPr>
          <p:spPr>
            <a:xfrm>
              <a:off x="203200" y="0"/>
              <a:ext cx="1336675" cy="3862388"/>
            </a:xfrm>
            <a:custGeom>
              <a:rect b="b" l="l" r="r" t="t"/>
              <a:pathLst>
                <a:path extrusionOk="0" h="2433" w="842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7" name="Google Shape;27;p42"/>
            <p:cNvSpPr/>
            <p:nvPr/>
          </p:nvSpPr>
          <p:spPr>
            <a:xfrm>
              <a:off x="207963" y="3776663"/>
              <a:ext cx="1936750" cy="3081338"/>
            </a:xfrm>
            <a:custGeom>
              <a:rect b="b" l="l" r="r" t="t"/>
              <a:pathLst>
                <a:path extrusionOk="0" h="1941" w="122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8" name="Google Shape;28;p42"/>
            <p:cNvSpPr/>
            <p:nvPr/>
          </p:nvSpPr>
          <p:spPr>
            <a:xfrm>
              <a:off x="646113" y="3886200"/>
              <a:ext cx="2373313" cy="2971800"/>
            </a:xfrm>
            <a:custGeom>
              <a:rect b="b" l="l" r="r" t="t"/>
              <a:pathLst>
                <a:path extrusionOk="0" h="1872" w="1495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29" name="Google Shape;29;p42"/>
            <p:cNvSpPr/>
            <p:nvPr/>
          </p:nvSpPr>
          <p:spPr>
            <a:xfrm>
              <a:off x="641350" y="3881438"/>
              <a:ext cx="3340100" cy="2976563"/>
            </a:xfrm>
            <a:custGeom>
              <a:rect b="b" l="l" r="r" t="t"/>
              <a:pathLst>
                <a:path extrusionOk="0" h="1875" w="2104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30" name="Google Shape;30;p42"/>
            <p:cNvSpPr/>
            <p:nvPr/>
          </p:nvSpPr>
          <p:spPr>
            <a:xfrm>
              <a:off x="203200" y="3771900"/>
              <a:ext cx="2660650" cy="3086100"/>
            </a:xfrm>
            <a:custGeom>
              <a:rect b="b" l="l" r="r" t="t"/>
              <a:pathLst>
                <a:path extrusionOk="0" h="1944" w="1676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1" name="Google Shape;31;p42"/>
          <p:cNvSpPr txBox="1"/>
          <p:nvPr>
            <p:ph type="ctrTitle"/>
          </p:nvPr>
        </p:nvSpPr>
        <p:spPr>
          <a:xfrm>
            <a:off x="1739673" y="914401"/>
            <a:ext cx="6947127" cy="34882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" type="subTitle"/>
          </p:nvPr>
        </p:nvSpPr>
        <p:spPr>
          <a:xfrm>
            <a:off x="2924238" y="4402666"/>
            <a:ext cx="5762563" cy="13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0" type="dt"/>
          </p:nvPr>
        </p:nvSpPr>
        <p:spPr>
          <a:xfrm>
            <a:off x="7325773" y="6117336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1" type="ftr"/>
          </p:nvPr>
        </p:nvSpPr>
        <p:spPr>
          <a:xfrm>
            <a:off x="3623733" y="6117336"/>
            <a:ext cx="36094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275320" y="6117336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2"/>
          <p:cNvSpPr/>
          <p:nvPr/>
        </p:nvSpPr>
        <p:spPr>
          <a:xfrm>
            <a:off x="203200" y="3771900"/>
            <a:ext cx="361950" cy="90488"/>
          </a:xfrm>
          <a:custGeom>
            <a:rect b="b" l="l" r="r" t="t"/>
            <a:pathLst>
              <a:path extrusionOk="0" h="57" w="228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  <p:sp>
        <p:nvSpPr>
          <p:cNvPr id="37" name="Google Shape;37;p42"/>
          <p:cNvSpPr/>
          <p:nvPr/>
        </p:nvSpPr>
        <p:spPr>
          <a:xfrm>
            <a:off x="560388" y="3867150"/>
            <a:ext cx="61913" cy="80963"/>
          </a:xfrm>
          <a:custGeom>
            <a:rect b="b" l="l" r="r" t="t"/>
            <a:pathLst>
              <a:path extrusionOk="0" h="51" w="39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  <p:pic>
        <p:nvPicPr>
          <p:cNvPr id="38" name="Google Shape;3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4509" y="76200"/>
            <a:ext cx="1295400" cy="1188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0" type="dt"/>
          </p:nvPr>
        </p:nvSpPr>
        <p:spPr>
          <a:xfrm>
            <a:off x="7401494" y="6492875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1" type="ftr"/>
          </p:nvPr>
        </p:nvSpPr>
        <p:spPr>
          <a:xfrm>
            <a:off x="2036739" y="6473298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" name="Google Shape;45;p43"/>
          <p:cNvCxnSpPr/>
          <p:nvPr/>
        </p:nvCxnSpPr>
        <p:spPr>
          <a:xfrm>
            <a:off x="457200" y="1447800"/>
            <a:ext cx="8229600" cy="0"/>
          </a:xfrm>
          <a:prstGeom prst="straightConnector1">
            <a:avLst/>
          </a:prstGeom>
          <a:noFill/>
          <a:ln cap="flat" cmpd="sng" w="762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 txBox="1"/>
          <p:nvPr>
            <p:ph type="title"/>
          </p:nvPr>
        </p:nvSpPr>
        <p:spPr>
          <a:xfrm>
            <a:off x="1986995" y="2666998"/>
            <a:ext cx="6699805" cy="2360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" type="body"/>
          </p:nvPr>
        </p:nvSpPr>
        <p:spPr>
          <a:xfrm>
            <a:off x="1986998" y="5027070"/>
            <a:ext cx="6699802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2" type="sldNum"/>
          </p:nvPr>
        </p:nvSpPr>
        <p:spPr>
          <a:xfrm>
            <a:off x="8288557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5"/>
          <p:cNvSpPr txBox="1"/>
          <p:nvPr>
            <p:ph type="title"/>
          </p:nvPr>
        </p:nvSpPr>
        <p:spPr>
          <a:xfrm>
            <a:off x="964122" y="158376"/>
            <a:ext cx="679026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" type="body"/>
          </p:nvPr>
        </p:nvSpPr>
        <p:spPr>
          <a:xfrm>
            <a:off x="982133" y="1676400"/>
            <a:ext cx="3739896" cy="4359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45"/>
          <p:cNvSpPr txBox="1"/>
          <p:nvPr>
            <p:ph idx="2" type="body"/>
          </p:nvPr>
        </p:nvSpPr>
        <p:spPr>
          <a:xfrm>
            <a:off x="4946904" y="1676400"/>
            <a:ext cx="3739896" cy="4337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6" name="Google Shape;56;p45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5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6"/>
          <p:cNvSpPr txBox="1"/>
          <p:nvPr>
            <p:ph type="title"/>
          </p:nvPr>
        </p:nvSpPr>
        <p:spPr>
          <a:xfrm>
            <a:off x="982133" y="457201"/>
            <a:ext cx="6790267" cy="129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" type="body"/>
          </p:nvPr>
        </p:nvSpPr>
        <p:spPr>
          <a:xfrm>
            <a:off x="1329481" y="2658533"/>
            <a:ext cx="345629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2" name="Google Shape;62;p46"/>
          <p:cNvSpPr txBox="1"/>
          <p:nvPr>
            <p:ph idx="2" type="body"/>
          </p:nvPr>
        </p:nvSpPr>
        <p:spPr>
          <a:xfrm>
            <a:off x="1113523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3" name="Google Shape;63;p46"/>
          <p:cNvSpPr txBox="1"/>
          <p:nvPr>
            <p:ph idx="3" type="body"/>
          </p:nvPr>
        </p:nvSpPr>
        <p:spPr>
          <a:xfrm>
            <a:off x="5161710" y="2667000"/>
            <a:ext cx="346780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4" name="Google Shape;64;p46"/>
          <p:cNvSpPr txBox="1"/>
          <p:nvPr>
            <p:ph idx="4" type="body"/>
          </p:nvPr>
        </p:nvSpPr>
        <p:spPr>
          <a:xfrm>
            <a:off x="4957266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982133" y="457201"/>
            <a:ext cx="6790267" cy="129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8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9"/>
          <p:cNvSpPr txBox="1"/>
          <p:nvPr>
            <p:ph type="title"/>
          </p:nvPr>
        </p:nvSpPr>
        <p:spPr>
          <a:xfrm>
            <a:off x="1113524" y="1600200"/>
            <a:ext cx="26625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" type="body"/>
          </p:nvPr>
        </p:nvSpPr>
        <p:spPr>
          <a:xfrm>
            <a:off x="3947553" y="685800"/>
            <a:ext cx="4681962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80" name="Google Shape;80;p49"/>
          <p:cNvSpPr txBox="1"/>
          <p:nvPr>
            <p:ph idx="2" type="body"/>
          </p:nvPr>
        </p:nvSpPr>
        <p:spPr>
          <a:xfrm>
            <a:off x="1113524" y="2971800"/>
            <a:ext cx="266253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title"/>
          </p:nvPr>
        </p:nvSpPr>
        <p:spPr>
          <a:xfrm>
            <a:off x="1112332" y="1752599"/>
            <a:ext cx="40706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0"/>
          <p:cNvSpPr/>
          <p:nvPr>
            <p:ph idx="2" type="pic"/>
          </p:nvPr>
        </p:nvSpPr>
        <p:spPr>
          <a:xfrm>
            <a:off x="5697495" y="914400"/>
            <a:ext cx="2461371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0"/>
          <p:cNvSpPr txBox="1"/>
          <p:nvPr>
            <p:ph idx="1" type="body"/>
          </p:nvPr>
        </p:nvSpPr>
        <p:spPr>
          <a:xfrm>
            <a:off x="1112332" y="3124199"/>
            <a:ext cx="407067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8" name="Google Shape;88;p50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0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1"/>
          <p:cNvSpPr txBox="1"/>
          <p:nvPr>
            <p:ph type="title"/>
          </p:nvPr>
        </p:nvSpPr>
        <p:spPr>
          <a:xfrm>
            <a:off x="1113523" y="4732865"/>
            <a:ext cx="751599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1"/>
          <p:cNvSpPr/>
          <p:nvPr>
            <p:ph idx="2" type="pic"/>
          </p:nvPr>
        </p:nvSpPr>
        <p:spPr>
          <a:xfrm>
            <a:off x="1789975" y="932112"/>
            <a:ext cx="6171065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1"/>
          <p:cNvSpPr txBox="1"/>
          <p:nvPr>
            <p:ph idx="1" type="body"/>
          </p:nvPr>
        </p:nvSpPr>
        <p:spPr>
          <a:xfrm>
            <a:off x="1113523" y="5299603"/>
            <a:ext cx="751599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5" name="Google Shape;95;p51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1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2"/>
          <p:cNvSpPr txBox="1"/>
          <p:nvPr>
            <p:ph type="title"/>
          </p:nvPr>
        </p:nvSpPr>
        <p:spPr>
          <a:xfrm>
            <a:off x="1113524" y="685800"/>
            <a:ext cx="751599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2"/>
          <p:cNvSpPr txBox="1"/>
          <p:nvPr>
            <p:ph idx="1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52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2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2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3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3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3"/>
          <p:cNvSpPr txBox="1"/>
          <p:nvPr>
            <p:ph idx="1" type="body"/>
          </p:nvPr>
        </p:nvSpPr>
        <p:spPr>
          <a:xfrm>
            <a:off x="1598235" y="3428999"/>
            <a:ext cx="66311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9" name="Google Shape;109;p53"/>
          <p:cNvSpPr txBox="1"/>
          <p:nvPr>
            <p:ph idx="2" type="body"/>
          </p:nvPr>
        </p:nvSpPr>
        <p:spPr>
          <a:xfrm>
            <a:off x="1113523" y="4343400"/>
            <a:ext cx="751599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53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4"/>
          <p:cNvSpPr txBox="1"/>
          <p:nvPr>
            <p:ph type="title"/>
          </p:nvPr>
        </p:nvSpPr>
        <p:spPr>
          <a:xfrm>
            <a:off x="1113525" y="3308581"/>
            <a:ext cx="751598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4"/>
          <p:cNvSpPr txBox="1"/>
          <p:nvPr>
            <p:ph idx="1" type="body"/>
          </p:nvPr>
        </p:nvSpPr>
        <p:spPr>
          <a:xfrm>
            <a:off x="1113524" y="4777381"/>
            <a:ext cx="751599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54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4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4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5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5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5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5"/>
          <p:cNvSpPr txBox="1"/>
          <p:nvPr>
            <p:ph idx="1" type="body"/>
          </p:nvPr>
        </p:nvSpPr>
        <p:spPr>
          <a:xfrm>
            <a:off x="1113525" y="3886200"/>
            <a:ext cx="751599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55"/>
          <p:cNvSpPr txBox="1"/>
          <p:nvPr>
            <p:ph idx="2" type="body"/>
          </p:nvPr>
        </p:nvSpPr>
        <p:spPr>
          <a:xfrm>
            <a:off x="1113524" y="4775200"/>
            <a:ext cx="751599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5" name="Google Shape;125;p55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5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5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6"/>
          <p:cNvSpPr txBox="1"/>
          <p:nvPr>
            <p:ph type="title"/>
          </p:nvPr>
        </p:nvSpPr>
        <p:spPr>
          <a:xfrm>
            <a:off x="1113525" y="685801"/>
            <a:ext cx="7515991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6"/>
          <p:cNvSpPr txBox="1"/>
          <p:nvPr>
            <p:ph idx="1" type="body"/>
          </p:nvPr>
        </p:nvSpPr>
        <p:spPr>
          <a:xfrm>
            <a:off x="1113524" y="3505200"/>
            <a:ext cx="75159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1" name="Google Shape;131;p56"/>
          <p:cNvSpPr txBox="1"/>
          <p:nvPr>
            <p:ph idx="2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p56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6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6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7"/>
          <p:cNvSpPr txBox="1"/>
          <p:nvPr>
            <p:ph type="title"/>
          </p:nvPr>
        </p:nvSpPr>
        <p:spPr>
          <a:xfrm>
            <a:off x="982133" y="457201"/>
            <a:ext cx="6790267" cy="129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7"/>
          <p:cNvSpPr txBox="1"/>
          <p:nvPr>
            <p:ph idx="1" type="body"/>
          </p:nvPr>
        </p:nvSpPr>
        <p:spPr>
          <a:xfrm rot="5400000">
            <a:off x="2522273" y="274373"/>
            <a:ext cx="4624387" cy="770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8" name="Google Shape;138;p57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7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7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8"/>
          <p:cNvSpPr txBox="1"/>
          <p:nvPr>
            <p:ph type="title"/>
          </p:nvPr>
        </p:nvSpPr>
        <p:spPr>
          <a:xfrm rot="5400000">
            <a:off x="5412754" y="2574438"/>
            <a:ext cx="5105400" cy="1328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8"/>
          <p:cNvSpPr txBox="1"/>
          <p:nvPr>
            <p:ph idx="1" type="body"/>
          </p:nvPr>
        </p:nvSpPr>
        <p:spPr>
          <a:xfrm rot="5400000">
            <a:off x="1569010" y="230314"/>
            <a:ext cx="5105400" cy="601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4" name="Google Shape;144;p58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8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8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1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1" name="Google Shape;11;p41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1"/>
            <p:cNvSpPr/>
            <p:nvPr/>
          </p:nvSpPr>
          <p:spPr>
            <a:xfrm>
              <a:off x="0" y="0"/>
              <a:ext cx="758825" cy="4624388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1"/>
            <p:cNvSpPr/>
            <p:nvPr/>
          </p:nvSpPr>
          <p:spPr>
            <a:xfrm>
              <a:off x="0" y="5662613"/>
              <a:ext cx="906463" cy="1195388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1"/>
            <p:cNvSpPr/>
            <p:nvPr/>
          </p:nvSpPr>
          <p:spPr>
            <a:xfrm>
              <a:off x="0" y="5295900"/>
              <a:ext cx="1487488" cy="1562100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15" name="Google Shape;15;p41"/>
            <p:cNvSpPr/>
            <p:nvPr/>
          </p:nvSpPr>
          <p:spPr>
            <a:xfrm>
              <a:off x="0" y="5257800"/>
              <a:ext cx="2132013" cy="1600200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16" name="Google Shape;16;p41"/>
            <p:cNvSpPr/>
            <p:nvPr/>
          </p:nvSpPr>
          <p:spPr>
            <a:xfrm>
              <a:off x="0" y="5357813"/>
              <a:ext cx="1377950" cy="1500188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1"/>
          <p:cNvSpPr txBox="1"/>
          <p:nvPr>
            <p:ph type="title"/>
          </p:nvPr>
        </p:nvSpPr>
        <p:spPr>
          <a:xfrm>
            <a:off x="982133" y="457201"/>
            <a:ext cx="6790267" cy="129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1"/>
          <p:cNvSpPr txBox="1"/>
          <p:nvPr>
            <p:ph idx="1" type="body"/>
          </p:nvPr>
        </p:nvSpPr>
        <p:spPr>
          <a:xfrm>
            <a:off x="982134" y="1814513"/>
            <a:ext cx="7704666" cy="462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66092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41"/>
          <p:cNvSpPr txBox="1"/>
          <p:nvPr>
            <p:ph idx="10" type="dt"/>
          </p:nvPr>
        </p:nvSpPr>
        <p:spPr>
          <a:xfrm>
            <a:off x="7385364" y="6479247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41"/>
          <p:cNvSpPr txBox="1"/>
          <p:nvPr>
            <p:ph idx="11" type="ftr"/>
          </p:nvPr>
        </p:nvSpPr>
        <p:spPr>
          <a:xfrm>
            <a:off x="1130316" y="6492875"/>
            <a:ext cx="62283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41"/>
          <p:cNvSpPr txBox="1"/>
          <p:nvPr>
            <p:ph idx="12" type="sldNum"/>
          </p:nvPr>
        </p:nvSpPr>
        <p:spPr>
          <a:xfrm>
            <a:off x="8245608" y="6479246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160918"/>
            <a:ext cx="1295400" cy="118852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685800" y="1066800"/>
            <a:ext cx="80772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Corbel"/>
              <a:buNone/>
            </a:pPr>
            <a:r>
              <a:rPr lang="en-US" sz="4800">
                <a:solidFill>
                  <a:srgbClr val="17365D"/>
                </a:solidFill>
              </a:rPr>
              <a:t>Systems Analysis and Design</a:t>
            </a:r>
            <a:br>
              <a:rPr lang="en-US">
                <a:solidFill>
                  <a:srgbClr val="17365D"/>
                </a:solidFill>
              </a:rPr>
            </a:br>
            <a:br>
              <a:rPr lang="en-US" sz="2800">
                <a:solidFill>
                  <a:srgbClr val="17365D"/>
                </a:solidFill>
              </a:rPr>
            </a:br>
            <a:br>
              <a:rPr lang="en-US" sz="2800">
                <a:solidFill>
                  <a:srgbClr val="17365D"/>
                </a:solidFill>
              </a:rPr>
            </a:br>
            <a:br>
              <a:rPr lang="en-US" sz="2800">
                <a:solidFill>
                  <a:srgbClr val="17365D"/>
                </a:solidFill>
              </a:rPr>
            </a:br>
            <a:r>
              <a:rPr lang="en-US" sz="4000">
                <a:solidFill>
                  <a:srgbClr val="17365D"/>
                </a:solidFill>
              </a:rPr>
              <a:t>Documentation, Deployment and Release management </a:t>
            </a:r>
            <a:endParaRPr sz="4000">
              <a:solidFill>
                <a:srgbClr val="17365D"/>
              </a:solidFill>
            </a:endParaRPr>
          </a:p>
        </p:txBody>
      </p:sp>
      <p:sp>
        <p:nvSpPr>
          <p:cNvPr id="152" name="Google Shape;152;p1"/>
          <p:cNvSpPr txBox="1"/>
          <p:nvPr>
            <p:ph idx="12" type="sldNum"/>
          </p:nvPr>
        </p:nvSpPr>
        <p:spPr>
          <a:xfrm>
            <a:off x="8275320" y="6117336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12-</a:t>
            </a: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 txBox="1"/>
          <p:nvPr>
            <p:ph idx="1" type="subTitle"/>
          </p:nvPr>
        </p:nvSpPr>
        <p:spPr>
          <a:xfrm>
            <a:off x="2924238" y="4402666"/>
            <a:ext cx="5762563" cy="13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59" name="Google Shape;159;p2"/>
          <p:cNvSpPr txBox="1"/>
          <p:nvPr>
            <p:ph idx="1" type="body"/>
          </p:nvPr>
        </p:nvSpPr>
        <p:spPr>
          <a:xfrm>
            <a:off x="914400" y="1600200"/>
            <a:ext cx="7902900" cy="4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9176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FF0000"/>
                </a:solidFill>
              </a:rPr>
              <a:t>implementation phase </a:t>
            </a:r>
            <a:r>
              <a:rPr lang="en-US"/>
              <a:t>consists of developing and testing the system’s software, documentation, and new operating procedures.</a:t>
            </a:r>
            <a:endParaRPr/>
          </a:p>
          <a:p>
            <a:pPr indent="-269176" lvl="0" marL="28575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FF0000"/>
                </a:solidFill>
              </a:rPr>
              <a:t>Managing the programming process </a:t>
            </a:r>
            <a:r>
              <a:rPr lang="en-US"/>
              <a:t>is the major task of the systems analyst in this phase.</a:t>
            </a:r>
            <a:endParaRPr/>
          </a:p>
          <a:p>
            <a:pPr indent="-269176" lvl="0" marL="28575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While programmers work on programming, the systems analyst design a variety of </a:t>
            </a:r>
            <a:r>
              <a:rPr b="1" lang="en-US">
                <a:solidFill>
                  <a:srgbClr val="FF0000"/>
                </a:solidFill>
              </a:rPr>
              <a:t>tests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to ensure that the system does what it was designed to do. </a:t>
            </a:r>
            <a:endParaRPr/>
          </a:p>
          <a:p>
            <a:pPr indent="-269176" lvl="0" marL="28575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During this phase, the systems analysts finalize the </a:t>
            </a:r>
            <a:r>
              <a:rPr b="1" lang="en-US">
                <a:solidFill>
                  <a:srgbClr val="FF0000"/>
                </a:solidFill>
              </a:rPr>
              <a:t>system documentation </a:t>
            </a:r>
            <a:r>
              <a:rPr lang="en-US"/>
              <a:t>and develop the </a:t>
            </a:r>
            <a:r>
              <a:rPr b="1" lang="en-US">
                <a:solidFill>
                  <a:srgbClr val="FF0000"/>
                </a:solidFill>
              </a:rPr>
              <a:t>user documentation</a:t>
            </a:r>
            <a:r>
              <a:rPr lang="en-US"/>
              <a:t>.</a:t>
            </a:r>
            <a:r>
              <a:rPr b="1" lang="en-US">
                <a:solidFill>
                  <a:srgbClr val="3366FF"/>
                </a:solidFill>
              </a:rPr>
              <a:t> 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160" name="Google Shape;160;p2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12-</a:t>
            </a: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>
            <p:ph type="title"/>
          </p:nvPr>
        </p:nvSpPr>
        <p:spPr>
          <a:xfrm>
            <a:off x="1066800" y="152400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DEVELOPING DOCUMENTATION</a:t>
            </a:r>
            <a:endParaRPr/>
          </a:p>
        </p:txBody>
      </p:sp>
      <p:sp>
        <p:nvSpPr>
          <p:cNvPr id="167" name="Google Shape;167;p3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There are two fundamentally different types of documentation: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SzPts val="4060"/>
              <a:buFont typeface="Noto Sans"/>
              <a:buNone/>
            </a:pPr>
            <a:r>
              <a:rPr lang="en-US" sz="2800"/>
              <a:t> - </a:t>
            </a:r>
            <a:r>
              <a:rPr b="1" i="1" lang="en-US" sz="2800">
                <a:solidFill>
                  <a:srgbClr val="0033CC"/>
                </a:solidFill>
              </a:rPr>
              <a:t>system documentation </a:t>
            </a:r>
            <a:r>
              <a:rPr lang="en-US" sz="2800"/>
              <a:t>is intended to help programmers and systems analysts understand the system and enable them to build it or maintain it;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SzPts val="4060"/>
              <a:buFont typeface="Noto Sans"/>
              <a:buNone/>
            </a:pPr>
            <a:r>
              <a:rPr lang="en-US" sz="2800"/>
              <a:t>  - </a:t>
            </a:r>
            <a:r>
              <a:rPr b="1" i="1" lang="en-US" sz="2800">
                <a:solidFill>
                  <a:srgbClr val="0033CC"/>
                </a:solidFill>
              </a:rPr>
              <a:t>user documentation </a:t>
            </a:r>
            <a:r>
              <a:rPr lang="en-US" sz="2800"/>
              <a:t>is designed to help the user operate the system.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68" name="Google Shape;168;p3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12-</a:t>
            </a: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>
            <p:ph type="title"/>
          </p:nvPr>
        </p:nvSpPr>
        <p:spPr>
          <a:xfrm>
            <a:off x="1066800" y="306652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On-line documentation </a:t>
            </a:r>
            <a:endParaRPr/>
          </a:p>
        </p:txBody>
      </p:sp>
      <p:sp>
        <p:nvSpPr>
          <p:cNvPr id="175" name="Google Shape;175;p4"/>
          <p:cNvSpPr txBox="1"/>
          <p:nvPr>
            <p:ph idx="1" type="body"/>
          </p:nvPr>
        </p:nvSpPr>
        <p:spPr>
          <a:xfrm>
            <a:off x="914400" y="16002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7507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945"/>
              <a:buChar char="•"/>
            </a:pPr>
            <a:r>
              <a:rPr lang="en-US" sz="4000"/>
              <a:t> There are four key strengths of online documentation:</a:t>
            </a:r>
            <a:endParaRPr sz="2000"/>
          </a:p>
          <a:p>
            <a:pPr indent="-285750" lvl="1" marL="74295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5075"/>
              <a:buNone/>
            </a:pPr>
            <a:r>
              <a:rPr lang="en-US" sz="2400"/>
              <a:t> - Simpler searching</a:t>
            </a:r>
            <a:endParaRPr sz="1400"/>
          </a:p>
          <a:p>
            <a:pPr indent="-285750" lvl="1" marL="74295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5075"/>
              <a:buNone/>
            </a:pPr>
            <a:r>
              <a:rPr lang="en-US" sz="2400"/>
              <a:t> - Different representation</a:t>
            </a:r>
            <a:endParaRPr sz="1400"/>
          </a:p>
          <a:p>
            <a:pPr indent="-285750" lvl="1" marL="74295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5075"/>
              <a:buNone/>
            </a:pPr>
            <a:r>
              <a:rPr lang="en-US" sz="2400"/>
              <a:t> - User Interaction</a:t>
            </a:r>
            <a:endParaRPr sz="1400"/>
          </a:p>
          <a:p>
            <a:pPr indent="-285750" lvl="1" marL="74295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5075"/>
              <a:buNone/>
            </a:pPr>
            <a:r>
              <a:rPr lang="en-US" sz="2400"/>
              <a:t> - less expensive</a:t>
            </a:r>
            <a:endParaRPr sz="1400"/>
          </a:p>
          <a:p>
            <a:pPr indent="-64770" lvl="0" marL="2857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12-</a:t>
            </a: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/>
              <a:t>Documentation Requirements</a:t>
            </a:r>
            <a:endParaRPr/>
          </a:p>
        </p:txBody>
      </p:sp>
      <p:sp>
        <p:nvSpPr>
          <p:cNvPr id="182" name="Google Shape;182;p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General requirements of all software documentation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Should provide for communication among team members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Should act as an information repository to be used by maintenance engineers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Should provide enough information to management to allow them to perform all program management related activities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Should describe to users how to operate and administer the system</a:t>
            </a:r>
            <a:endParaRPr/>
          </a:p>
        </p:txBody>
      </p:sp>
      <p:sp>
        <p:nvSpPr>
          <p:cNvPr id="183" name="Google Shape;183;p5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/>
              <a:t>Documentation Requirements</a:t>
            </a:r>
            <a:endParaRPr/>
          </a:p>
        </p:txBody>
      </p:sp>
      <p:sp>
        <p:nvSpPr>
          <p:cNvPr id="189" name="Google Shape;189;p6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In all software projects some amount of documentation should be created prior to any code being written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Design docs, etc.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Documentation should continue after the code has been completed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User’s manuals, etc. </a:t>
            </a:r>
            <a:endParaRPr/>
          </a:p>
        </p:txBody>
      </p:sp>
      <p:sp>
        <p:nvSpPr>
          <p:cNvPr id="190" name="Google Shape;190;p6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Documentation</a:t>
            </a:r>
            <a:endParaRPr/>
          </a:p>
        </p:txBody>
      </p:sp>
      <p:sp>
        <p:nvSpPr>
          <p:cNvPr id="197" name="Google Shape;197;p7"/>
          <p:cNvSpPr txBox="1"/>
          <p:nvPr>
            <p:ph idx="1" type="body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885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510"/>
              <a:buChar char="•"/>
            </a:pPr>
            <a:r>
              <a:rPr lang="en-US" sz="3800"/>
              <a:t> There are two fundamentally different types of user documentation: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  <a:buSzPts val="4930"/>
              <a:buNone/>
            </a:pPr>
            <a:r>
              <a:rPr b="1" lang="en-US" sz="3400">
                <a:solidFill>
                  <a:srgbClr val="3366FF"/>
                </a:solidFill>
              </a:rPr>
              <a:t> - </a:t>
            </a:r>
            <a:r>
              <a:rPr b="1" i="1" lang="en-US" sz="3400">
                <a:solidFill>
                  <a:srgbClr val="0033CC"/>
                </a:solidFill>
              </a:rPr>
              <a:t>Process Documents</a:t>
            </a:r>
            <a:endParaRPr sz="3400"/>
          </a:p>
          <a:p>
            <a:pPr indent="-285750" lvl="1" marL="742950" rtl="0"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  <a:buSzPts val="4930"/>
              <a:buNone/>
            </a:pPr>
            <a:r>
              <a:rPr b="1" lang="en-US" sz="3400">
                <a:solidFill>
                  <a:srgbClr val="3366FF"/>
                </a:solidFill>
              </a:rPr>
              <a:t> - </a:t>
            </a:r>
            <a:r>
              <a:rPr b="1" i="1" lang="en-US" sz="3400">
                <a:solidFill>
                  <a:srgbClr val="0033CC"/>
                </a:solidFill>
              </a:rPr>
              <a:t>Product Documents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Font typeface="Noto Sans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12-</a:t>
            </a: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/>
              <a:t>Process Documentation</a:t>
            </a:r>
            <a:endParaRPr/>
          </a:p>
        </p:txBody>
      </p:sp>
      <p:sp>
        <p:nvSpPr>
          <p:cNvPr id="205" name="Google Shape;205;p8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Used to record and track the development process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Planning documentation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Cost, Schedule, Funding tracking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Schedules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Standards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Etc.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Noto Sans"/>
              <a:buNone/>
            </a:pPr>
            <a:r>
              <a:t/>
            </a:r>
            <a:endParaRPr sz="2800"/>
          </a:p>
          <a:p>
            <a:pPr indent="-64769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400"/>
          </a:p>
        </p:txBody>
      </p:sp>
      <p:sp>
        <p:nvSpPr>
          <p:cNvPr id="206" name="Google Shape;206;p8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/>
              <a:t>Process Documentation</a:t>
            </a:r>
            <a:endParaRPr/>
          </a:p>
        </p:txBody>
      </p:sp>
      <p:sp>
        <p:nvSpPr>
          <p:cNvPr id="212" name="Google Shape;212;p9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Has a relatively short lifespan</a:t>
            </a:r>
            <a:endParaRPr/>
          </a:p>
          <a:p>
            <a:pPr indent="-1016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Only important to internal development process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Except in cases where the customer requires a view into this data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Some items, such as papers that describe design decisions should be extracted and moved into the </a:t>
            </a:r>
            <a:r>
              <a:rPr i="1" lang="en-US"/>
              <a:t>product </a:t>
            </a:r>
            <a:r>
              <a:rPr lang="en-US"/>
              <a:t>documentation category when they become implemented</a:t>
            </a:r>
            <a:endParaRPr/>
          </a:p>
          <a:p>
            <a:pPr indent="-1016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Product Documentation</a:t>
            </a:r>
            <a:endParaRPr/>
          </a:p>
        </p:txBody>
      </p:sp>
      <p:sp>
        <p:nvSpPr>
          <p:cNvPr id="219" name="Google Shape;219;p10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Describes the </a:t>
            </a:r>
            <a:r>
              <a:rPr b="1" lang="en-US"/>
              <a:t>delivered</a:t>
            </a:r>
            <a:r>
              <a:rPr lang="en-US"/>
              <a:t> product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Must evolve with the development of the software product</a:t>
            </a:r>
            <a:endParaRPr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Two main categories:</a:t>
            </a:r>
            <a:endParaRPr/>
          </a:p>
          <a:p>
            <a:pPr indent="-1016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System Documentation</a:t>
            </a:r>
            <a:endParaRPr/>
          </a:p>
          <a:p>
            <a:pPr indent="-1016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User Documentation</a:t>
            </a:r>
            <a:endParaRPr/>
          </a:p>
        </p:txBody>
      </p:sp>
      <p:sp>
        <p:nvSpPr>
          <p:cNvPr id="220" name="Google Shape;220;p10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Product Documentation</a:t>
            </a:r>
            <a:endParaRPr/>
          </a:p>
        </p:txBody>
      </p:sp>
      <p:sp>
        <p:nvSpPr>
          <p:cNvPr id="226" name="Google Shape;226;p11"/>
          <p:cNvSpPr txBox="1"/>
          <p:nvPr>
            <p:ph idx="1" type="body"/>
          </p:nvPr>
        </p:nvSpPr>
        <p:spPr>
          <a:xfrm>
            <a:off x="982125" y="1600200"/>
            <a:ext cx="7927500" cy="50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38474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800"/>
              <a:t>System Documentation</a:t>
            </a:r>
            <a:endParaRPr/>
          </a:p>
          <a:p>
            <a:pPr indent="-219455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Describes how the system works, but not how to operate it</a:t>
            </a:r>
            <a:endParaRPr/>
          </a:p>
          <a:p>
            <a:pPr indent="-238474" lvl="0" marL="285750" rtl="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 sz="2800"/>
              <a:t>Examples:</a:t>
            </a:r>
            <a:endParaRPr/>
          </a:p>
          <a:p>
            <a:pPr indent="-219455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Requirements Spec</a:t>
            </a:r>
            <a:endParaRPr/>
          </a:p>
          <a:p>
            <a:pPr indent="-219455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Architectural Design</a:t>
            </a:r>
            <a:endParaRPr/>
          </a:p>
          <a:p>
            <a:pPr indent="-219455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Detailed Design</a:t>
            </a:r>
            <a:endParaRPr/>
          </a:p>
          <a:p>
            <a:pPr indent="-219455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Commented Source Code</a:t>
            </a:r>
            <a:endParaRPr/>
          </a:p>
          <a:p>
            <a:pPr indent="-230505" lvl="2" marL="1200150" rtl="0" algn="l">
              <a:lnSpc>
                <a:spcPct val="9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Including output such as JavaDoc</a:t>
            </a:r>
            <a:endParaRPr/>
          </a:p>
          <a:p>
            <a:pPr indent="-219455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Test Plans</a:t>
            </a:r>
            <a:endParaRPr/>
          </a:p>
          <a:p>
            <a:pPr indent="-230505" lvl="2" marL="1200150" rtl="0" algn="l">
              <a:lnSpc>
                <a:spcPct val="9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Including test cases</a:t>
            </a:r>
            <a:endParaRPr/>
          </a:p>
          <a:p>
            <a:pPr indent="-219455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V&amp;V plan and results</a:t>
            </a:r>
            <a:endParaRPr/>
          </a:p>
          <a:p>
            <a:pPr indent="-219455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List of Known Bugs</a:t>
            </a:r>
            <a:endParaRPr/>
          </a:p>
          <a:p>
            <a:pPr indent="-81343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/>
          </a:p>
          <a:p>
            <a:pPr indent="-81343" lvl="1" marL="742950" rtl="0" algn="l">
              <a:lnSpc>
                <a:spcPct val="9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/>
          </a:p>
        </p:txBody>
      </p:sp>
      <p:sp>
        <p:nvSpPr>
          <p:cNvPr id="227" name="Google Shape;227;p11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Product Documentation</a:t>
            </a:r>
            <a:endParaRPr/>
          </a:p>
        </p:txBody>
      </p:sp>
      <p:sp>
        <p:nvSpPr>
          <p:cNvPr id="233" name="Google Shape;233;p12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User Documentation has two main 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End User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System Administrator </a:t>
            </a:r>
            <a:endParaRPr/>
          </a:p>
          <a:p>
            <a:pPr indent="-120013" lvl="2" marL="12001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 some cases these are the same people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target audience must be well understood!</a:t>
            </a:r>
            <a:endParaRPr/>
          </a:p>
        </p:txBody>
      </p:sp>
      <p:sp>
        <p:nvSpPr>
          <p:cNvPr id="234" name="Google Shape;234;p12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Product Documentation</a:t>
            </a:r>
            <a:endParaRPr/>
          </a:p>
        </p:txBody>
      </p:sp>
      <p:sp>
        <p:nvSpPr>
          <p:cNvPr id="241" name="Google Shape;241;p13"/>
          <p:cNvSpPr txBox="1"/>
          <p:nvPr>
            <p:ph idx="1" type="body"/>
          </p:nvPr>
        </p:nvSpPr>
        <p:spPr>
          <a:xfrm>
            <a:off x="982125" y="1600200"/>
            <a:ext cx="7674000" cy="4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lang="en-US" sz="2800"/>
              <a:t>There are five important areas that should be documented for a formal release of a software application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/>
              <a:t>Functional Description of the Software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/>
              <a:t>Installation Instructions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/>
              <a:t>Introductory Manual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/>
              <a:t>Reference Manual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/>
              <a:t>System Administrator’s Guide</a:t>
            </a:r>
            <a:endParaRPr/>
          </a:p>
        </p:txBody>
      </p:sp>
      <p:sp>
        <p:nvSpPr>
          <p:cNvPr id="242" name="Google Shape;242;p13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Document Quality</a:t>
            </a:r>
            <a:endParaRPr/>
          </a:p>
        </p:txBody>
      </p:sp>
      <p:sp>
        <p:nvSpPr>
          <p:cNvPr id="248" name="Google Shape;248;p14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Providing thorough and professional documentation is important for any size product development team</a:t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problem is that many software professionals lack the writing skills to create professional level documents</a:t>
            </a:r>
            <a:endParaRPr/>
          </a:p>
        </p:txBody>
      </p:sp>
      <p:sp>
        <p:nvSpPr>
          <p:cNvPr id="249" name="Google Shape;249;p14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Document Structure</a:t>
            </a:r>
            <a:endParaRPr/>
          </a:p>
        </p:txBody>
      </p:sp>
      <p:sp>
        <p:nvSpPr>
          <p:cNvPr id="255" name="Google Shape;255;p1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58324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42759"/>
              <a:buChar char="•"/>
            </a:pPr>
            <a:r>
              <a:rPr lang="en-US" sz="2525"/>
              <a:t>All documents for a given product should have a similar structure</a:t>
            </a:r>
            <a:endParaRPr sz="2525"/>
          </a:p>
          <a:p>
            <a:pPr indent="-512565" lvl="1" marL="990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2337"/>
              <a:buChar char="•"/>
            </a:pPr>
            <a:r>
              <a:rPr lang="en-US" sz="2125"/>
              <a:t>A good reason for </a:t>
            </a:r>
            <a:r>
              <a:rPr i="1" lang="en-US" sz="2125"/>
              <a:t>product standards</a:t>
            </a:r>
            <a:endParaRPr sz="2125"/>
          </a:p>
          <a:p>
            <a:pPr indent="-583240" lvl="0" marL="6096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ct val="142759"/>
              <a:buChar char="•"/>
            </a:pPr>
            <a:r>
              <a:rPr lang="en-US" sz="2525"/>
              <a:t>The IEEE Standard for User Documentation lists such a structure</a:t>
            </a:r>
            <a:endParaRPr sz="2525"/>
          </a:p>
          <a:p>
            <a:pPr indent="-512565" lvl="1" marL="990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2337"/>
              <a:buChar char="•"/>
            </a:pPr>
            <a:r>
              <a:rPr lang="en-US" sz="2125"/>
              <a:t>It is a superset of what most documents need</a:t>
            </a:r>
            <a:endParaRPr sz="2125"/>
          </a:p>
          <a:p>
            <a:pPr indent="-583240" lvl="0" marL="6096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ct val="142759"/>
              <a:buChar char="•"/>
            </a:pPr>
            <a:r>
              <a:rPr lang="en-US" sz="2525"/>
              <a:t>The authors “best practices” are:</a:t>
            </a:r>
            <a:endParaRPr sz="2525"/>
          </a:p>
          <a:p>
            <a:pPr indent="-583240" lvl="0" marL="6096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ct val="142759"/>
              <a:buFont typeface="Noto Sans"/>
              <a:buAutoNum type="arabicPeriod"/>
            </a:pPr>
            <a:r>
              <a:rPr lang="en-US" sz="2525"/>
              <a:t>Put a cover page on all documents</a:t>
            </a:r>
            <a:endParaRPr sz="2525"/>
          </a:p>
          <a:p>
            <a:pPr indent="-583240" lvl="0" marL="6096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ct val="142759"/>
              <a:buFont typeface="Noto Sans"/>
              <a:buAutoNum type="arabicPeriod"/>
            </a:pPr>
            <a:r>
              <a:rPr lang="en-US" sz="2525"/>
              <a:t>Divide documents into chapters with sections and subsections</a:t>
            </a:r>
            <a:endParaRPr sz="2525"/>
          </a:p>
          <a:p>
            <a:pPr indent="-583240" lvl="0" marL="6096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ct val="142759"/>
              <a:buFont typeface="Noto Sans"/>
              <a:buAutoNum type="arabicPeriod"/>
            </a:pPr>
            <a:r>
              <a:rPr lang="en-US" sz="2525"/>
              <a:t>Add an index if there is lots of reference information</a:t>
            </a:r>
            <a:endParaRPr sz="2525"/>
          </a:p>
          <a:p>
            <a:pPr indent="-583240" lvl="0" marL="6096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ct val="142759"/>
              <a:buFont typeface="Noto Sans"/>
              <a:buAutoNum type="arabicPeriod"/>
            </a:pPr>
            <a:r>
              <a:rPr lang="en-US" sz="2525"/>
              <a:t>Add a glossary to define ambiguous terms</a:t>
            </a:r>
            <a:endParaRPr sz="2525"/>
          </a:p>
          <a:p>
            <a:pPr indent="-349250" lvl="1" marL="990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000"/>
          </a:p>
        </p:txBody>
      </p:sp>
      <p:sp>
        <p:nvSpPr>
          <p:cNvPr id="256" name="Google Shape;256;p15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62" name="Google Shape;262;p16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32831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9986"/>
              <a:buChar char="•"/>
            </a:pPr>
            <a:r>
              <a:rPr lang="en-US" sz="2700"/>
              <a:t>Standards play an important role in the development, maintenance and usefulness of documentation</a:t>
            </a:r>
            <a:endParaRPr sz="2700"/>
          </a:p>
          <a:p>
            <a:pPr indent="-232831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39986"/>
              <a:buChar char="•"/>
            </a:pPr>
            <a:r>
              <a:rPr lang="en-US" sz="2700"/>
              <a:t>Standards can act as a basis for quality documentation</a:t>
            </a:r>
            <a:endParaRPr sz="2700"/>
          </a:p>
          <a:p>
            <a:pPr indent="-24388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39114"/>
              <a:buChar char="•"/>
            </a:pPr>
            <a:r>
              <a:rPr lang="en-US" sz="2300"/>
              <a:t>But are not good enough on their own</a:t>
            </a:r>
            <a:endParaRPr sz="2300"/>
          </a:p>
          <a:p>
            <a:pPr indent="-249405" lvl="2" marL="12001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38554"/>
              <a:buChar char="•"/>
            </a:pPr>
            <a:r>
              <a:rPr lang="en-US" sz="2100"/>
              <a:t>Usually define high level content and organization</a:t>
            </a:r>
            <a:endParaRPr sz="2100"/>
          </a:p>
          <a:p>
            <a:pPr indent="-221782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0633"/>
              <a:buChar char="•"/>
            </a:pPr>
            <a:r>
              <a:rPr lang="en-US" sz="3100"/>
              <a:t>IEEE</a:t>
            </a:r>
            <a:endParaRPr sz="2700"/>
          </a:p>
          <a:p>
            <a:pPr indent="-232831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39986"/>
              <a:buChar char="•"/>
            </a:pPr>
            <a:r>
              <a:rPr lang="en-US" sz="2700"/>
              <a:t>Has a published standard for user documentation</a:t>
            </a:r>
            <a:endParaRPr sz="2300"/>
          </a:p>
          <a:p>
            <a:pPr indent="-232831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39986"/>
              <a:buChar char="•"/>
            </a:pPr>
            <a:r>
              <a:rPr lang="en-US" sz="2700"/>
              <a:t>Provides a structure and superset of content areas</a:t>
            </a:r>
            <a:endParaRPr sz="2300"/>
          </a:p>
          <a:p>
            <a:pPr indent="-232831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39986"/>
              <a:buChar char="•"/>
            </a:pPr>
            <a:r>
              <a:rPr lang="en-US" sz="2700"/>
              <a:t>Many organizations probably won’t create documents that completely match the standard</a:t>
            </a:r>
            <a:endParaRPr sz="23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Online Documentation</a:t>
            </a:r>
            <a:endParaRPr/>
          </a:p>
        </p:txBody>
      </p:sp>
      <p:sp>
        <p:nvSpPr>
          <p:cNvPr id="269" name="Google Shape;269;p17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Either internal to the application or Web based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Requires rethinking the presentation style since normal “paper” documentation approaches do not carry over well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Should act as a supplement to paper documentation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Biggest benefit of Web docs are that they are always current</a:t>
            </a:r>
            <a:endParaRPr/>
          </a:p>
        </p:txBody>
      </p:sp>
      <p:sp>
        <p:nvSpPr>
          <p:cNvPr id="270" name="Google Shape;270;p17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Document Preparation</a:t>
            </a:r>
            <a:endParaRPr/>
          </a:p>
        </p:txBody>
      </p:sp>
      <p:sp>
        <p:nvSpPr>
          <p:cNvPr id="276" name="Google Shape;276;p18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Covers the entire process of creating and formatting a document for publication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Author recommends using specialized (and separate) tools for creating and preparing documents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This is only important for user documentation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It is often important to have a professional writer or document publisher evaluate documents before publication to ensure they look good and will carry over to paper well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"/>
              <a:buNone/>
            </a:pPr>
            <a:r>
              <a:t/>
            </a:r>
            <a:endParaRPr sz="24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277" name="Google Shape;277;p18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Document Storage</a:t>
            </a:r>
            <a:endParaRPr/>
          </a:p>
        </p:txBody>
      </p:sp>
      <p:sp>
        <p:nvSpPr>
          <p:cNvPr id="283" name="Google Shape;283;p19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Author Recommends (in 2001)	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File System to store the actual documents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Database to store references to the files with metadata to allow searching and referencing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Today it is probably better to use a content management systems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CVS or Subversion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Free and Open Source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Easy to setup and maintain</a:t>
            </a:r>
            <a:endParaRPr/>
          </a:p>
        </p:txBody>
      </p:sp>
      <p:sp>
        <p:nvSpPr>
          <p:cNvPr id="284" name="Google Shape;284;p19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90" name="Google Shape;290;p20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Good overview of documentation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Though most documentation “requirements” are based on contract requirements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Hard to cover things like that in a paper like this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Most of the content seemed to be referring to user documentation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Design and other similar docs (often times more graphical than textual) were overlooked</a:t>
            </a:r>
            <a:endParaRPr/>
          </a:p>
        </p:txBody>
      </p:sp>
      <p:sp>
        <p:nvSpPr>
          <p:cNvPr id="291" name="Google Shape;291;p20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/>
          <p:nvPr>
            <p:ph idx="1" type="body"/>
          </p:nvPr>
        </p:nvSpPr>
        <p:spPr>
          <a:xfrm>
            <a:off x="982133" y="3048000"/>
            <a:ext cx="7857067" cy="3352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None/>
            </a:pPr>
            <a:r>
              <a:rPr lang="en-US" sz="4400"/>
              <a:t>System deployment</a:t>
            </a:r>
            <a:endParaRPr sz="4400"/>
          </a:p>
        </p:txBody>
      </p:sp>
      <p:sp>
        <p:nvSpPr>
          <p:cNvPr id="297" name="Google Shape;297;p21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System deployment</a:t>
            </a:r>
            <a:endParaRPr/>
          </a:p>
        </p:txBody>
      </p:sp>
      <p:sp>
        <p:nvSpPr>
          <p:cNvPr id="304" name="Google Shape;304;p22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It is the process that covers post-development activities like-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Configuration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Release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Installation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Updating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Adapting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Reconfiguration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Uninstallation</a:t>
            </a:r>
            <a:endParaRPr/>
          </a:p>
        </p:txBody>
      </p:sp>
      <p:sp>
        <p:nvSpPr>
          <p:cNvPr id="305" name="Google Shape;305;p22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 txBox="1"/>
          <p:nvPr>
            <p:ph type="title"/>
          </p:nvPr>
        </p:nvSpPr>
        <p:spPr>
          <a:xfrm>
            <a:off x="982133" y="152400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Traditional software deployment methods</a:t>
            </a:r>
            <a:endParaRPr/>
          </a:p>
        </p:txBody>
      </p:sp>
      <p:sp>
        <p:nvSpPr>
          <p:cNvPr id="311" name="Google Shape;311;p23"/>
          <p:cNvSpPr txBox="1"/>
          <p:nvPr>
            <p:ph idx="1" type="body"/>
          </p:nvPr>
        </p:nvSpPr>
        <p:spPr>
          <a:xfrm>
            <a:off x="982133" y="1600200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94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80"/>
              <a:buChar char="•"/>
            </a:pPr>
            <a:r>
              <a:rPr lang="en-US" sz="2300"/>
              <a:t>The foot and hand model</a:t>
            </a:r>
            <a:endParaRPr sz="2300"/>
          </a:p>
          <a:p>
            <a:pPr indent="-2794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1900"/>
              <a:t>Run around on foot and install software by hand.</a:t>
            </a:r>
            <a:endParaRPr sz="1900"/>
          </a:p>
          <a:p>
            <a:pPr indent="-2794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1900"/>
              <a:t>Only viable for small client base.</a:t>
            </a:r>
            <a:endParaRPr sz="1900"/>
          </a:p>
          <a:p>
            <a:pPr indent="-2794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1900"/>
              <a:t>Expensive for the companies. </a:t>
            </a:r>
            <a:endParaRPr sz="1900"/>
          </a:p>
          <a:p>
            <a:pPr indent="-27940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380"/>
              <a:buChar char="•"/>
            </a:pPr>
            <a:r>
              <a:rPr lang="en-US" sz="2300"/>
              <a:t>The self-service model:</a:t>
            </a:r>
            <a:endParaRPr sz="2300"/>
          </a:p>
          <a:p>
            <a:pPr indent="-2794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1900"/>
              <a:t>The end users install the software themselves.</a:t>
            </a:r>
            <a:endParaRPr sz="1900"/>
          </a:p>
          <a:p>
            <a:pPr indent="-2794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1900"/>
              <a:t>Scales well.</a:t>
            </a:r>
            <a:endParaRPr sz="1900"/>
          </a:p>
          <a:p>
            <a:pPr indent="-2794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1900"/>
              <a:t>Low costs for the company.</a:t>
            </a:r>
            <a:endParaRPr sz="19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900"/>
              <a:t>Becomes difficult as the complexity of installation and configuration increases</a:t>
            </a:r>
            <a:r>
              <a:rPr lang="en-US"/>
              <a:t>.</a:t>
            </a:r>
            <a:endParaRPr/>
          </a:p>
        </p:txBody>
      </p:sp>
      <p:sp>
        <p:nvSpPr>
          <p:cNvPr id="312" name="Google Shape;312;p23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/>
          <p:nvPr>
            <p:ph type="title"/>
          </p:nvPr>
        </p:nvSpPr>
        <p:spPr>
          <a:xfrm>
            <a:off x="982133" y="457201"/>
            <a:ext cx="6561667" cy="685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Deployment strategy</a:t>
            </a:r>
            <a:endParaRPr/>
          </a:p>
        </p:txBody>
      </p:sp>
      <p:sp>
        <p:nvSpPr>
          <p:cNvPr id="318" name="Google Shape;318;p24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9" name="Google Shape;319;p24"/>
          <p:cNvGrpSpPr/>
          <p:nvPr/>
        </p:nvGrpSpPr>
        <p:grpSpPr>
          <a:xfrm>
            <a:off x="1133648" y="1901462"/>
            <a:ext cx="7027862" cy="2133600"/>
            <a:chOff x="1056" y="864"/>
            <a:chExt cx="4427" cy="1488"/>
          </a:xfrm>
        </p:grpSpPr>
        <p:pic>
          <p:nvPicPr>
            <p:cNvPr descr="Fig" id="320" name="Google Shape;320;p24"/>
            <p:cNvPicPr preferRelativeResize="0"/>
            <p:nvPr/>
          </p:nvPicPr>
          <p:blipFill rotWithShape="1">
            <a:blip r:embed="rId3">
              <a:alphaModFix/>
            </a:blip>
            <a:srcRect b="73433" l="27492" r="0" t="0"/>
            <a:stretch/>
          </p:blipFill>
          <p:spPr>
            <a:xfrm>
              <a:off x="1056" y="864"/>
              <a:ext cx="4368" cy="1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24"/>
            <p:cNvSpPr txBox="1"/>
            <p:nvPr/>
          </p:nvSpPr>
          <p:spPr>
            <a:xfrm>
              <a:off x="3936" y="864"/>
              <a:ext cx="1547" cy="5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Noto Sans"/>
                <a:buNone/>
              </a:pPr>
              <a:r>
                <a:rPr b="0" i="0" lang="en-US" sz="2200" u="sng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Direct deployment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Noto Sans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(“Cold Turkey”)</a:t>
              </a:r>
              <a:endParaRPr b="0" i="0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descr="Fig" id="322" name="Google Shape;322;p24"/>
          <p:cNvPicPr preferRelativeResize="0"/>
          <p:nvPr/>
        </p:nvPicPr>
        <p:blipFill rotWithShape="1">
          <a:blip r:embed="rId4">
            <a:alphaModFix/>
          </a:blip>
          <a:srcRect b="71164" l="30872" r="0" t="0"/>
          <a:stretch/>
        </p:blipFill>
        <p:spPr>
          <a:xfrm>
            <a:off x="1155419" y="4526278"/>
            <a:ext cx="6917156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/>
          <p:nvPr/>
        </p:nvSpPr>
        <p:spPr>
          <a:xfrm>
            <a:off x="762000" y="1439499"/>
            <a:ext cx="345281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Structured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6311558" y="4165130"/>
            <a:ext cx="28324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Parallel deployment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 txBox="1"/>
          <p:nvPr>
            <p:ph type="title"/>
          </p:nvPr>
        </p:nvSpPr>
        <p:spPr>
          <a:xfrm>
            <a:off x="982133" y="457201"/>
            <a:ext cx="6561667" cy="761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Deployment strategy</a:t>
            </a:r>
            <a:endParaRPr/>
          </a:p>
        </p:txBody>
      </p:sp>
      <p:sp>
        <p:nvSpPr>
          <p:cNvPr id="331" name="Google Shape;331;p25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g" id="332" name="Google Shape;332;p25"/>
          <p:cNvPicPr preferRelativeResize="0"/>
          <p:nvPr/>
        </p:nvPicPr>
        <p:blipFill rotWithShape="1">
          <a:blip r:embed="rId3">
            <a:alphaModFix/>
          </a:blip>
          <a:srcRect b="40703" l="24445" r="0" t="0"/>
          <a:stretch/>
        </p:blipFill>
        <p:spPr>
          <a:xfrm>
            <a:off x="982132" y="2209799"/>
            <a:ext cx="7171267" cy="459162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/>
          <p:nvPr/>
        </p:nvSpPr>
        <p:spPr>
          <a:xfrm>
            <a:off x="949476" y="1600200"/>
            <a:ext cx="27238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Phased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 txBox="1"/>
          <p:nvPr>
            <p:ph type="title"/>
          </p:nvPr>
        </p:nvSpPr>
        <p:spPr>
          <a:xfrm>
            <a:off x="1014790" y="283338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Requirements of solution for software deployment</a:t>
            </a:r>
            <a:endParaRPr/>
          </a:p>
        </p:txBody>
      </p:sp>
      <p:sp>
        <p:nvSpPr>
          <p:cNvPr id="339" name="Google Shape;339;p26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26"/>
          <p:cNvSpPr txBox="1"/>
          <p:nvPr>
            <p:ph idx="1" type="body"/>
          </p:nvPr>
        </p:nvSpPr>
        <p:spPr>
          <a:xfrm>
            <a:off x="1149500" y="1888905"/>
            <a:ext cx="70152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Incremental updates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Versioning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 installation and configuration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Centralized Inventory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Decentralized Control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for heterogeneous environments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Updates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Licensing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Software deployment life cycle</a:t>
            </a:r>
            <a:endParaRPr/>
          </a:p>
        </p:txBody>
      </p:sp>
      <p:sp>
        <p:nvSpPr>
          <p:cNvPr id="347" name="Google Shape;347;p27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80"/>
              <a:buChar char="•"/>
            </a:pPr>
            <a:r>
              <a:rPr lang="en-US" sz="1700"/>
              <a:t>Producer-side processes</a:t>
            </a:r>
            <a:endParaRPr sz="17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Release</a:t>
            </a:r>
            <a:endParaRPr sz="13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Retire</a:t>
            </a:r>
            <a:endParaRPr sz="1300"/>
          </a:p>
          <a:p>
            <a:pPr indent="-24130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2780"/>
              <a:buChar char="•"/>
            </a:pPr>
            <a:r>
              <a:rPr lang="en-US" sz="1700"/>
              <a:t>Customer-side processes </a:t>
            </a:r>
            <a:endParaRPr sz="17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Install</a:t>
            </a:r>
            <a:endParaRPr sz="13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Activate </a:t>
            </a:r>
            <a:endParaRPr sz="13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Deactivate </a:t>
            </a:r>
            <a:endParaRPr sz="13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Reconfigure </a:t>
            </a:r>
            <a:endParaRPr sz="13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Update </a:t>
            </a:r>
            <a:endParaRPr sz="13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Adapt </a:t>
            </a:r>
            <a:endParaRPr sz="1300"/>
          </a:p>
          <a:p>
            <a:pPr indent="-24130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1300"/>
              <a:t>Remove</a:t>
            </a:r>
            <a:endParaRPr sz="1300"/>
          </a:p>
        </p:txBody>
      </p:sp>
      <p:sp>
        <p:nvSpPr>
          <p:cNvPr id="348" name="Google Shape;348;p27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8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355" name="Google Shape;355;p28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Deployment of Windows Software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Reliable - installs properly or returns error report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Effective - fast, without user intervention and frustration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Automated - remotely managed, rebuild easily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Targeted - able to add software packages to specific group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Upgradeable - able to manage and deploy software upgrades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Removable - able to remove software reliably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Secure - must expose no new security risks</a:t>
            </a:r>
            <a:endParaRPr/>
          </a:p>
        </p:txBody>
      </p:sp>
      <p:sp>
        <p:nvSpPr>
          <p:cNvPr id="356" name="Google Shape;356;p28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Possible Solutions</a:t>
            </a:r>
            <a:endParaRPr/>
          </a:p>
        </p:txBody>
      </p:sp>
      <p:sp>
        <p:nvSpPr>
          <p:cNvPr id="363" name="Google Shape;363;p29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Manual installation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RoboCopy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Active Directory Group Policy Objects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Third party commercial solutions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Source solutions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364" name="Google Shape;364;p29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Software versioning</a:t>
            </a:r>
            <a:endParaRPr/>
          </a:p>
        </p:txBody>
      </p:sp>
      <p:sp>
        <p:nvSpPr>
          <p:cNvPr id="371" name="Google Shape;371;p30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i="1" lang="en-US"/>
              <a:t>Alpha</a:t>
            </a:r>
            <a:r>
              <a:rPr lang="en-US"/>
              <a:t> version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Test version that is incomplete but ready for some level of testing; dummy data used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i="1" lang="en-US"/>
              <a:t>Beta</a:t>
            </a:r>
            <a:r>
              <a:rPr lang="en-US"/>
              <a:t> version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Test version that is stable enough to be tested by end users for an extended period of time; real data used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i="1" lang="en-US"/>
              <a:t>Production</a:t>
            </a:r>
            <a:r>
              <a:rPr lang="en-US"/>
              <a:t> version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System version that is formally released  in the to users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372" name="Google Shape;372;p30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/>
          <p:nvPr>
            <p:ph idx="1" type="body"/>
          </p:nvPr>
        </p:nvSpPr>
        <p:spPr>
          <a:xfrm>
            <a:off x="4191000" y="3352800"/>
            <a:ext cx="4732867" cy="1371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/>
              <a:t>End of System deployment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378" name="Google Shape;378;p31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/>
          <p:nvPr>
            <p:ph idx="1" type="body"/>
          </p:nvPr>
        </p:nvSpPr>
        <p:spPr>
          <a:xfrm>
            <a:off x="3124200" y="3429000"/>
            <a:ext cx="5715000" cy="2971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None/>
            </a:pPr>
            <a:r>
              <a:rPr lang="en-US" sz="3200"/>
              <a:t>Software release management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What is Release Management?</a:t>
            </a:r>
            <a:endParaRPr/>
          </a:p>
        </p:txBody>
      </p:sp>
      <p:sp>
        <p:nvSpPr>
          <p:cNvPr id="391" name="Google Shape;391;p33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Release Management is the process of planning, building, testing and deploying hardware and software and the version control and storage of software.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Its purpose is to ensure that a consistent method of deployment is followed. It reduces the likelihood of incidents as a result of rollouts and ensures that only tested and accepted versions of hardware and software are installed at any time.</a:t>
            </a:r>
            <a:endParaRPr/>
          </a:p>
        </p:txBody>
      </p:sp>
      <p:sp>
        <p:nvSpPr>
          <p:cNvPr id="392" name="Google Shape;392;p33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Why use Release Management?</a:t>
            </a:r>
            <a:endParaRPr/>
          </a:p>
        </p:txBody>
      </p:sp>
      <p:sp>
        <p:nvSpPr>
          <p:cNvPr id="399" name="Google Shape;399;p34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opportunity to plan expenditure and resource requirements in advance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 structured approach to rolling out all new software or hardware, which is efficient and effective.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 changes to software are ‘bundled’ together for one release, which minimizes the impact of changes on users.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Testing before rollout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Ensuring that correct versions are installed at all times</a:t>
            </a:r>
            <a:endParaRPr/>
          </a:p>
        </p:txBody>
      </p:sp>
      <p:sp>
        <p:nvSpPr>
          <p:cNvPr id="400" name="Google Shape;400;p34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Goals of Release Management</a:t>
            </a:r>
            <a:endParaRPr/>
          </a:p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Release management is geared toward five goals: 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/>
              <a:t>Mitigate risk throughout the software delivery life cycle (SDLC)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/>
              <a:t>Align all teams involved in the release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/>
              <a:t>Streamline the development and release processes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/>
              <a:t>Meet deadlines consistently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/>
              <a:t>Align development goals with business goals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408" name="Google Shape;408;p35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6"/>
          <p:cNvSpPr txBox="1"/>
          <p:nvPr>
            <p:ph type="title"/>
          </p:nvPr>
        </p:nvSpPr>
        <p:spPr>
          <a:xfrm>
            <a:off x="542898" y="228600"/>
            <a:ext cx="7772400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The Cycle of Release Management</a:t>
            </a:r>
            <a:endParaRPr/>
          </a:p>
        </p:txBody>
      </p:sp>
      <p:sp>
        <p:nvSpPr>
          <p:cNvPr id="415" name="Google Shape;415;p36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6" name="Google Shape;41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577843"/>
            <a:ext cx="5216387" cy="5280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"/>
          <p:cNvSpPr txBox="1"/>
          <p:nvPr>
            <p:ph type="title"/>
          </p:nvPr>
        </p:nvSpPr>
        <p:spPr>
          <a:xfrm>
            <a:off x="945557" y="375119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Release planning</a:t>
            </a:r>
            <a:endParaRPr/>
          </a:p>
        </p:txBody>
      </p:sp>
      <p:sp>
        <p:nvSpPr>
          <p:cNvPr id="423" name="Google Shape;423;p37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4" name="Google Shape;424;p37"/>
          <p:cNvSpPr/>
          <p:nvPr/>
        </p:nvSpPr>
        <p:spPr>
          <a:xfrm>
            <a:off x="1066800" y="1494797"/>
            <a:ext cx="7867057" cy="4031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92526"/>
                </a:solidFill>
                <a:latin typeface="Arial"/>
                <a:ea typeface="Arial"/>
                <a:cs typeface="Arial"/>
                <a:sym typeface="Arial"/>
              </a:rPr>
              <a:t>Architecture of a new ICT service. That is the configuration of the pieces of hardware and software involved.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925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92526"/>
                </a:solidFill>
                <a:latin typeface="Arial"/>
                <a:ea typeface="Arial"/>
                <a:cs typeface="Arial"/>
                <a:sym typeface="Arial"/>
              </a:rPr>
              <a:t>Build is the compilation of components to form the service.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925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92526"/>
                </a:solidFill>
                <a:latin typeface="Arial"/>
                <a:ea typeface="Arial"/>
                <a:cs typeface="Arial"/>
                <a:sym typeface="Arial"/>
              </a:rPr>
              <a:t>Test is the internal technical support testing.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925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Acceptance testing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Acceptance testing is functionality testing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Release Policy</a:t>
            </a:r>
            <a:endParaRPr/>
          </a:p>
        </p:txBody>
      </p:sp>
      <p:sp>
        <p:nvSpPr>
          <p:cNvPr id="431" name="Google Shape;431;p38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38"/>
          <p:cNvSpPr/>
          <p:nvPr/>
        </p:nvSpPr>
        <p:spPr>
          <a:xfrm>
            <a:off x="1123950" y="6591300"/>
            <a:ext cx="1924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3640138" y="65913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1122363" y="6591300"/>
            <a:ext cx="1924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3638550" y="65913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3752850" y="3810000"/>
            <a:ext cx="1638300" cy="1068388"/>
          </a:xfrm>
          <a:prstGeom prst="roundRect">
            <a:avLst>
              <a:gd fmla="val 12449" name="adj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policy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6426200" y="4838700"/>
            <a:ext cx="1900238" cy="1071563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  - full/delta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4184650" y="5507038"/>
            <a:ext cx="2390775" cy="1038225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1671638" y="5414963"/>
            <a:ext cx="2239962" cy="1023937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frequency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663575" y="4271963"/>
            <a:ext cx="2192338" cy="1120775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Emergency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38"/>
          <p:cNvCxnSpPr/>
          <p:nvPr/>
        </p:nvCxnSpPr>
        <p:spPr>
          <a:xfrm flipH="1" rot="10800000">
            <a:off x="2803525" y="4478338"/>
            <a:ext cx="955675" cy="250825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42" name="Google Shape;442;p38"/>
          <p:cNvCxnSpPr/>
          <p:nvPr/>
        </p:nvCxnSpPr>
        <p:spPr>
          <a:xfrm flipH="1">
            <a:off x="5221288" y="3208338"/>
            <a:ext cx="1874837" cy="595312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43" name="Google Shape;443;p38"/>
          <p:cNvCxnSpPr/>
          <p:nvPr/>
        </p:nvCxnSpPr>
        <p:spPr>
          <a:xfrm>
            <a:off x="5411788" y="4467225"/>
            <a:ext cx="1119187" cy="671513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44" name="Google Shape;444;p38"/>
          <p:cNvCxnSpPr/>
          <p:nvPr/>
        </p:nvCxnSpPr>
        <p:spPr>
          <a:xfrm flipH="1">
            <a:off x="3362325" y="4873625"/>
            <a:ext cx="457200" cy="636588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45" name="Google Shape;445;p38"/>
          <p:cNvCxnSpPr/>
          <p:nvPr/>
        </p:nvCxnSpPr>
        <p:spPr>
          <a:xfrm>
            <a:off x="4672013" y="4900613"/>
            <a:ext cx="385762" cy="620712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46" name="Google Shape;446;p38"/>
          <p:cNvSpPr/>
          <p:nvPr/>
        </p:nvSpPr>
        <p:spPr>
          <a:xfrm>
            <a:off x="3590925" y="1755585"/>
            <a:ext cx="2328863" cy="1147763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Roles &amp;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Responsibilities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38"/>
          <p:cNvCxnSpPr/>
          <p:nvPr/>
        </p:nvCxnSpPr>
        <p:spPr>
          <a:xfrm flipH="1">
            <a:off x="4387849" y="2925573"/>
            <a:ext cx="357187" cy="924115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48" name="Google Shape;448;p38"/>
          <p:cNvSpPr/>
          <p:nvPr/>
        </p:nvSpPr>
        <p:spPr>
          <a:xfrm>
            <a:off x="6934200" y="2428875"/>
            <a:ext cx="2166938" cy="1071563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Levels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38"/>
          <p:cNvCxnSpPr/>
          <p:nvPr/>
        </p:nvCxnSpPr>
        <p:spPr>
          <a:xfrm>
            <a:off x="2803525" y="3500438"/>
            <a:ext cx="927100" cy="5207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50" name="Google Shape;450;p38"/>
          <p:cNvCxnSpPr/>
          <p:nvPr/>
        </p:nvCxnSpPr>
        <p:spPr>
          <a:xfrm rot="10800000">
            <a:off x="5392738" y="4271963"/>
            <a:ext cx="1681162" cy="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51" name="Google Shape;451;p38"/>
          <p:cNvSpPr/>
          <p:nvPr/>
        </p:nvSpPr>
        <p:spPr>
          <a:xfrm>
            <a:off x="7058025" y="3657600"/>
            <a:ext cx="1985963" cy="1071563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Identification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Packaging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904081" y="2457451"/>
            <a:ext cx="2287588" cy="1158875"/>
          </a:xfrm>
          <a:prstGeom prst="ellipse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Business critical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 &amp;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9"/>
          <p:cNvSpPr txBox="1"/>
          <p:nvPr>
            <p:ph type="title"/>
          </p:nvPr>
        </p:nvSpPr>
        <p:spPr>
          <a:xfrm>
            <a:off x="985181" y="228600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b="1" lang="en-US"/>
              <a:t>Key roles in the release management process</a:t>
            </a:r>
            <a:endParaRPr/>
          </a:p>
        </p:txBody>
      </p:sp>
      <p:sp>
        <p:nvSpPr>
          <p:cNvPr id="459" name="Google Shape;459;p39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Release manager - </a:t>
            </a:r>
            <a:r>
              <a:rPr lang="en-US"/>
              <a:t>A release manager sets the pace for software rollouts and ensures customers have all the resources they need.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Product owner - </a:t>
            </a:r>
            <a:r>
              <a:rPr lang="en-US"/>
              <a:t>Establishing the requirements and acceptance criteria.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Quality manager - </a:t>
            </a:r>
            <a:r>
              <a:rPr lang="en-US"/>
              <a:t>Oversees testing to determine whether software passes acceptance criteria without false positives or negatives.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DevOps team - </a:t>
            </a:r>
            <a:r>
              <a:rPr lang="en-US"/>
              <a:t>Controls the entire lifecycle of a feature from design to development to production support.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460" name="Google Shape;460;p39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0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466" name="Google Shape;466;p40"/>
          <p:cNvSpPr txBox="1"/>
          <p:nvPr>
            <p:ph idx="1" type="body"/>
          </p:nvPr>
        </p:nvSpPr>
        <p:spPr>
          <a:xfrm>
            <a:off x="3962400" y="3454400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/>
              <a:t>End of Release management</a:t>
            </a:r>
            <a:endParaRPr/>
          </a:p>
        </p:txBody>
      </p:sp>
      <p:sp>
        <p:nvSpPr>
          <p:cNvPr id="467" name="Google Shape;467;p40"/>
          <p:cNvSpPr txBox="1"/>
          <p:nvPr>
            <p:ph idx="12" type="sldNum"/>
          </p:nvPr>
        </p:nvSpPr>
        <p:spPr>
          <a:xfrm>
            <a:off x="8303106" y="6482881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acU 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2011-06-16T14:45:20Z</dcterms:created>
  <dc:creator>Windows User</dc:creator>
</cp:coreProperties>
</file>