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Montserrat"/>
      <p:regular r:id="rId25"/>
      <p:bold r:id="rId26"/>
      <p:italic r:id="rId27"/>
      <p:boldItalic r:id="rId28"/>
    </p:embeddedFont>
    <p:embeddedFont>
      <p:font typeface="Corbel"/>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GoogleSlidesCustomDataVersion2">
      <go:slidesCustomData xmlns:go="http://customooxmlschemas.google.com/" r:id="rId33" roundtripDataSignature="AMtx7min9HIM41wCazlsFBRVYtH+bDBb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rbel-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orbel-italic.fntdata"/><Relationship Id="rId30" Type="http://schemas.openxmlformats.org/officeDocument/2006/relationships/font" Target="fonts/Corbel-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Corbel-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dh-pro.com/pe-resources/how-important-is-engineering-to-your-state/"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dh-pro.com/pe-resources/engineering-ethics-links-and-resource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 name="Google Shape;3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 name="Google Shape;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 name="Google Shape;5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c673639072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 name="Google Shape;57;g2c673639072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673639072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Calibri"/>
              <a:ea typeface="Calibri"/>
              <a:cs typeface="Calibri"/>
              <a:sym typeface="Calibri"/>
            </a:endParaRPr>
          </a:p>
        </p:txBody>
      </p:sp>
      <p:sp>
        <p:nvSpPr>
          <p:cNvPr id="64" name="Google Shape;64;g2c673639072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c673639072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Calibri"/>
              <a:ea typeface="Calibri"/>
              <a:cs typeface="Calibri"/>
              <a:sym typeface="Calibri"/>
            </a:endParaRPr>
          </a:p>
        </p:txBody>
      </p:sp>
      <p:sp>
        <p:nvSpPr>
          <p:cNvPr id="71" name="Google Shape;71;g2c673639072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c673639072_0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5275" lvl="0" marL="749300" rtl="0" algn="l">
              <a:lnSpc>
                <a:spcPct val="115000"/>
              </a:lnSpc>
              <a:spcBef>
                <a:spcPts val="0"/>
              </a:spcBef>
              <a:spcAft>
                <a:spcPts val="0"/>
              </a:spcAft>
              <a:buClr>
                <a:srgbClr val="4C4C4C"/>
              </a:buClr>
              <a:buSzPts val="1050"/>
              <a:buFont typeface="Montserrat"/>
              <a:buChar char="●"/>
            </a:pPr>
            <a:r>
              <a:rPr lang="en-US" sz="1050">
                <a:solidFill>
                  <a:srgbClr val="5B58A3"/>
                </a:solidFill>
                <a:highlight>
                  <a:srgbClr val="FFFFFF"/>
                </a:highlight>
                <a:uFill>
                  <a:noFill/>
                </a:uFill>
                <a:latin typeface="Montserrat"/>
                <a:ea typeface="Montserrat"/>
                <a:cs typeface="Montserrat"/>
                <a:sym typeface="Montserrat"/>
                <a:hlinkClick r:id="rId2">
                  <a:extLst>
                    <a:ext uri="{A12FA001-AC4F-418D-AE19-62706E023703}">
                      <ahyp:hlinkClr val="tx"/>
                    </a:ext>
                  </a:extLst>
                </a:hlinkClick>
              </a:rPr>
              <a:t>Contribute to society and human well-being: This principle emphasizes the positive impact that software engineering</a:t>
            </a:r>
            <a:r>
              <a:rPr lang="en-US" sz="1050">
                <a:solidFill>
                  <a:srgbClr val="4C4C4C"/>
                </a:solidFill>
                <a:highlight>
                  <a:srgbClr val="FFFFFF"/>
                </a:highlight>
                <a:latin typeface="Montserrat"/>
                <a:ea typeface="Montserrat"/>
                <a:cs typeface="Montserrat"/>
                <a:sym typeface="Montserrat"/>
              </a:rPr>
              <a:t> can have on society and individuals. It encourages engineers to use their skills for the benefit of humanity.</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Avoid harm to others:</a:t>
            </a:r>
            <a:r>
              <a:rPr lang="en-US" sz="1050">
                <a:solidFill>
                  <a:srgbClr val="4C4C4C"/>
                </a:solidFill>
                <a:highlight>
                  <a:srgbClr val="FFFFFF"/>
                </a:highlight>
                <a:latin typeface="Montserrat"/>
                <a:ea typeface="Montserrat"/>
                <a:cs typeface="Montserrat"/>
                <a:sym typeface="Montserrat"/>
              </a:rPr>
              <a:t> Harm can come in many forms, such as physical harm, mental harm, or harm to data and systems. Software engineers should strive to minimize harm caused by their actions or the software they create.</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Be honest and trustworthy:</a:t>
            </a:r>
            <a:r>
              <a:rPr lang="en-US" sz="1050">
                <a:solidFill>
                  <a:srgbClr val="4C4C4C"/>
                </a:solidFill>
                <a:highlight>
                  <a:srgbClr val="FFFFFF"/>
                </a:highlight>
                <a:latin typeface="Montserrat"/>
                <a:ea typeface="Montserrat"/>
                <a:cs typeface="Montserrat"/>
                <a:sym typeface="Montserrat"/>
              </a:rPr>
              <a:t> Honesty is a fundamental aspect of ethics. Software engineers should be truthful about their qualifications, capabilities, and the potential impact of their work.</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sz="1100">
              <a:solidFill>
                <a:schemeClr val="dk1"/>
              </a:solidFill>
              <a:latin typeface="Calibri"/>
              <a:ea typeface="Calibri"/>
              <a:cs typeface="Calibri"/>
              <a:sym typeface="Calibri"/>
            </a:endParaRPr>
          </a:p>
        </p:txBody>
      </p:sp>
      <p:sp>
        <p:nvSpPr>
          <p:cNvPr id="78" name="Google Shape;78;g2c673639072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c673639072_0_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5275" lvl="0" marL="749300" rtl="0" algn="l">
              <a:lnSpc>
                <a:spcPct val="115000"/>
              </a:lnSpc>
              <a:spcBef>
                <a:spcPts val="0"/>
              </a:spcBef>
              <a:spcAft>
                <a:spcPts val="0"/>
              </a:spcAft>
              <a:buClr>
                <a:srgbClr val="4C4C4C"/>
              </a:buClr>
              <a:buSzPts val="1050"/>
              <a:buFont typeface="Montserrat"/>
              <a:buAutoNum type="arabicPeriod"/>
            </a:pPr>
            <a:r>
              <a:rPr b="1" lang="en-US" sz="1050">
                <a:solidFill>
                  <a:srgbClr val="4C4C4C"/>
                </a:solidFill>
                <a:highlight>
                  <a:srgbClr val="FFFFFF"/>
                </a:highlight>
                <a:latin typeface="Montserrat"/>
                <a:ea typeface="Montserrat"/>
                <a:cs typeface="Montserrat"/>
                <a:sym typeface="Montserrat"/>
              </a:rPr>
              <a:t>Strive for excellence:</a:t>
            </a:r>
            <a:r>
              <a:rPr lang="en-US" sz="1050">
                <a:solidFill>
                  <a:srgbClr val="4C4C4C"/>
                </a:solidFill>
                <a:highlight>
                  <a:srgbClr val="FFFFFF"/>
                </a:highlight>
                <a:latin typeface="Montserrat"/>
                <a:ea typeface="Montserrat"/>
                <a:cs typeface="Montserrat"/>
                <a:sym typeface="Montserrat"/>
              </a:rPr>
              <a:t> Software engineers should always aim to produce high-quality work and continuously improve their skills and knowledge.</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AutoNum type="arabicPeriod"/>
            </a:pPr>
            <a:r>
              <a:rPr b="1" lang="en-US" sz="1050">
                <a:solidFill>
                  <a:srgbClr val="4C4C4C"/>
                </a:solidFill>
                <a:highlight>
                  <a:srgbClr val="FFFFFF"/>
                </a:highlight>
                <a:latin typeface="Montserrat"/>
                <a:ea typeface="Montserrat"/>
                <a:cs typeface="Montserrat"/>
                <a:sym typeface="Montserrat"/>
              </a:rPr>
              <a:t>Maintain confidentiality:</a:t>
            </a:r>
            <a:r>
              <a:rPr lang="en-US" sz="1050">
                <a:solidFill>
                  <a:srgbClr val="4C4C4C"/>
                </a:solidFill>
                <a:highlight>
                  <a:srgbClr val="FFFFFF"/>
                </a:highlight>
                <a:latin typeface="Montserrat"/>
                <a:ea typeface="Montserrat"/>
                <a:cs typeface="Montserrat"/>
                <a:sym typeface="Montserrat"/>
              </a:rPr>
              <a:t> Engineers should respect the privacy of their clients and users, and protect any sensitive information they handle.</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AutoNum type="arabicPeriod"/>
            </a:pPr>
            <a:r>
              <a:rPr b="1" lang="en-US" sz="1050">
                <a:solidFill>
                  <a:srgbClr val="4C4C4C"/>
                </a:solidFill>
                <a:highlight>
                  <a:srgbClr val="FFFFFF"/>
                </a:highlight>
                <a:latin typeface="Montserrat"/>
                <a:ea typeface="Montserrat"/>
                <a:cs typeface="Montserrat"/>
                <a:sym typeface="Montserrat"/>
              </a:rPr>
              <a:t>Respect intellectual property:</a:t>
            </a:r>
            <a:r>
              <a:rPr lang="en-US" sz="1050">
                <a:solidFill>
                  <a:srgbClr val="4C4C4C"/>
                </a:solidFill>
                <a:highlight>
                  <a:srgbClr val="FFFFFF"/>
                </a:highlight>
                <a:latin typeface="Montserrat"/>
                <a:ea typeface="Montserrat"/>
                <a:cs typeface="Montserrat"/>
                <a:sym typeface="Montserrat"/>
              </a:rPr>
              <a:t> This includes recognizing and crediting the work of others, and avoiding plagiarism and unauthorized use of software.</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sz="1100">
              <a:solidFill>
                <a:schemeClr val="dk1"/>
              </a:solidFill>
              <a:latin typeface="Calibri"/>
              <a:ea typeface="Calibri"/>
              <a:cs typeface="Calibri"/>
              <a:sym typeface="Calibri"/>
            </a:endParaRPr>
          </a:p>
        </p:txBody>
      </p:sp>
      <p:sp>
        <p:nvSpPr>
          <p:cNvPr id="85" name="Google Shape;85;g2c673639072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c673639072_0_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Lead by example: </a:t>
            </a:r>
            <a:r>
              <a:rPr lang="en-US" sz="1050">
                <a:solidFill>
                  <a:srgbClr val="4C4C4C"/>
                </a:solidFill>
                <a:highlight>
                  <a:srgbClr val="FFFFFF"/>
                </a:highlight>
                <a:latin typeface="Montserrat"/>
                <a:ea typeface="Montserrat"/>
                <a:cs typeface="Montserrat"/>
                <a:sym typeface="Montserrat"/>
              </a:rPr>
              <a:t>Leaders should model ethical behavior and </a:t>
            </a:r>
            <a:r>
              <a:rPr lang="en-US" sz="1050">
                <a:solidFill>
                  <a:srgbClr val="5B58A3"/>
                </a:solidFill>
                <a:highlight>
                  <a:srgbClr val="FFFFFF"/>
                </a:highlight>
                <a:uFill>
                  <a:noFill/>
                </a:uFill>
                <a:latin typeface="Montserrat"/>
                <a:ea typeface="Montserrat"/>
                <a:cs typeface="Montserrat"/>
                <a:sym typeface="Montserrat"/>
                <a:hlinkClick r:id="rId2">
                  <a:extLst>
                    <a:ext uri="{A12FA001-AC4F-418D-AE19-62706E023703}">
                      <ahyp:hlinkClr val="tx"/>
                    </a:ext>
                  </a:extLst>
                </a:hlinkClick>
              </a:rPr>
              <a:t>promote a culture of ethical decision-making</a:t>
            </a:r>
            <a:r>
              <a:rPr lang="en-US" sz="1050">
                <a:solidFill>
                  <a:srgbClr val="4C4C4C"/>
                </a:solidFill>
                <a:highlight>
                  <a:srgbClr val="FFFFFF"/>
                </a:highlight>
                <a:latin typeface="Montserrat"/>
                <a:ea typeface="Montserrat"/>
                <a:cs typeface="Montserrat"/>
                <a:sym typeface="Montserrat"/>
              </a:rPr>
              <a:t> within their teams.</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Promote public knowledge:</a:t>
            </a:r>
            <a:r>
              <a:rPr lang="en-US" sz="1050">
                <a:solidFill>
                  <a:srgbClr val="4C4C4C"/>
                </a:solidFill>
                <a:highlight>
                  <a:srgbClr val="FFFFFF"/>
                </a:highlight>
                <a:latin typeface="Montserrat"/>
                <a:ea typeface="Montserrat"/>
                <a:cs typeface="Montserrat"/>
                <a:sym typeface="Montserrat"/>
              </a:rPr>
              <a:t> Leaders should strive to increase public understanding of software engineering, its achievements, and its challenges.</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Mentor younger professionals: </a:t>
            </a:r>
            <a:r>
              <a:rPr lang="en-US" sz="1050">
                <a:solidFill>
                  <a:srgbClr val="4C4C4C"/>
                </a:solidFill>
                <a:highlight>
                  <a:srgbClr val="FFFFFF"/>
                </a:highlight>
                <a:latin typeface="Montserrat"/>
                <a:ea typeface="Montserrat"/>
                <a:cs typeface="Montserrat"/>
                <a:sym typeface="Montserrat"/>
              </a:rPr>
              <a:t>Experienced engineers have a responsibility to guide and mentor those who are new to the field.</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b="1" sz="1050">
              <a:solidFill>
                <a:srgbClr val="4C4C4C"/>
              </a:solidFill>
              <a:highlight>
                <a:srgbClr val="FFFFFF"/>
              </a:highlight>
              <a:latin typeface="Montserrat"/>
              <a:ea typeface="Montserrat"/>
              <a:cs typeface="Montserrat"/>
              <a:sym typeface="Montserrat"/>
            </a:endParaRPr>
          </a:p>
        </p:txBody>
      </p:sp>
      <p:sp>
        <p:nvSpPr>
          <p:cNvPr id="92" name="Google Shape;92;g2c673639072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c673639072_0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Calibri"/>
              <a:ea typeface="Calibri"/>
              <a:cs typeface="Calibri"/>
              <a:sym typeface="Calibri"/>
            </a:endParaRPr>
          </a:p>
        </p:txBody>
      </p:sp>
      <p:sp>
        <p:nvSpPr>
          <p:cNvPr id="99" name="Google Shape;99;g2c673639072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c673639072_0_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Public Safety and Welfare:</a:t>
            </a:r>
            <a:r>
              <a:rPr lang="en-US" sz="1050">
                <a:solidFill>
                  <a:srgbClr val="4C4C4C"/>
                </a:solidFill>
                <a:highlight>
                  <a:srgbClr val="FFFFFF"/>
                </a:highlight>
                <a:latin typeface="Montserrat"/>
                <a:ea typeface="Montserrat"/>
                <a:cs typeface="Montserrat"/>
                <a:sym typeface="Montserrat"/>
              </a:rPr>
              <a:t> Software engineers should prioritize the safety and welfare of the public in all their professional activities. This includes creating software that is secure, reliable, and respects user privacy.</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Environmental Considerations: </a:t>
            </a:r>
            <a:r>
              <a:rPr lang="en-US" sz="1050">
                <a:solidFill>
                  <a:srgbClr val="4C4C4C"/>
                </a:solidFill>
                <a:highlight>
                  <a:srgbClr val="FFFFFF"/>
                </a:highlight>
                <a:latin typeface="Montserrat"/>
                <a:ea typeface="Montserrat"/>
                <a:cs typeface="Montserrat"/>
                <a:sym typeface="Montserrat"/>
              </a:rPr>
              <a:t>Engineers should be aware of the environmental impact of their work and strive to create sustainable and eco-friendly solutions.</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Public Understanding: </a:t>
            </a:r>
            <a:r>
              <a:rPr lang="en-US" sz="1050">
                <a:solidFill>
                  <a:srgbClr val="4C4C4C"/>
                </a:solidFill>
                <a:highlight>
                  <a:srgbClr val="FFFFFF"/>
                </a:highlight>
                <a:latin typeface="Montserrat"/>
                <a:ea typeface="Montserrat"/>
                <a:cs typeface="Montserrat"/>
                <a:sym typeface="Montserrat"/>
              </a:rPr>
              <a:t>Professionals have a duty to provide accurate information about software systems and their potential impacts, helping to increase public understanding of software engineering.</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sz="1100">
              <a:solidFill>
                <a:schemeClr val="dk1"/>
              </a:solidFill>
              <a:latin typeface="Calibri"/>
              <a:ea typeface="Calibri"/>
              <a:cs typeface="Calibri"/>
              <a:sym typeface="Calibri"/>
            </a:endParaRPr>
          </a:p>
        </p:txBody>
      </p:sp>
      <p:sp>
        <p:nvSpPr>
          <p:cNvPr id="106" name="Google Shape;106;g2c673639072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c673639072_0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sz="1100">
              <a:solidFill>
                <a:schemeClr val="dk1"/>
              </a:solidFill>
              <a:latin typeface="Calibri"/>
              <a:ea typeface="Calibri"/>
              <a:cs typeface="Calibri"/>
              <a:sym typeface="Calibri"/>
            </a:endParaRPr>
          </a:p>
        </p:txBody>
      </p:sp>
      <p:sp>
        <p:nvSpPr>
          <p:cNvPr id="113" name="Google Shape;113;g2c673639072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c673639072_0_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050">
                <a:solidFill>
                  <a:srgbClr val="4C4C4C"/>
                </a:solidFill>
                <a:highlight>
                  <a:srgbClr val="FFFFFF"/>
                </a:highlight>
                <a:latin typeface="Montserrat"/>
                <a:ea typeface="Montserrat"/>
                <a:cs typeface="Montserrat"/>
                <a:sym typeface="Montserrat"/>
              </a:rPr>
              <a:t>Confidentiality	Software engineers should respect and protect confidential information obtained during their professional activities.</a:t>
            </a:r>
            <a:endParaRPr b="1"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0"/>
              </a:spcBef>
              <a:spcAft>
                <a:spcPts val="0"/>
              </a:spcAft>
              <a:buSzPts val="1400"/>
              <a:buNone/>
            </a:pPr>
            <a:r>
              <a:rPr b="1" lang="en-US" sz="1050">
                <a:solidFill>
                  <a:srgbClr val="4C4C4C"/>
                </a:solidFill>
                <a:highlight>
                  <a:srgbClr val="FFFFFF"/>
                </a:highlight>
                <a:latin typeface="Montserrat"/>
                <a:ea typeface="Montserrat"/>
                <a:cs typeface="Montserrat"/>
                <a:sym typeface="Montserrat"/>
              </a:rPr>
              <a:t>Conflict of Interest	Engineers should avoid real or perceived conflicts of interest and disclose them to affected parties when they do occur.</a:t>
            </a:r>
            <a:endParaRPr b="1"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0"/>
              </a:spcBef>
              <a:spcAft>
                <a:spcPts val="0"/>
              </a:spcAft>
              <a:buSzPts val="1400"/>
              <a:buNone/>
            </a:pPr>
            <a:r>
              <a:rPr b="1" lang="en-US" sz="1050">
                <a:solidFill>
                  <a:srgbClr val="4C4C4C"/>
                </a:solidFill>
                <a:highlight>
                  <a:srgbClr val="FFFFFF"/>
                </a:highlight>
                <a:latin typeface="Montserrat"/>
                <a:ea typeface="Montserrat"/>
                <a:cs typeface="Montserrat"/>
                <a:sym typeface="Montserrat"/>
              </a:rPr>
              <a:t>Quality Assurance	Professionals should strive to provide high-quality services and products that meet the needs of clients and employers.</a:t>
            </a:r>
            <a:endParaRPr b="1" sz="1050">
              <a:solidFill>
                <a:srgbClr val="4C4C4C"/>
              </a:solidFill>
              <a:highlight>
                <a:srgbClr val="FFFFFF"/>
              </a:highlight>
              <a:latin typeface="Montserrat"/>
              <a:ea typeface="Montserrat"/>
              <a:cs typeface="Montserrat"/>
              <a:sym typeface="Montserrat"/>
            </a:endParaRPr>
          </a:p>
        </p:txBody>
      </p:sp>
      <p:sp>
        <p:nvSpPr>
          <p:cNvPr id="120" name="Google Shape;120;g2c673639072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c673639072_0_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Professional Development:</a:t>
            </a:r>
            <a:r>
              <a:rPr lang="en-US" sz="1050">
                <a:solidFill>
                  <a:srgbClr val="4C4C4C"/>
                </a:solidFill>
                <a:highlight>
                  <a:srgbClr val="FFFFFF"/>
                </a:highlight>
                <a:latin typeface="Montserrat"/>
                <a:ea typeface="Montserrat"/>
                <a:cs typeface="Montserrat"/>
                <a:sym typeface="Montserrat"/>
              </a:rPr>
              <a:t> Software engineers should engage in lifelong learning to maintain and enhance their professional competence.</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Professional Conduct:</a:t>
            </a:r>
            <a:r>
              <a:rPr lang="en-US" sz="1050">
                <a:solidFill>
                  <a:srgbClr val="4C4C4C"/>
                </a:solidFill>
                <a:highlight>
                  <a:srgbClr val="FFFFFF"/>
                </a:highlight>
                <a:latin typeface="Montserrat"/>
                <a:ea typeface="Montserrat"/>
                <a:cs typeface="Montserrat"/>
                <a:sym typeface="Montserrat"/>
              </a:rPr>
              <a:t> Engineers should behave in a manner that upholds the integrity and dignity of the profession.</a:t>
            </a:r>
            <a:endParaRPr sz="1050">
              <a:solidFill>
                <a:srgbClr val="4C4C4C"/>
              </a:solidFill>
              <a:highlight>
                <a:srgbClr val="FFFFFF"/>
              </a:highlight>
              <a:latin typeface="Montserrat"/>
              <a:ea typeface="Montserrat"/>
              <a:cs typeface="Montserrat"/>
              <a:sym typeface="Montserrat"/>
            </a:endParaRPr>
          </a:p>
          <a:p>
            <a:pPr indent="-295275" lvl="0" marL="749300" rtl="0" algn="l">
              <a:lnSpc>
                <a:spcPct val="115000"/>
              </a:lnSpc>
              <a:spcBef>
                <a:spcPts val="0"/>
              </a:spcBef>
              <a:spcAft>
                <a:spcPts val="0"/>
              </a:spcAft>
              <a:buClr>
                <a:srgbClr val="4C4C4C"/>
              </a:buClr>
              <a:buSzPts val="1050"/>
              <a:buFont typeface="Montserrat"/>
              <a:buChar char="●"/>
            </a:pPr>
            <a:r>
              <a:rPr b="1" lang="en-US" sz="1050">
                <a:solidFill>
                  <a:srgbClr val="4C4C4C"/>
                </a:solidFill>
                <a:highlight>
                  <a:srgbClr val="FFFFFF"/>
                </a:highlight>
                <a:latin typeface="Montserrat"/>
                <a:ea typeface="Montserrat"/>
                <a:cs typeface="Montserrat"/>
                <a:sym typeface="Montserrat"/>
              </a:rPr>
              <a:t>Support for Colleagues: </a:t>
            </a:r>
            <a:r>
              <a:rPr lang="en-US" sz="1050">
                <a:solidFill>
                  <a:srgbClr val="4C4C4C"/>
                </a:solidFill>
                <a:highlight>
                  <a:srgbClr val="FFFFFF"/>
                </a:highlight>
                <a:latin typeface="Montserrat"/>
                <a:ea typeface="Montserrat"/>
                <a:cs typeface="Montserrat"/>
                <a:sym typeface="Montserrat"/>
              </a:rPr>
              <a:t>Professionals should support and assist their colleagues in their professional development.</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b="1" sz="1050">
              <a:solidFill>
                <a:srgbClr val="4C4C4C"/>
              </a:solidFill>
              <a:highlight>
                <a:srgbClr val="FFFFFF"/>
              </a:highlight>
              <a:latin typeface="Montserrat"/>
              <a:ea typeface="Montserrat"/>
              <a:cs typeface="Montserrat"/>
              <a:sym typeface="Montserrat"/>
            </a:endParaRPr>
          </a:p>
        </p:txBody>
      </p:sp>
      <p:sp>
        <p:nvSpPr>
          <p:cNvPr id="127" name="Google Shape;127;g2c673639072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673639072_0_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b="1" sz="1050">
              <a:solidFill>
                <a:srgbClr val="4C4C4C"/>
              </a:solidFill>
              <a:highlight>
                <a:srgbClr val="FFFFFF"/>
              </a:highlight>
              <a:latin typeface="Montserrat"/>
              <a:ea typeface="Montserrat"/>
              <a:cs typeface="Montserrat"/>
              <a:sym typeface="Montserrat"/>
            </a:endParaRPr>
          </a:p>
        </p:txBody>
      </p:sp>
      <p:sp>
        <p:nvSpPr>
          <p:cNvPr id="134" name="Google Shape;134;g2c673639072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c673639072_0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b="1" sz="1050">
              <a:solidFill>
                <a:srgbClr val="4C4C4C"/>
              </a:solidFill>
              <a:highlight>
                <a:srgbClr val="FFFFFF"/>
              </a:highlight>
              <a:latin typeface="Montserrat"/>
              <a:ea typeface="Montserrat"/>
              <a:cs typeface="Montserrat"/>
              <a:sym typeface="Montserrat"/>
            </a:endParaRPr>
          </a:p>
        </p:txBody>
      </p:sp>
      <p:sp>
        <p:nvSpPr>
          <p:cNvPr id="141" name="Google Shape;141;g2c673639072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c673639072_0_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b="1" sz="1050">
              <a:solidFill>
                <a:srgbClr val="4C4C4C"/>
              </a:solidFill>
              <a:highlight>
                <a:srgbClr val="FFFFFF"/>
              </a:highlight>
              <a:latin typeface="Montserrat"/>
              <a:ea typeface="Montserrat"/>
              <a:cs typeface="Montserrat"/>
              <a:sym typeface="Montserrat"/>
            </a:endParaRPr>
          </a:p>
        </p:txBody>
      </p:sp>
      <p:sp>
        <p:nvSpPr>
          <p:cNvPr id="148" name="Google Shape;148;g2c673639072_0_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673639072_0_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sz="1050">
              <a:solidFill>
                <a:srgbClr val="4C4C4C"/>
              </a:solidFill>
              <a:highlight>
                <a:srgbClr val="FFFFFF"/>
              </a:highlight>
              <a:latin typeface="Montserrat"/>
              <a:ea typeface="Montserrat"/>
              <a:cs typeface="Montserrat"/>
              <a:sym typeface="Montserrat"/>
            </a:endParaRPr>
          </a:p>
          <a:p>
            <a:pPr indent="0" lvl="0" marL="0" rtl="0" algn="l">
              <a:lnSpc>
                <a:spcPct val="100000"/>
              </a:lnSpc>
              <a:spcBef>
                <a:spcPts val="1500"/>
              </a:spcBef>
              <a:spcAft>
                <a:spcPts val="0"/>
              </a:spcAft>
              <a:buSzPts val="1400"/>
              <a:buNone/>
            </a:pPr>
            <a:r>
              <a:t/>
            </a:r>
            <a:endParaRPr b="1" sz="1050">
              <a:solidFill>
                <a:srgbClr val="4C4C4C"/>
              </a:solidFill>
              <a:highlight>
                <a:srgbClr val="FFFFFF"/>
              </a:highlight>
              <a:latin typeface="Montserrat"/>
              <a:ea typeface="Montserrat"/>
              <a:cs typeface="Montserrat"/>
              <a:sym typeface="Montserrat"/>
            </a:endParaRPr>
          </a:p>
        </p:txBody>
      </p:sp>
      <p:sp>
        <p:nvSpPr>
          <p:cNvPr id="155" name="Google Shape;155;g2c673639072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628650"/>
            <a:ext cx="7772400" cy="2571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32"/>
          <p:cNvSpPr txBox="1"/>
          <p:nvPr>
            <p:ph idx="1" type="subTitle"/>
          </p:nvPr>
        </p:nvSpPr>
        <p:spPr>
          <a:xfrm>
            <a:off x="304800" y="3714750"/>
            <a:ext cx="8534400" cy="5145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sz="3200">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4767263"/>
            <a:ext cx="152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9-</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3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609600" lvl="0" marL="457200" algn="l">
              <a:lnSpc>
                <a:spcPct val="100000"/>
              </a:lnSpc>
              <a:spcBef>
                <a:spcPts val="0"/>
              </a:spcBef>
              <a:spcAft>
                <a:spcPts val="0"/>
              </a:spcAft>
              <a:buClr>
                <a:srgbClr val="0070C0"/>
              </a:buClr>
              <a:buSzPts val="6000"/>
              <a:buFont typeface="Noto Sans Symbols"/>
              <a:buChar char="▪"/>
              <a:defRPr sz="40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3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9-</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3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457200" y="4767263"/>
            <a:ext cx="1524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9-</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3"/>
          <p:cNvCxnSpPr/>
          <p:nvPr/>
        </p:nvCxnSpPr>
        <p:spPr>
          <a:xfrm>
            <a:off x="457200" y="1085850"/>
            <a:ext cx="8229600" cy="0"/>
          </a:xfrm>
          <a:prstGeom prst="straightConnector1">
            <a:avLst/>
          </a:prstGeom>
          <a:noFill/>
          <a:ln cap="flat" cmpd="sng" w="76200">
            <a:solidFill>
              <a:srgbClr val="558ED5"/>
            </a:solidFill>
            <a:prstDash val="solid"/>
            <a:miter lim="800000"/>
            <a:headEnd len="sm" w="sm" type="none"/>
            <a:tailEnd len="sm" w="sm" type="none"/>
          </a:ln>
        </p:spPr>
      </p:cxnSp>
      <p:sp>
        <p:nvSpPr>
          <p:cNvPr id="23" name="Google Shape;23;p3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4" name="Google Shape;24;p3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 name="Google Shape;26;p3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7" name="Google Shape;27;p3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9-</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acm.org/code-of-ethics" TargetMode="External"/><Relationship Id="rId4" Type="http://schemas.openxmlformats.org/officeDocument/2006/relationships/hyperlink" Target="https://www.ieee.org/about/corporate/governance/p7-8.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type="ctrTitle"/>
          </p:nvPr>
        </p:nvSpPr>
        <p:spPr>
          <a:xfrm>
            <a:off x="685800" y="661125"/>
            <a:ext cx="7772400" cy="2114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320"/>
              <a:buFont typeface="Calibri"/>
              <a:buNone/>
            </a:pPr>
            <a:r>
              <a:rPr lang="en-US" sz="3120">
                <a:solidFill>
                  <a:srgbClr val="17375E"/>
                </a:solidFill>
              </a:rPr>
              <a:t>Software Engineering Code of Ethics and Professional Practice</a:t>
            </a:r>
            <a:endParaRPr sz="1679"/>
          </a:p>
        </p:txBody>
      </p:sp>
      <p:sp>
        <p:nvSpPr>
          <p:cNvPr id="39" name="Google Shape;39;p1"/>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descr="Rectangle: Click to edit Master text styles&#10;Second level&#10;Third level&#10;Fourth level&#10;Fifth level" id="40" name="Google Shape;40;p1"/>
          <p:cNvSpPr txBox="1"/>
          <p:nvPr/>
        </p:nvSpPr>
        <p:spPr>
          <a:xfrm>
            <a:off x="1690651" y="2984438"/>
            <a:ext cx="5762700" cy="17145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2000" u="none" cap="none" strike="noStrike">
                <a:solidFill>
                  <a:srgbClr val="000000"/>
                </a:solidFill>
                <a:latin typeface="Corbel"/>
                <a:ea typeface="Corbel"/>
                <a:cs typeface="Corbel"/>
                <a:sym typeface="Corbel"/>
              </a:rPr>
              <a:t>Prepared by:</a:t>
            </a:r>
            <a:endParaRPr b="0" i="0" sz="1800" u="none" cap="none" strike="noStrike">
              <a:solidFill>
                <a:srgbClr val="000000"/>
              </a:solidFill>
              <a:latin typeface="Corbel"/>
              <a:ea typeface="Corbel"/>
              <a:cs typeface="Corbel"/>
              <a:sym typeface="Corbel"/>
            </a:endParaRPr>
          </a:p>
          <a:p>
            <a:pPr indent="0" lvl="0" marL="0" marR="0" rtl="0" algn="ctr">
              <a:lnSpc>
                <a:spcPct val="100000"/>
              </a:lnSpc>
              <a:spcBef>
                <a:spcPts val="600"/>
              </a:spcBef>
              <a:spcAft>
                <a:spcPts val="0"/>
              </a:spcAft>
              <a:buClr>
                <a:srgbClr val="000000"/>
              </a:buClr>
              <a:buSzPct val="100000"/>
              <a:buFont typeface="Arial"/>
              <a:buNone/>
            </a:pPr>
            <a:r>
              <a:rPr b="1" i="0" lang="en-US" sz="2000" u="none" cap="none" strike="noStrike">
                <a:solidFill>
                  <a:srgbClr val="000000"/>
                </a:solidFill>
                <a:latin typeface="Corbel"/>
                <a:ea typeface="Corbel"/>
                <a:cs typeface="Corbel"/>
                <a:sym typeface="Corbel"/>
              </a:rPr>
              <a:t>Md. Aquib Azmain</a:t>
            </a:r>
            <a:endParaRPr b="0" i="0" sz="1800" u="none" cap="none" strike="noStrike">
              <a:solidFill>
                <a:srgbClr val="000000"/>
              </a:solidFill>
              <a:latin typeface="Corbel"/>
              <a:ea typeface="Corbel"/>
              <a:cs typeface="Corbel"/>
              <a:sym typeface="Corbel"/>
            </a:endParaRPr>
          </a:p>
          <a:p>
            <a:pPr indent="0" lvl="0" marL="0" marR="0" rtl="0" algn="ctr">
              <a:lnSpc>
                <a:spcPct val="100000"/>
              </a:lnSpc>
              <a:spcBef>
                <a:spcPts val="600"/>
              </a:spcBef>
              <a:spcAft>
                <a:spcPts val="0"/>
              </a:spcAft>
              <a:buClr>
                <a:srgbClr val="000000"/>
              </a:buClr>
              <a:buSzPct val="100000"/>
              <a:buFont typeface="Arial"/>
              <a:buNone/>
            </a:pPr>
            <a:r>
              <a:rPr b="1" i="0" lang="en-US" sz="1800" u="none" cap="none" strike="noStrike">
                <a:solidFill>
                  <a:srgbClr val="000000"/>
                </a:solidFill>
                <a:latin typeface="Corbel"/>
                <a:ea typeface="Corbel"/>
                <a:cs typeface="Corbel"/>
                <a:sym typeface="Corbel"/>
              </a:rPr>
              <a:t>Lecturer</a:t>
            </a:r>
            <a:br>
              <a:rPr b="0" i="0" lang="en-US" sz="1800" u="none" cap="none" strike="noStrike">
                <a:solidFill>
                  <a:srgbClr val="000000"/>
                </a:solidFill>
                <a:latin typeface="Corbel"/>
                <a:ea typeface="Corbel"/>
                <a:cs typeface="Corbel"/>
                <a:sym typeface="Corbel"/>
              </a:rPr>
            </a:br>
            <a:r>
              <a:rPr b="0" i="0" lang="en-US" sz="1800" u="none" cap="none" strike="noStrike">
                <a:solidFill>
                  <a:srgbClr val="000000"/>
                </a:solidFill>
                <a:latin typeface="Corbel"/>
                <a:ea typeface="Corbel"/>
                <a:cs typeface="Corbel"/>
                <a:sym typeface="Corbel"/>
              </a:rPr>
              <a:t>Department of Computer Science &amp; Engineering</a:t>
            </a:r>
            <a:br>
              <a:rPr b="0" i="0" lang="en-US" sz="1800" u="none" cap="none" strike="noStrike">
                <a:solidFill>
                  <a:srgbClr val="000000"/>
                </a:solidFill>
                <a:latin typeface="Corbel"/>
                <a:ea typeface="Corbel"/>
                <a:cs typeface="Corbel"/>
                <a:sym typeface="Corbel"/>
              </a:rPr>
            </a:br>
            <a:r>
              <a:rPr b="0" i="0" lang="en-US" sz="1800" u="none" cap="none" strike="noStrike">
                <a:solidFill>
                  <a:srgbClr val="000000"/>
                </a:solidFill>
                <a:latin typeface="Corbel"/>
                <a:ea typeface="Corbel"/>
                <a:cs typeface="Corbel"/>
                <a:sym typeface="Corbel"/>
              </a:rPr>
              <a:t>BRAC University.</a:t>
            </a:r>
            <a:endParaRPr b="0" i="0" sz="1800" u="none" cap="none" strike="noStrike">
              <a:solidFill>
                <a:srgbClr val="000000"/>
              </a:solidFill>
              <a:latin typeface="Corbel"/>
              <a:ea typeface="Corbel"/>
              <a:cs typeface="Corbel"/>
              <a:sym typeface="Corbel"/>
            </a:endParaRPr>
          </a:p>
          <a:p>
            <a:pPr indent="0" lvl="0" marL="0" marR="0" rtl="0" algn="r">
              <a:lnSpc>
                <a:spcPct val="100000"/>
              </a:lnSpc>
              <a:spcBef>
                <a:spcPts val="960"/>
              </a:spcBef>
              <a:spcAft>
                <a:spcPts val="0"/>
              </a:spcAft>
              <a:buClr>
                <a:srgbClr val="000000"/>
              </a:buClr>
              <a:buSzPct val="100000"/>
              <a:buFont typeface="Arial"/>
              <a:buNone/>
            </a:pPr>
            <a:r>
              <a:t/>
            </a:r>
            <a:endParaRPr b="0" i="0" sz="1800" u="none" cap="none" strike="noStrike">
              <a:solidFill>
                <a:srgbClr val="000000"/>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3100" u="none">
                <a:solidFill>
                  <a:schemeClr val="dk1"/>
                </a:solidFill>
                <a:latin typeface="Calibri"/>
                <a:ea typeface="Calibri"/>
                <a:cs typeface="Calibri"/>
                <a:sym typeface="Calibri"/>
              </a:rPr>
              <a:t>Outline</a:t>
            </a:r>
            <a:endParaRPr sz="3100"/>
          </a:p>
        </p:txBody>
      </p:sp>
      <p:sp>
        <p:nvSpPr>
          <p:cNvPr id="46" name="Google Shape;46;p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152400" lvl="0" marL="342900" marR="0" rtl="0" algn="l">
              <a:lnSpc>
                <a:spcPct val="100000"/>
              </a:lnSpc>
              <a:spcBef>
                <a:spcPts val="0"/>
              </a:spcBef>
              <a:spcAft>
                <a:spcPts val="0"/>
              </a:spcAft>
              <a:buClr>
                <a:srgbClr val="0070C0"/>
              </a:buClr>
              <a:buSzPts val="2400"/>
              <a:buFont typeface="Noto Sans Symbols"/>
              <a:buChar char="▪"/>
            </a:pPr>
            <a:r>
              <a:rPr lang="en-US" sz="2400"/>
              <a:t> Introduction.</a:t>
            </a:r>
            <a:endParaRPr sz="2400"/>
          </a:p>
          <a:p>
            <a:pPr indent="-152400" lvl="0" marL="342900" marR="0" rtl="0" algn="l">
              <a:lnSpc>
                <a:spcPct val="100000"/>
              </a:lnSpc>
              <a:spcBef>
                <a:spcPts val="0"/>
              </a:spcBef>
              <a:spcAft>
                <a:spcPts val="0"/>
              </a:spcAft>
              <a:buClr>
                <a:srgbClr val="0070C0"/>
              </a:buClr>
              <a:buSzPts val="2400"/>
              <a:buFont typeface="Noto Sans Symbols"/>
              <a:buChar char="▪"/>
            </a:pPr>
            <a:r>
              <a:rPr lang="en-US" sz="2400"/>
              <a:t> Need of Software Ethics</a:t>
            </a:r>
            <a:endParaRPr sz="2400"/>
          </a:p>
          <a:p>
            <a:pPr indent="-152400" lvl="0" marL="342900" marR="0" rtl="0" algn="l">
              <a:lnSpc>
                <a:spcPct val="100000"/>
              </a:lnSpc>
              <a:spcBef>
                <a:spcPts val="0"/>
              </a:spcBef>
              <a:spcAft>
                <a:spcPts val="0"/>
              </a:spcAft>
              <a:buClr>
                <a:srgbClr val="0070C0"/>
              </a:buClr>
              <a:buSzPts val="2400"/>
              <a:buFont typeface="Noto Sans Symbols"/>
              <a:buChar char="▪"/>
            </a:pPr>
            <a:r>
              <a:rPr lang="en-US" sz="2400"/>
              <a:t> The ACM Code of Ethics</a:t>
            </a:r>
            <a:endParaRPr sz="2400"/>
          </a:p>
          <a:p>
            <a:pPr indent="-152400" lvl="0" marL="342900" marR="0" rtl="0" algn="l">
              <a:lnSpc>
                <a:spcPct val="100000"/>
              </a:lnSpc>
              <a:spcBef>
                <a:spcPts val="0"/>
              </a:spcBef>
              <a:spcAft>
                <a:spcPts val="0"/>
              </a:spcAft>
              <a:buSzPts val="2400"/>
              <a:buChar char="▪"/>
            </a:pPr>
            <a:r>
              <a:rPr lang="en-US" sz="2400"/>
              <a:t> The IEEE Code of Ethics</a:t>
            </a:r>
            <a:endParaRPr sz="2400"/>
          </a:p>
          <a:p>
            <a:pPr indent="-152400" lvl="0" marL="342900" marR="0" rtl="0" algn="l">
              <a:lnSpc>
                <a:spcPct val="100000"/>
              </a:lnSpc>
              <a:spcBef>
                <a:spcPts val="0"/>
              </a:spcBef>
              <a:spcAft>
                <a:spcPts val="0"/>
              </a:spcAft>
              <a:buSzPts val="2400"/>
              <a:buChar char="▪"/>
            </a:pPr>
            <a:r>
              <a:rPr lang="en-US" sz="2400"/>
              <a:t> The Impact of Unethical Practices</a:t>
            </a:r>
            <a:endParaRPr sz="2400"/>
          </a:p>
          <a:p>
            <a:pPr indent="-152400" lvl="0" marL="342900" marR="0" rtl="0" algn="l">
              <a:lnSpc>
                <a:spcPct val="100000"/>
              </a:lnSpc>
              <a:spcBef>
                <a:spcPts val="0"/>
              </a:spcBef>
              <a:spcAft>
                <a:spcPts val="0"/>
              </a:spcAft>
              <a:buSzPts val="2400"/>
              <a:buChar char="▪"/>
            </a:pPr>
            <a:r>
              <a:rPr lang="en-US" sz="2400"/>
              <a:t> Ethical Decision-Making Models</a:t>
            </a:r>
            <a:endParaRPr sz="2400"/>
          </a:p>
        </p:txBody>
      </p:sp>
      <p:sp>
        <p:nvSpPr>
          <p:cNvPr id="47" name="Google Shape;47;p2"/>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3100" u="none">
                <a:solidFill>
                  <a:schemeClr val="dk1"/>
                </a:solidFill>
                <a:latin typeface="Calibri"/>
                <a:ea typeface="Calibri"/>
                <a:cs typeface="Calibri"/>
                <a:sym typeface="Calibri"/>
              </a:rPr>
              <a:t>INTRODUCTION</a:t>
            </a:r>
            <a:endParaRPr sz="3100"/>
          </a:p>
        </p:txBody>
      </p:sp>
      <p:sp>
        <p:nvSpPr>
          <p:cNvPr id="53" name="Google Shape;53;p3"/>
          <p:cNvSpPr txBox="1"/>
          <p:nvPr>
            <p:ph idx="1" type="body"/>
          </p:nvPr>
        </p:nvSpPr>
        <p:spPr>
          <a:xfrm>
            <a:off x="457200" y="1200294"/>
            <a:ext cx="8431200" cy="3943200"/>
          </a:xfrm>
          <a:prstGeom prst="rect">
            <a:avLst/>
          </a:prstGeom>
          <a:noFill/>
          <a:ln>
            <a:noFill/>
          </a:ln>
        </p:spPr>
        <p:txBody>
          <a:bodyPr anchorCtr="0" anchor="t" bIns="45700" lIns="91425" spcFirstLastPara="1" rIns="91425" wrap="square" tIns="45700">
            <a:noAutofit/>
          </a:bodyPr>
          <a:lstStyle/>
          <a:p>
            <a:pPr indent="-152400" lvl="0" marL="342900" marR="0" rtl="0" algn="just">
              <a:lnSpc>
                <a:spcPct val="100000"/>
              </a:lnSpc>
              <a:spcBef>
                <a:spcPts val="0"/>
              </a:spcBef>
              <a:spcAft>
                <a:spcPts val="0"/>
              </a:spcAft>
              <a:buClr>
                <a:schemeClr val="accent1"/>
              </a:buClr>
              <a:buSzPts val="2400"/>
              <a:buFont typeface="Noto Sans Symbols"/>
              <a:buChar char="▪"/>
            </a:pPr>
            <a:r>
              <a:rPr b="1" lang="en-US" sz="2400"/>
              <a:t> Ethics</a:t>
            </a:r>
            <a:r>
              <a:rPr lang="en-US" sz="2400"/>
              <a:t> in software engineering is about making decisions that respect user privacy, promote fairness, and benefit society. </a:t>
            </a:r>
            <a:endParaRPr sz="2400"/>
          </a:p>
          <a:p>
            <a:pPr indent="0" lvl="0" marL="457200" marR="0" rtl="0" algn="l">
              <a:lnSpc>
                <a:spcPct val="100000"/>
              </a:lnSpc>
              <a:spcBef>
                <a:spcPts val="0"/>
              </a:spcBef>
              <a:spcAft>
                <a:spcPts val="0"/>
              </a:spcAft>
              <a:buSzPts val="6000"/>
              <a:buNone/>
            </a:pPr>
            <a:r>
              <a:t/>
            </a:r>
            <a:endParaRPr sz="2400"/>
          </a:p>
          <a:p>
            <a:pPr indent="-152400" lvl="0" marL="342900" marR="0" rtl="0" algn="l">
              <a:lnSpc>
                <a:spcPct val="100000"/>
              </a:lnSpc>
              <a:spcBef>
                <a:spcPts val="0"/>
              </a:spcBef>
              <a:spcAft>
                <a:spcPts val="0"/>
              </a:spcAft>
              <a:buClr>
                <a:schemeClr val="accent1"/>
              </a:buClr>
              <a:buSzPts val="2400"/>
              <a:buFont typeface="Noto Sans Symbols"/>
              <a:buChar char="▪"/>
            </a:pPr>
            <a:r>
              <a:rPr lang="en-US" sz="2400"/>
              <a:t> It involves -</a:t>
            </a:r>
            <a:endParaRPr sz="2400"/>
          </a:p>
          <a:p>
            <a:pPr indent="-381000" lvl="1" marL="914400" marR="0" rtl="0" algn="l">
              <a:lnSpc>
                <a:spcPct val="100000"/>
              </a:lnSpc>
              <a:spcBef>
                <a:spcPts val="0"/>
              </a:spcBef>
              <a:spcAft>
                <a:spcPts val="0"/>
              </a:spcAft>
              <a:buClr>
                <a:schemeClr val="accent1"/>
              </a:buClr>
              <a:buSzPts val="2400"/>
              <a:buFont typeface="Noto Sans Symbols"/>
              <a:buChar char="–"/>
            </a:pPr>
            <a:r>
              <a:rPr lang="en-US" sz="2400"/>
              <a:t>Adhering to professional codes, </a:t>
            </a:r>
            <a:endParaRPr sz="2400"/>
          </a:p>
          <a:p>
            <a:pPr indent="-381000" lvl="1" marL="914400" marR="0" rtl="0" algn="l">
              <a:lnSpc>
                <a:spcPct val="100000"/>
              </a:lnSpc>
              <a:spcBef>
                <a:spcPts val="0"/>
              </a:spcBef>
              <a:spcAft>
                <a:spcPts val="0"/>
              </a:spcAft>
              <a:buClr>
                <a:schemeClr val="accent1"/>
              </a:buClr>
              <a:buSzPts val="2400"/>
              <a:buFont typeface="Noto Sans Symbols"/>
              <a:buChar char="–"/>
            </a:pPr>
            <a:r>
              <a:rPr lang="en-US" sz="2400"/>
              <a:t>Navigating ethical dilemmas, and</a:t>
            </a:r>
            <a:endParaRPr sz="2400"/>
          </a:p>
          <a:p>
            <a:pPr indent="-381000" lvl="1" marL="914400" marR="0" rtl="0" algn="l">
              <a:lnSpc>
                <a:spcPct val="100000"/>
              </a:lnSpc>
              <a:spcBef>
                <a:spcPts val="0"/>
              </a:spcBef>
              <a:spcAft>
                <a:spcPts val="0"/>
              </a:spcAft>
              <a:buClr>
                <a:schemeClr val="accent1"/>
              </a:buClr>
              <a:buSzPts val="2400"/>
              <a:buFont typeface="Noto Sans Symbols"/>
              <a:buChar char="–"/>
            </a:pPr>
            <a:r>
              <a:rPr lang="en-US" sz="2400"/>
              <a:t>Understanding the impact of unethical practices.</a:t>
            </a:r>
            <a:endParaRPr b="0" i="0" sz="2400" u="none">
              <a:solidFill>
                <a:schemeClr val="dk1"/>
              </a:solidFill>
              <a:latin typeface="Calibri"/>
              <a:ea typeface="Calibri"/>
              <a:cs typeface="Calibri"/>
              <a:sym typeface="Calibri"/>
            </a:endParaRPr>
          </a:p>
        </p:txBody>
      </p:sp>
      <p:sp>
        <p:nvSpPr>
          <p:cNvPr id="54" name="Google Shape;54;p3"/>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g2c673639072_0_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Need of Software Ethics</a:t>
            </a:r>
            <a:endParaRPr sz="3100"/>
          </a:p>
        </p:txBody>
      </p:sp>
      <p:sp>
        <p:nvSpPr>
          <p:cNvPr id="60" name="Google Shape;60;g2c673639072_0_1"/>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61" name="Google Shape;61;g2c673639072_0_1"/>
          <p:cNvPicPr preferRelativeResize="0"/>
          <p:nvPr/>
        </p:nvPicPr>
        <p:blipFill rotWithShape="1">
          <a:blip r:embed="rId3">
            <a:alphaModFix/>
          </a:blip>
          <a:srcRect b="0" l="0" r="0" t="0"/>
          <a:stretch/>
        </p:blipFill>
        <p:spPr>
          <a:xfrm>
            <a:off x="851675" y="1720052"/>
            <a:ext cx="7440649" cy="2579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2c673639072_0_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(cont’d)</a:t>
            </a:r>
            <a:endParaRPr sz="1800"/>
          </a:p>
        </p:txBody>
      </p:sp>
      <p:sp>
        <p:nvSpPr>
          <p:cNvPr id="67" name="Google Shape;67;g2c673639072_0_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The quality of software is critical to the society.</a:t>
            </a:r>
            <a:endParaRPr sz="2500"/>
          </a:p>
          <a:p>
            <a:pPr indent="-234950" lvl="0" marL="457200" rtl="0" algn="l">
              <a:lnSpc>
                <a:spcPct val="100000"/>
              </a:lnSpc>
              <a:spcBef>
                <a:spcPts val="0"/>
              </a:spcBef>
              <a:spcAft>
                <a:spcPts val="0"/>
              </a:spcAft>
              <a:buSzPts val="2500"/>
              <a:buChar char="▪"/>
            </a:pPr>
            <a:r>
              <a:rPr lang="en-US" sz="2500"/>
              <a:t>Lives depend on the safety and reliability of many software systems (control of air traffic, nuclear power stations etc).</a:t>
            </a:r>
            <a:endParaRPr sz="2500"/>
          </a:p>
          <a:p>
            <a:pPr indent="0" lvl="0" marL="457200" rtl="0" algn="l">
              <a:lnSpc>
                <a:spcPct val="100000"/>
              </a:lnSpc>
              <a:spcBef>
                <a:spcPts val="0"/>
              </a:spcBef>
              <a:spcAft>
                <a:spcPts val="0"/>
              </a:spcAft>
              <a:buSzPts val="6000"/>
              <a:buNone/>
            </a:pPr>
            <a:r>
              <a:t/>
            </a:r>
            <a:endParaRPr sz="2500"/>
          </a:p>
          <a:p>
            <a:pPr indent="-234950" lvl="0" marL="457200" rtl="0" algn="l">
              <a:lnSpc>
                <a:spcPct val="100000"/>
              </a:lnSpc>
              <a:spcBef>
                <a:spcPts val="0"/>
              </a:spcBef>
              <a:spcAft>
                <a:spcPts val="0"/>
              </a:spcAft>
              <a:buSzPts val="2500"/>
              <a:buChar char="▪"/>
            </a:pPr>
            <a:r>
              <a:rPr lang="en-US" sz="2500"/>
              <a:t>The quality of software product depends on the </a:t>
            </a:r>
            <a:r>
              <a:rPr b="1" lang="en-US" sz="2500"/>
              <a:t>ethics and professional conduct of the engineers</a:t>
            </a:r>
            <a:r>
              <a:rPr lang="en-US" sz="2500"/>
              <a:t>.</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68" name="Google Shape;68;g2c673639072_0_8"/>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2c673639072_0_3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The ACM Code of Ethics</a:t>
            </a:r>
            <a:endParaRPr sz="1800"/>
          </a:p>
        </p:txBody>
      </p:sp>
      <p:sp>
        <p:nvSpPr>
          <p:cNvPr id="74" name="Google Shape;74;g2c673639072_0_3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This code, developed by the </a:t>
            </a:r>
            <a:r>
              <a:rPr b="1" lang="en-US" sz="2500"/>
              <a:t>Association for Computing Machinery (ACM)</a:t>
            </a:r>
            <a:r>
              <a:rPr lang="en-US" sz="2500"/>
              <a:t>, serves as a roadmap for making decisions that are ethically responsible and professionally sound.</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75" name="Google Shape;75;g2c673639072_0_34"/>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2c673639072_0_4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The ACM Code of Ethics : Moral Imperatives</a:t>
            </a:r>
            <a:endParaRPr sz="1800"/>
          </a:p>
        </p:txBody>
      </p:sp>
      <p:sp>
        <p:nvSpPr>
          <p:cNvPr id="81" name="Google Shape;81;g2c673639072_0_4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Contribute to society and human well-being</a:t>
            </a:r>
            <a:endParaRPr sz="2500"/>
          </a:p>
          <a:p>
            <a:pPr indent="-234950" lvl="0" marL="457200" rtl="0" algn="l">
              <a:lnSpc>
                <a:spcPct val="100000"/>
              </a:lnSpc>
              <a:spcBef>
                <a:spcPts val="0"/>
              </a:spcBef>
              <a:spcAft>
                <a:spcPts val="0"/>
              </a:spcAft>
              <a:buSzPts val="2500"/>
              <a:buChar char="▪"/>
            </a:pPr>
            <a:r>
              <a:rPr lang="en-US" sz="2500"/>
              <a:t>Avoid harm to others</a:t>
            </a:r>
            <a:endParaRPr sz="2500"/>
          </a:p>
          <a:p>
            <a:pPr indent="-234950" lvl="0" marL="457200" rtl="0" algn="l">
              <a:lnSpc>
                <a:spcPct val="100000"/>
              </a:lnSpc>
              <a:spcBef>
                <a:spcPts val="0"/>
              </a:spcBef>
              <a:spcAft>
                <a:spcPts val="0"/>
              </a:spcAft>
              <a:buSzPts val="2500"/>
              <a:buChar char="▪"/>
            </a:pPr>
            <a:r>
              <a:rPr lang="en-US" sz="2500"/>
              <a:t>Be honest and trustworthy</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82" name="Google Shape;82;g2c673639072_0_41"/>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2c673639072_0_49"/>
          <p:cNvSpPr txBox="1"/>
          <p:nvPr>
            <p:ph type="title"/>
          </p:nvPr>
        </p:nvSpPr>
        <p:spPr>
          <a:xfrm>
            <a:off x="457200" y="205975"/>
            <a:ext cx="8181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800"/>
              <a:t>The ACM Code of Ethics : Professional Responsibilities</a:t>
            </a:r>
            <a:endParaRPr sz="1500"/>
          </a:p>
        </p:txBody>
      </p:sp>
      <p:sp>
        <p:nvSpPr>
          <p:cNvPr id="88" name="Google Shape;88;g2c673639072_0_4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Strive for excellence</a:t>
            </a:r>
            <a:endParaRPr sz="2500"/>
          </a:p>
          <a:p>
            <a:pPr indent="-234950" lvl="0" marL="457200" rtl="0" algn="l">
              <a:lnSpc>
                <a:spcPct val="100000"/>
              </a:lnSpc>
              <a:spcBef>
                <a:spcPts val="0"/>
              </a:spcBef>
              <a:spcAft>
                <a:spcPts val="0"/>
              </a:spcAft>
              <a:buSzPts val="2500"/>
              <a:buChar char="▪"/>
            </a:pPr>
            <a:r>
              <a:rPr lang="en-US" sz="2500"/>
              <a:t>Maintain confidentiality</a:t>
            </a:r>
            <a:endParaRPr sz="2500"/>
          </a:p>
          <a:p>
            <a:pPr indent="-234950" lvl="0" marL="457200" rtl="0" algn="l">
              <a:lnSpc>
                <a:spcPct val="100000"/>
              </a:lnSpc>
              <a:spcBef>
                <a:spcPts val="0"/>
              </a:spcBef>
              <a:spcAft>
                <a:spcPts val="0"/>
              </a:spcAft>
              <a:buSzPts val="2500"/>
              <a:buChar char="▪"/>
            </a:pPr>
            <a:r>
              <a:rPr lang="en-US" sz="2500"/>
              <a:t>Respect intellectual property</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89" name="Google Shape;89;g2c673639072_0_49"/>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2c673639072_0_60"/>
          <p:cNvSpPr txBox="1"/>
          <p:nvPr>
            <p:ph type="title"/>
          </p:nvPr>
        </p:nvSpPr>
        <p:spPr>
          <a:xfrm>
            <a:off x="457200" y="205975"/>
            <a:ext cx="8181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500"/>
              <a:t>The ACM Code of Ethics : Professional Leadership Principles</a:t>
            </a:r>
            <a:endParaRPr sz="1200"/>
          </a:p>
        </p:txBody>
      </p:sp>
      <p:sp>
        <p:nvSpPr>
          <p:cNvPr id="95" name="Google Shape;95;g2c673639072_0_6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Lead by example</a:t>
            </a:r>
            <a:endParaRPr sz="2500"/>
          </a:p>
          <a:p>
            <a:pPr indent="-234950" lvl="0" marL="457200" rtl="0" algn="l">
              <a:lnSpc>
                <a:spcPct val="100000"/>
              </a:lnSpc>
              <a:spcBef>
                <a:spcPts val="0"/>
              </a:spcBef>
              <a:spcAft>
                <a:spcPts val="0"/>
              </a:spcAft>
              <a:buSzPts val="2500"/>
              <a:buChar char="▪"/>
            </a:pPr>
            <a:r>
              <a:rPr lang="en-US" sz="2500"/>
              <a:t>Promote public knowledge</a:t>
            </a:r>
            <a:endParaRPr sz="2500"/>
          </a:p>
          <a:p>
            <a:pPr indent="-234950" lvl="0" marL="457200" rtl="0" algn="l">
              <a:lnSpc>
                <a:spcPct val="100000"/>
              </a:lnSpc>
              <a:spcBef>
                <a:spcPts val="0"/>
              </a:spcBef>
              <a:spcAft>
                <a:spcPts val="0"/>
              </a:spcAft>
              <a:buSzPts val="2500"/>
              <a:buChar char="▪"/>
            </a:pPr>
            <a:r>
              <a:rPr lang="en-US" sz="2500"/>
              <a:t>Mentor younger professionals</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96" name="Google Shape;96;g2c673639072_0_60"/>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2c673639072_0_2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The IEEE Code of Ethics</a:t>
            </a:r>
            <a:endParaRPr sz="3100"/>
          </a:p>
        </p:txBody>
      </p:sp>
      <p:sp>
        <p:nvSpPr>
          <p:cNvPr id="102" name="Google Shape;102;g2c673639072_0_22"/>
          <p:cNvSpPr txBox="1"/>
          <p:nvPr>
            <p:ph idx="1" type="body"/>
          </p:nvPr>
        </p:nvSpPr>
        <p:spPr>
          <a:xfrm>
            <a:off x="457200" y="1132075"/>
            <a:ext cx="8011800" cy="3426600"/>
          </a:xfrm>
          <a:prstGeom prst="rect">
            <a:avLst/>
          </a:prstGeom>
          <a:noFill/>
          <a:ln>
            <a:noFill/>
          </a:ln>
        </p:spPr>
        <p:txBody>
          <a:bodyPr anchorCtr="0" anchor="t" bIns="45700" lIns="91425" spcFirstLastPara="1" rIns="91425" wrap="square" tIns="45700">
            <a:noAutofit/>
          </a:bodyPr>
          <a:lstStyle/>
          <a:p>
            <a:pPr indent="-203200" lvl="0" marL="457200" rtl="0" algn="l">
              <a:lnSpc>
                <a:spcPct val="100000"/>
              </a:lnSpc>
              <a:spcBef>
                <a:spcPts val="0"/>
              </a:spcBef>
              <a:spcAft>
                <a:spcPts val="0"/>
              </a:spcAft>
              <a:buSzPts val="2000"/>
              <a:buChar char="▪"/>
            </a:pPr>
            <a:r>
              <a:rPr lang="en-US" sz="2000"/>
              <a:t>The </a:t>
            </a:r>
            <a:r>
              <a:rPr b="1" lang="en-US" sz="2000"/>
              <a:t>Institute of Electrical and Electronics Engineers (IEEE) </a:t>
            </a:r>
            <a:r>
              <a:rPr lang="en-US" sz="2000"/>
              <a:t>has developed this code. Total Eight Principles:</a:t>
            </a:r>
            <a:endParaRPr sz="2000"/>
          </a:p>
          <a:p>
            <a:pPr indent="-311150" lvl="1" marL="914400" rtl="0" algn="l">
              <a:lnSpc>
                <a:spcPct val="100000"/>
              </a:lnSpc>
              <a:spcBef>
                <a:spcPts val="360"/>
              </a:spcBef>
              <a:spcAft>
                <a:spcPts val="0"/>
              </a:spcAft>
              <a:buSzPts val="1300"/>
              <a:buAutoNum type="arabicPeriod"/>
            </a:pPr>
            <a:r>
              <a:rPr lang="en-US" sz="2000"/>
              <a:t>Public</a:t>
            </a:r>
            <a:endParaRPr sz="2000"/>
          </a:p>
          <a:p>
            <a:pPr indent="-311150" lvl="1" marL="914400" rtl="0" algn="l">
              <a:lnSpc>
                <a:spcPct val="100000"/>
              </a:lnSpc>
              <a:spcBef>
                <a:spcPts val="360"/>
              </a:spcBef>
              <a:spcAft>
                <a:spcPts val="0"/>
              </a:spcAft>
              <a:buSzPts val="1300"/>
              <a:buAutoNum type="arabicPeriod"/>
            </a:pPr>
            <a:r>
              <a:rPr lang="en-US" sz="2000"/>
              <a:t>Product</a:t>
            </a:r>
            <a:endParaRPr sz="2000"/>
          </a:p>
          <a:p>
            <a:pPr indent="-311150" lvl="1" marL="914400" rtl="0" algn="l">
              <a:lnSpc>
                <a:spcPct val="100000"/>
              </a:lnSpc>
              <a:spcBef>
                <a:spcPts val="360"/>
              </a:spcBef>
              <a:spcAft>
                <a:spcPts val="0"/>
              </a:spcAft>
              <a:buSzPts val="1300"/>
              <a:buAutoNum type="arabicPeriod"/>
            </a:pPr>
            <a:r>
              <a:rPr lang="en-US" sz="2000"/>
              <a:t>Judgment</a:t>
            </a:r>
            <a:endParaRPr sz="2000"/>
          </a:p>
          <a:p>
            <a:pPr indent="-311150" lvl="1" marL="914400" rtl="0" algn="l">
              <a:lnSpc>
                <a:spcPct val="100000"/>
              </a:lnSpc>
              <a:spcBef>
                <a:spcPts val="360"/>
              </a:spcBef>
              <a:spcAft>
                <a:spcPts val="0"/>
              </a:spcAft>
              <a:buSzPts val="1300"/>
              <a:buAutoNum type="arabicPeriod"/>
            </a:pPr>
            <a:r>
              <a:rPr lang="en-US" sz="2000"/>
              <a:t>Client and Employer</a:t>
            </a:r>
            <a:endParaRPr sz="2000"/>
          </a:p>
          <a:p>
            <a:pPr indent="-311150" lvl="1" marL="914400" rtl="0" algn="l">
              <a:lnSpc>
                <a:spcPct val="100000"/>
              </a:lnSpc>
              <a:spcBef>
                <a:spcPts val="360"/>
              </a:spcBef>
              <a:spcAft>
                <a:spcPts val="0"/>
              </a:spcAft>
              <a:buSzPts val="1300"/>
              <a:buAutoNum type="arabicPeriod"/>
            </a:pPr>
            <a:r>
              <a:rPr lang="en-US" sz="2000"/>
              <a:t>Management</a:t>
            </a:r>
            <a:endParaRPr sz="2000"/>
          </a:p>
          <a:p>
            <a:pPr indent="-311150" lvl="1" marL="914400" rtl="0" algn="l">
              <a:lnSpc>
                <a:spcPct val="100000"/>
              </a:lnSpc>
              <a:spcBef>
                <a:spcPts val="360"/>
              </a:spcBef>
              <a:spcAft>
                <a:spcPts val="0"/>
              </a:spcAft>
              <a:buSzPts val="1300"/>
              <a:buAutoNum type="arabicPeriod"/>
            </a:pPr>
            <a:r>
              <a:rPr lang="en-US" sz="2000"/>
              <a:t>Profession</a:t>
            </a:r>
            <a:endParaRPr sz="2000"/>
          </a:p>
          <a:p>
            <a:pPr indent="-311150" lvl="1" marL="914400" rtl="0" algn="l">
              <a:lnSpc>
                <a:spcPct val="100000"/>
              </a:lnSpc>
              <a:spcBef>
                <a:spcPts val="360"/>
              </a:spcBef>
              <a:spcAft>
                <a:spcPts val="0"/>
              </a:spcAft>
              <a:buSzPts val="1300"/>
              <a:buAutoNum type="arabicPeriod"/>
            </a:pPr>
            <a:r>
              <a:rPr lang="en-US" sz="2000"/>
              <a:t>Colleagues</a:t>
            </a:r>
            <a:endParaRPr sz="2000"/>
          </a:p>
          <a:p>
            <a:pPr indent="-311150" lvl="1" marL="914400" rtl="0" algn="l">
              <a:lnSpc>
                <a:spcPct val="100000"/>
              </a:lnSpc>
              <a:spcBef>
                <a:spcPts val="360"/>
              </a:spcBef>
              <a:spcAft>
                <a:spcPts val="0"/>
              </a:spcAft>
              <a:buSzPts val="1300"/>
              <a:buAutoNum type="arabicPeriod"/>
            </a:pPr>
            <a:r>
              <a:rPr lang="en-US" sz="2000"/>
              <a:t>Self</a:t>
            </a:r>
            <a:endParaRPr sz="2000"/>
          </a:p>
          <a:p>
            <a:pPr indent="0" lvl="0" marL="457200" marR="0" rtl="0" algn="l">
              <a:lnSpc>
                <a:spcPct val="100000"/>
              </a:lnSpc>
              <a:spcBef>
                <a:spcPts val="0"/>
              </a:spcBef>
              <a:spcAft>
                <a:spcPts val="0"/>
              </a:spcAft>
              <a:buSzPts val="6000"/>
              <a:buNone/>
            </a:pPr>
            <a:r>
              <a:t/>
            </a:r>
            <a:endParaRPr sz="2000"/>
          </a:p>
          <a:p>
            <a:pPr indent="-127000" lvl="0" marL="342900" marR="0" rtl="0" algn="l">
              <a:lnSpc>
                <a:spcPct val="100000"/>
              </a:lnSpc>
              <a:spcBef>
                <a:spcPts val="680"/>
              </a:spcBef>
              <a:spcAft>
                <a:spcPts val="0"/>
              </a:spcAft>
              <a:buClr>
                <a:schemeClr val="dk1"/>
              </a:buClr>
              <a:buSzPts val="3400"/>
              <a:buFont typeface="Arial"/>
              <a:buNone/>
            </a:pPr>
            <a:r>
              <a:t/>
            </a:r>
            <a:endParaRPr b="0" i="0" sz="2000" u="none">
              <a:solidFill>
                <a:schemeClr val="dk1"/>
              </a:solidFill>
              <a:latin typeface="Calibri"/>
              <a:ea typeface="Calibri"/>
              <a:cs typeface="Calibri"/>
              <a:sym typeface="Calibri"/>
            </a:endParaRPr>
          </a:p>
        </p:txBody>
      </p:sp>
      <p:sp>
        <p:nvSpPr>
          <p:cNvPr id="103" name="Google Shape;103;g2c673639072_0_22"/>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2c673639072_0_7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800"/>
              <a:t>The IEEE Code of Ethics: Responsibilities to the Public</a:t>
            </a:r>
            <a:endParaRPr sz="2800"/>
          </a:p>
        </p:txBody>
      </p:sp>
      <p:sp>
        <p:nvSpPr>
          <p:cNvPr id="109" name="Google Shape;109;g2c673639072_0_7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Public Safety and Welfare</a:t>
            </a:r>
            <a:endParaRPr sz="2500"/>
          </a:p>
          <a:p>
            <a:pPr indent="-234950" lvl="0" marL="457200" rtl="0" algn="l">
              <a:lnSpc>
                <a:spcPct val="100000"/>
              </a:lnSpc>
              <a:spcBef>
                <a:spcPts val="0"/>
              </a:spcBef>
              <a:spcAft>
                <a:spcPts val="0"/>
              </a:spcAft>
              <a:buSzPts val="2500"/>
              <a:buChar char="▪"/>
            </a:pPr>
            <a:r>
              <a:rPr lang="en-US" sz="2500"/>
              <a:t>Environmental Considerations</a:t>
            </a:r>
            <a:endParaRPr sz="2500"/>
          </a:p>
          <a:p>
            <a:pPr indent="-234950" lvl="0" marL="457200" rtl="0" algn="l">
              <a:lnSpc>
                <a:spcPct val="100000"/>
              </a:lnSpc>
              <a:spcBef>
                <a:spcPts val="0"/>
              </a:spcBef>
              <a:spcAft>
                <a:spcPts val="0"/>
              </a:spcAft>
              <a:buSzPts val="2500"/>
              <a:buChar char="▪"/>
            </a:pPr>
            <a:r>
              <a:rPr lang="en-US" sz="2500"/>
              <a:t>Public Understanding</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110" name="Google Shape;110;g2c673639072_0_70"/>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c673639072_0_8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(cont’d)</a:t>
            </a:r>
            <a:endParaRPr sz="2800"/>
          </a:p>
        </p:txBody>
      </p:sp>
      <p:sp>
        <p:nvSpPr>
          <p:cNvPr id="116" name="Google Shape;116;g2c673639072_0_80"/>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17" name="Google Shape;117;g2c673639072_0_80"/>
          <p:cNvPicPr preferRelativeResize="0"/>
          <p:nvPr/>
        </p:nvPicPr>
        <p:blipFill rotWithShape="1">
          <a:blip r:embed="rId3">
            <a:alphaModFix/>
          </a:blip>
          <a:srcRect b="0" l="0" r="0" t="0"/>
          <a:stretch/>
        </p:blipFill>
        <p:spPr>
          <a:xfrm>
            <a:off x="254550" y="1215774"/>
            <a:ext cx="8634900" cy="305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c673639072_0_8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200"/>
              <a:t>The IEEE Code of Ethics: Responsibilities to the Clients and Employers</a:t>
            </a:r>
            <a:endParaRPr sz="2200"/>
          </a:p>
        </p:txBody>
      </p:sp>
      <p:sp>
        <p:nvSpPr>
          <p:cNvPr id="123" name="Google Shape;123;g2c673639072_0_8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Confidentiality</a:t>
            </a:r>
            <a:endParaRPr sz="2500"/>
          </a:p>
          <a:p>
            <a:pPr indent="-234950" lvl="0" marL="457200" rtl="0" algn="l">
              <a:lnSpc>
                <a:spcPct val="100000"/>
              </a:lnSpc>
              <a:spcBef>
                <a:spcPts val="0"/>
              </a:spcBef>
              <a:spcAft>
                <a:spcPts val="0"/>
              </a:spcAft>
              <a:buSzPts val="2500"/>
              <a:buChar char="▪"/>
            </a:pPr>
            <a:r>
              <a:rPr lang="en-US" sz="2500"/>
              <a:t>Conflict of Interest</a:t>
            </a:r>
            <a:endParaRPr sz="2500"/>
          </a:p>
          <a:p>
            <a:pPr indent="-234950" lvl="0" marL="457200" rtl="0" algn="l">
              <a:lnSpc>
                <a:spcPct val="100000"/>
              </a:lnSpc>
              <a:spcBef>
                <a:spcPts val="0"/>
              </a:spcBef>
              <a:spcAft>
                <a:spcPts val="0"/>
              </a:spcAft>
              <a:buSzPts val="2500"/>
              <a:buChar char="▪"/>
            </a:pPr>
            <a:r>
              <a:rPr lang="en-US" sz="2500"/>
              <a:t>Quality Assurance</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124" name="Google Shape;124;g2c673639072_0_87"/>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c673639072_0_9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600"/>
              <a:t>The IEEE Code of Ethics: Responsibilities to the Profession</a:t>
            </a:r>
            <a:endParaRPr sz="2600"/>
          </a:p>
        </p:txBody>
      </p:sp>
      <p:sp>
        <p:nvSpPr>
          <p:cNvPr id="130" name="Google Shape;130;g2c673639072_0_9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Professional Development</a:t>
            </a:r>
            <a:endParaRPr sz="2500"/>
          </a:p>
          <a:p>
            <a:pPr indent="-234950" lvl="0" marL="457200" rtl="0" algn="l">
              <a:lnSpc>
                <a:spcPct val="100000"/>
              </a:lnSpc>
              <a:spcBef>
                <a:spcPts val="0"/>
              </a:spcBef>
              <a:spcAft>
                <a:spcPts val="0"/>
              </a:spcAft>
              <a:buSzPts val="2500"/>
              <a:buChar char="▪"/>
            </a:pPr>
            <a:r>
              <a:rPr lang="en-US" sz="2500"/>
              <a:t>Professional Conduct</a:t>
            </a:r>
            <a:endParaRPr sz="2500"/>
          </a:p>
          <a:p>
            <a:pPr indent="-234950" lvl="0" marL="457200" rtl="0" algn="l">
              <a:lnSpc>
                <a:spcPct val="100000"/>
              </a:lnSpc>
              <a:spcBef>
                <a:spcPts val="0"/>
              </a:spcBef>
              <a:spcAft>
                <a:spcPts val="0"/>
              </a:spcAft>
              <a:buSzPts val="2500"/>
              <a:buChar char="▪"/>
            </a:pPr>
            <a:r>
              <a:rPr lang="en-US" sz="2500"/>
              <a:t>Support for Colleagues</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131" name="Google Shape;131;g2c673639072_0_96"/>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c673639072_0_1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3100"/>
              <a:t>(cont’d)</a:t>
            </a:r>
            <a:endParaRPr sz="2600"/>
          </a:p>
        </p:txBody>
      </p:sp>
      <p:sp>
        <p:nvSpPr>
          <p:cNvPr id="137" name="Google Shape;137;g2c673639072_0_113"/>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38" name="Google Shape;138;g2c673639072_0_113"/>
          <p:cNvPicPr preferRelativeResize="0"/>
          <p:nvPr/>
        </p:nvPicPr>
        <p:blipFill rotWithShape="1">
          <a:blip r:embed="rId3">
            <a:alphaModFix/>
          </a:blip>
          <a:srcRect b="0" l="0" r="0" t="0"/>
          <a:stretch/>
        </p:blipFill>
        <p:spPr>
          <a:xfrm>
            <a:off x="304800" y="1227449"/>
            <a:ext cx="8534401" cy="29761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c673639072_0_10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800"/>
              <a:t>The Impact of Unethical Practices</a:t>
            </a:r>
            <a:endParaRPr sz="2800"/>
          </a:p>
        </p:txBody>
      </p:sp>
      <p:sp>
        <p:nvSpPr>
          <p:cNvPr id="144" name="Google Shape;144;g2c673639072_0_10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a:t>Legal Consequences</a:t>
            </a:r>
            <a:endParaRPr sz="2500"/>
          </a:p>
          <a:p>
            <a:pPr indent="-387350" lvl="1" marL="914400" rtl="0" algn="l">
              <a:lnSpc>
                <a:spcPct val="100000"/>
              </a:lnSpc>
              <a:spcBef>
                <a:spcPts val="360"/>
              </a:spcBef>
              <a:spcAft>
                <a:spcPts val="0"/>
              </a:spcAft>
              <a:buSzPts val="2500"/>
              <a:buChar char="–"/>
            </a:pPr>
            <a:r>
              <a:rPr lang="en-US" sz="2500"/>
              <a:t>Lawsuits, fines, and in some cases, criminal charges.</a:t>
            </a:r>
            <a:endParaRPr sz="2500"/>
          </a:p>
          <a:p>
            <a:pPr indent="-387350" lvl="1" marL="914400" rtl="0" algn="l">
              <a:lnSpc>
                <a:spcPct val="100000"/>
              </a:lnSpc>
              <a:spcBef>
                <a:spcPts val="360"/>
              </a:spcBef>
              <a:spcAft>
                <a:spcPts val="0"/>
              </a:spcAft>
              <a:buSzPts val="2500"/>
              <a:buChar char="–"/>
            </a:pPr>
            <a:r>
              <a:rPr lang="en-US" sz="2500"/>
              <a:t>Collecting user data without proper consent can cause fines under laws like the General Data Protection Regulation (GDPR) in the European Union.</a:t>
            </a:r>
            <a:endParaRPr sz="2500"/>
          </a:p>
          <a:p>
            <a:pPr indent="-234950" lvl="0" marL="457200" rtl="0" algn="l">
              <a:lnSpc>
                <a:spcPct val="100000"/>
              </a:lnSpc>
              <a:spcBef>
                <a:spcPts val="0"/>
              </a:spcBef>
              <a:spcAft>
                <a:spcPts val="0"/>
              </a:spcAft>
              <a:buSzPts val="2500"/>
              <a:buChar char="▪"/>
            </a:pPr>
            <a:r>
              <a:rPr lang="en-US" sz="2500"/>
              <a:t>Reputational Damage</a:t>
            </a:r>
            <a:endParaRPr sz="2500"/>
          </a:p>
          <a:p>
            <a:pPr indent="-234950" lvl="0" marL="457200" rtl="0" algn="l">
              <a:lnSpc>
                <a:spcPct val="100000"/>
              </a:lnSpc>
              <a:spcBef>
                <a:spcPts val="0"/>
              </a:spcBef>
              <a:spcAft>
                <a:spcPts val="0"/>
              </a:spcAft>
              <a:buSzPts val="2500"/>
              <a:buChar char="▪"/>
            </a:pPr>
            <a:r>
              <a:rPr lang="en-US" sz="2500"/>
              <a:t>Impact on Users and Society</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145" name="Google Shape;145;g2c673639072_0_104"/>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c673639072_0_12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800"/>
              <a:t>Solution: Ethical Decision-Making Models</a:t>
            </a:r>
            <a:endParaRPr sz="2800"/>
          </a:p>
        </p:txBody>
      </p:sp>
      <p:sp>
        <p:nvSpPr>
          <p:cNvPr id="151" name="Google Shape;151;g2c673639072_0_12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74650" lvl="0" marL="457200" marR="0" rtl="0" algn="just">
              <a:lnSpc>
                <a:spcPct val="100000"/>
              </a:lnSpc>
              <a:spcBef>
                <a:spcPts val="680"/>
              </a:spcBef>
              <a:spcAft>
                <a:spcPts val="0"/>
              </a:spcAft>
              <a:buSzPts val="2300"/>
              <a:buAutoNum type="arabicPeriod"/>
            </a:pPr>
            <a:r>
              <a:rPr b="1" lang="en-US" sz="2300"/>
              <a:t>The Consequence-based model:</a:t>
            </a:r>
            <a:r>
              <a:rPr lang="en-US" sz="2300"/>
              <a:t> This model focuses on the outcomes of an action and aims to choose the action that results in the most good or least harm.</a:t>
            </a:r>
            <a:endParaRPr sz="2300"/>
          </a:p>
          <a:p>
            <a:pPr indent="-374650" lvl="0" marL="457200" marR="0" rtl="0" algn="just">
              <a:lnSpc>
                <a:spcPct val="100000"/>
              </a:lnSpc>
              <a:spcBef>
                <a:spcPts val="0"/>
              </a:spcBef>
              <a:spcAft>
                <a:spcPts val="0"/>
              </a:spcAft>
              <a:buSzPts val="2300"/>
              <a:buAutoNum type="arabicPeriod"/>
            </a:pPr>
            <a:r>
              <a:rPr b="1" lang="en-US" sz="2300"/>
              <a:t>The Duty-based model:</a:t>
            </a:r>
            <a:r>
              <a:rPr lang="en-US" sz="2300"/>
              <a:t> This model emphasizes the inherent duties and obligations of the professional, regardless of the outcome.</a:t>
            </a:r>
            <a:endParaRPr sz="2300"/>
          </a:p>
          <a:p>
            <a:pPr indent="-374650" lvl="0" marL="457200" marR="0" rtl="0" algn="just">
              <a:lnSpc>
                <a:spcPct val="100000"/>
              </a:lnSpc>
              <a:spcBef>
                <a:spcPts val="0"/>
              </a:spcBef>
              <a:spcAft>
                <a:spcPts val="0"/>
              </a:spcAft>
              <a:buSzPts val="2300"/>
              <a:buAutoNum type="arabicPeriod"/>
            </a:pPr>
            <a:r>
              <a:rPr b="1" lang="en-US" sz="2300"/>
              <a:t>The Virtue-based model:</a:t>
            </a:r>
            <a:r>
              <a:rPr lang="en-US" sz="2300"/>
              <a:t> This model focuses on the character and virtues of the individual, aiming to choose actions that align with these virtues.</a:t>
            </a:r>
            <a:endParaRPr sz="2300"/>
          </a:p>
        </p:txBody>
      </p:sp>
      <p:sp>
        <p:nvSpPr>
          <p:cNvPr id="152" name="Google Shape;152;g2c673639072_0_129"/>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c673639072_0_12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sz="2800"/>
              <a:t>References</a:t>
            </a:r>
            <a:endParaRPr sz="2800"/>
          </a:p>
        </p:txBody>
      </p:sp>
      <p:sp>
        <p:nvSpPr>
          <p:cNvPr id="158" name="Google Shape;158;g2c673639072_0_12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234950" lvl="0" marL="457200" rtl="0" algn="l">
              <a:lnSpc>
                <a:spcPct val="100000"/>
              </a:lnSpc>
              <a:spcBef>
                <a:spcPts val="0"/>
              </a:spcBef>
              <a:spcAft>
                <a:spcPts val="0"/>
              </a:spcAft>
              <a:buSzPts val="2500"/>
              <a:buChar char="▪"/>
            </a:pPr>
            <a:r>
              <a:rPr lang="en-US" sz="2500" u="sng">
                <a:solidFill>
                  <a:schemeClr val="hlink"/>
                </a:solidFill>
                <a:hlinkClick r:id="rId3"/>
              </a:rPr>
              <a:t>https://www.acm.org/code-of-ethics</a:t>
            </a:r>
            <a:endParaRPr sz="2500"/>
          </a:p>
          <a:p>
            <a:pPr indent="-234950" lvl="0" marL="457200" rtl="0" algn="l">
              <a:lnSpc>
                <a:spcPct val="100000"/>
              </a:lnSpc>
              <a:spcBef>
                <a:spcPts val="0"/>
              </a:spcBef>
              <a:spcAft>
                <a:spcPts val="0"/>
              </a:spcAft>
              <a:buSzPts val="2500"/>
              <a:buChar char="▪"/>
            </a:pPr>
            <a:r>
              <a:rPr lang="en-US" sz="2500" u="sng">
                <a:solidFill>
                  <a:schemeClr val="hlink"/>
                </a:solidFill>
                <a:hlinkClick r:id="rId4"/>
              </a:rPr>
              <a:t>https://www.ieee.org/about/corporate/governance/p7-8.html</a:t>
            </a:r>
            <a:endParaRPr sz="2500"/>
          </a:p>
          <a:p>
            <a:pPr indent="0" lvl="0" marL="457200" marR="0" rtl="0" algn="l">
              <a:lnSpc>
                <a:spcPct val="100000"/>
              </a:lnSpc>
              <a:spcBef>
                <a:spcPts val="0"/>
              </a:spcBef>
              <a:spcAft>
                <a:spcPts val="0"/>
              </a:spcAft>
              <a:buSzPts val="6000"/>
              <a:buNone/>
            </a:pPr>
            <a:r>
              <a:t/>
            </a:r>
            <a:endParaRPr sz="2500"/>
          </a:p>
          <a:p>
            <a:pPr indent="-127000" lvl="0" marL="342900" marR="0" rtl="0" algn="l">
              <a:lnSpc>
                <a:spcPct val="100000"/>
              </a:lnSpc>
              <a:spcBef>
                <a:spcPts val="680"/>
              </a:spcBef>
              <a:spcAft>
                <a:spcPts val="0"/>
              </a:spcAft>
              <a:buClr>
                <a:schemeClr val="dk1"/>
              </a:buClr>
              <a:buSzPts val="3400"/>
              <a:buFont typeface="Arial"/>
              <a:buNone/>
            </a:pPr>
            <a:r>
              <a:t/>
            </a:r>
            <a:endParaRPr b="0" i="0" sz="2500" u="none">
              <a:solidFill>
                <a:schemeClr val="dk1"/>
              </a:solidFill>
              <a:latin typeface="Calibri"/>
              <a:ea typeface="Calibri"/>
              <a:cs typeface="Calibri"/>
              <a:sym typeface="Calibri"/>
            </a:endParaRPr>
          </a:p>
        </p:txBody>
      </p:sp>
      <p:sp>
        <p:nvSpPr>
          <p:cNvPr id="159" name="Google Shape;159;g2c673639072_0_120"/>
          <p:cNvSpPr txBox="1"/>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9-</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